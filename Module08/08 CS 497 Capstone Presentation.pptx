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7" r:id="rId1"/>
  </p:sldMasterIdLst>
  <p:notesMasterIdLst>
    <p:notesMasterId r:id="rId25"/>
  </p:notesMasterIdLst>
  <p:sldIdLst>
    <p:sldId id="256" r:id="rId2"/>
    <p:sldId id="274" r:id="rId3"/>
    <p:sldId id="281" r:id="rId4"/>
    <p:sldId id="289" r:id="rId5"/>
    <p:sldId id="275" r:id="rId6"/>
    <p:sldId id="282" r:id="rId7"/>
    <p:sldId id="283" r:id="rId8"/>
    <p:sldId id="284" r:id="rId9"/>
    <p:sldId id="288" r:id="rId10"/>
    <p:sldId id="291" r:id="rId11"/>
    <p:sldId id="293" r:id="rId12"/>
    <p:sldId id="294" r:id="rId13"/>
    <p:sldId id="305" r:id="rId14"/>
    <p:sldId id="295" r:id="rId15"/>
    <p:sldId id="306" r:id="rId16"/>
    <p:sldId id="300" r:id="rId17"/>
    <p:sldId id="296" r:id="rId18"/>
    <p:sldId id="297" r:id="rId19"/>
    <p:sldId id="302" r:id="rId20"/>
    <p:sldId id="304" r:id="rId21"/>
    <p:sldId id="290" r:id="rId22"/>
    <p:sldId id="280" r:id="rId23"/>
    <p:sldId id="276" r:id="rId24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80A60A2-4B98-44DE-82EB-9F4E2B3C6B4A}" v="35" dt="2026-03-22T20:51:46.561"/>
  </p1510:revLst>
</p1510:revInfo>
</file>

<file path=ppt/tableStyles.xml><?xml version="1.0" encoding="utf-8"?>
<a:tblStyleLst xmlns:a="http://schemas.openxmlformats.org/drawingml/2006/main" def="{1FE44F72-D7B3-41EB-977B-2E401710A9A8}">
  <a:tblStyle styleId="{1FE44F72-D7B3-41EB-977B-2E401710A9A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74771" autoAdjust="0"/>
  </p:normalViewPr>
  <p:slideViewPr>
    <p:cSldViewPr snapToGrid="0">
      <p:cViewPr varScale="1">
        <p:scale>
          <a:sx n="60" d="100"/>
          <a:sy n="60" d="100"/>
        </p:scale>
        <p:origin x="53" y="32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rmbir Singh" userId="dae4fa7f55ca21f2" providerId="LiveId" clId="{A87BCE85-0181-4B1D-9AED-5403F18560AA}"/>
    <pc:docChg chg="undo custSel addSld delSld modSld">
      <pc:chgData name="Parmbir Singh" userId="dae4fa7f55ca21f2" providerId="LiveId" clId="{A87BCE85-0181-4B1D-9AED-5403F18560AA}" dt="2026-03-22T20:51:51.364" v="430" actId="20577"/>
      <pc:docMkLst>
        <pc:docMk/>
      </pc:docMkLst>
      <pc:sldChg chg="modNotesTx">
        <pc:chgData name="Parmbir Singh" userId="dae4fa7f55ca21f2" providerId="LiveId" clId="{A87BCE85-0181-4B1D-9AED-5403F18560AA}" dt="2026-03-20T02:57:10.582" v="216" actId="20577"/>
        <pc:sldMkLst>
          <pc:docMk/>
          <pc:sldMk cId="0" sldId="256"/>
        </pc:sldMkLst>
      </pc:sldChg>
      <pc:sldChg chg="modSp mod modNotesTx">
        <pc:chgData name="Parmbir Singh" userId="dae4fa7f55ca21f2" providerId="LiveId" clId="{A87BCE85-0181-4B1D-9AED-5403F18560AA}" dt="2026-03-20T02:56:47.926" v="209" actId="20577"/>
        <pc:sldMkLst>
          <pc:docMk/>
          <pc:sldMk cId="2425647436" sldId="274"/>
        </pc:sldMkLst>
        <pc:spChg chg="mod">
          <ac:chgData name="Parmbir Singh" userId="dae4fa7f55ca21f2" providerId="LiveId" clId="{A87BCE85-0181-4B1D-9AED-5403F18560AA}" dt="2026-03-20T02:33:59.327" v="111" actId="20577"/>
          <ac:spMkLst>
            <pc:docMk/>
            <pc:sldMk cId="2425647436" sldId="274"/>
            <ac:spMk id="3" creationId="{00000000-0000-0000-0000-000000000000}"/>
          </ac:spMkLst>
        </pc:spChg>
        <pc:spChg chg="mod">
          <ac:chgData name="Parmbir Singh" userId="dae4fa7f55ca21f2" providerId="LiveId" clId="{A87BCE85-0181-4B1D-9AED-5403F18560AA}" dt="2026-03-20T02:33:32.623" v="45" actId="20577"/>
          <ac:spMkLst>
            <pc:docMk/>
            <pc:sldMk cId="2425647436" sldId="274"/>
            <ac:spMk id="5" creationId="{00000000-0000-0000-0000-000000000000}"/>
          </ac:spMkLst>
        </pc:spChg>
      </pc:sldChg>
      <pc:sldChg chg="modNotesTx">
        <pc:chgData name="Parmbir Singh" userId="dae4fa7f55ca21f2" providerId="LiveId" clId="{A87BCE85-0181-4B1D-9AED-5403F18560AA}" dt="2026-03-20T02:55:32.368" v="204" actId="20577"/>
        <pc:sldMkLst>
          <pc:docMk/>
          <pc:sldMk cId="2863282085" sldId="276"/>
        </pc:sldMkLst>
      </pc:sldChg>
      <pc:sldChg chg="modSp mod">
        <pc:chgData name="Parmbir Singh" userId="dae4fa7f55ca21f2" providerId="LiveId" clId="{A87BCE85-0181-4B1D-9AED-5403F18560AA}" dt="2026-03-22T20:51:51.364" v="430" actId="20577"/>
        <pc:sldMkLst>
          <pc:docMk/>
          <pc:sldMk cId="1185335225" sldId="280"/>
        </pc:sldMkLst>
        <pc:spChg chg="mod">
          <ac:chgData name="Parmbir Singh" userId="dae4fa7f55ca21f2" providerId="LiveId" clId="{A87BCE85-0181-4B1D-9AED-5403F18560AA}" dt="2026-03-22T20:51:51.364" v="430" actId="20577"/>
          <ac:spMkLst>
            <pc:docMk/>
            <pc:sldMk cId="1185335225" sldId="280"/>
            <ac:spMk id="3" creationId="{007230D6-3892-E353-3FA5-0B6E2C4B121E}"/>
          </ac:spMkLst>
        </pc:spChg>
      </pc:sldChg>
      <pc:sldChg chg="modSp mod modNotesTx">
        <pc:chgData name="Parmbir Singh" userId="dae4fa7f55ca21f2" providerId="LiveId" clId="{A87BCE85-0181-4B1D-9AED-5403F18560AA}" dt="2026-03-20T02:56:42.206" v="208" actId="20577"/>
        <pc:sldMkLst>
          <pc:docMk/>
          <pc:sldMk cId="1151245012" sldId="281"/>
        </pc:sldMkLst>
        <pc:spChg chg="mod">
          <ac:chgData name="Parmbir Singh" userId="dae4fa7f55ca21f2" providerId="LiveId" clId="{A87BCE85-0181-4B1D-9AED-5403F18560AA}" dt="2026-03-20T02:42:12.762" v="115" actId="20577"/>
          <ac:spMkLst>
            <pc:docMk/>
            <pc:sldMk cId="1151245012" sldId="281"/>
            <ac:spMk id="3" creationId="{600A0362-567C-A958-9107-2737094F0BE3}"/>
          </ac:spMkLst>
        </pc:spChg>
      </pc:sldChg>
      <pc:sldChg chg="modSp mod modNotesTx">
        <pc:chgData name="Parmbir Singh" userId="dae4fa7f55ca21f2" providerId="LiveId" clId="{A87BCE85-0181-4B1D-9AED-5403F18560AA}" dt="2026-03-20T02:56:30.245" v="207" actId="20577"/>
        <pc:sldMkLst>
          <pc:docMk/>
          <pc:sldMk cId="23800886" sldId="282"/>
        </pc:sldMkLst>
        <pc:spChg chg="mod">
          <ac:chgData name="Parmbir Singh" userId="dae4fa7f55ca21f2" providerId="LiveId" clId="{A87BCE85-0181-4B1D-9AED-5403F18560AA}" dt="2026-03-20T02:35:06.547" v="113" actId="1076"/>
          <ac:spMkLst>
            <pc:docMk/>
            <pc:sldMk cId="23800886" sldId="282"/>
            <ac:spMk id="2" creationId="{1E2762EC-CE23-F3A9-D0BF-B23FA635917F}"/>
          </ac:spMkLst>
        </pc:spChg>
      </pc:sldChg>
      <pc:sldChg chg="modNotesTx">
        <pc:chgData name="Parmbir Singh" userId="dae4fa7f55ca21f2" providerId="LiveId" clId="{A87BCE85-0181-4B1D-9AED-5403F18560AA}" dt="2026-03-20T02:56:23.180" v="206" actId="20577"/>
        <pc:sldMkLst>
          <pc:docMk/>
          <pc:sldMk cId="3123408033" sldId="283"/>
        </pc:sldMkLst>
      </pc:sldChg>
      <pc:sldChg chg="modSp mod modNotesTx">
        <pc:chgData name="Parmbir Singh" userId="dae4fa7f55ca21f2" providerId="LiveId" clId="{A87BCE85-0181-4B1D-9AED-5403F18560AA}" dt="2026-03-22T20:46:55.620" v="328" actId="20577"/>
        <pc:sldMkLst>
          <pc:docMk/>
          <pc:sldMk cId="252816511" sldId="288"/>
        </pc:sldMkLst>
        <pc:spChg chg="mod">
          <ac:chgData name="Parmbir Singh" userId="dae4fa7f55ca21f2" providerId="LiveId" clId="{A87BCE85-0181-4B1D-9AED-5403F18560AA}" dt="2026-03-22T20:46:33.315" v="327" actId="27636"/>
          <ac:spMkLst>
            <pc:docMk/>
            <pc:sldMk cId="252816511" sldId="288"/>
            <ac:spMk id="3" creationId="{D9D14E73-D425-7011-6D24-4BB4D42D07DF}"/>
          </ac:spMkLst>
        </pc:spChg>
      </pc:sldChg>
      <pc:sldChg chg="modSp mod modNotesTx">
        <pc:chgData name="Parmbir Singh" userId="dae4fa7f55ca21f2" providerId="LiveId" clId="{A87BCE85-0181-4B1D-9AED-5403F18560AA}" dt="2026-03-20T02:57:52.454" v="218" actId="20577"/>
        <pc:sldMkLst>
          <pc:docMk/>
          <pc:sldMk cId="3932684486" sldId="290"/>
        </pc:sldMkLst>
        <pc:spChg chg="mod">
          <ac:chgData name="Parmbir Singh" userId="dae4fa7f55ca21f2" providerId="LiveId" clId="{A87BCE85-0181-4B1D-9AED-5403F18560AA}" dt="2026-03-20T02:54:47.304" v="186" actId="20577"/>
          <ac:spMkLst>
            <pc:docMk/>
            <pc:sldMk cId="3932684486" sldId="290"/>
            <ac:spMk id="6" creationId="{FC031895-7006-9F9A-096A-54C7D37F967E}"/>
          </ac:spMkLst>
        </pc:spChg>
      </pc:sldChg>
      <pc:sldChg chg="modSp mod">
        <pc:chgData name="Parmbir Singh" userId="dae4fa7f55ca21f2" providerId="LiveId" clId="{A87BCE85-0181-4B1D-9AED-5403F18560AA}" dt="2026-03-20T03:01:58.176" v="243"/>
        <pc:sldMkLst>
          <pc:docMk/>
          <pc:sldMk cId="4047617736" sldId="291"/>
        </pc:sldMkLst>
        <pc:spChg chg="mod">
          <ac:chgData name="Parmbir Singh" userId="dae4fa7f55ca21f2" providerId="LiveId" clId="{A87BCE85-0181-4B1D-9AED-5403F18560AA}" dt="2026-03-20T03:01:58.176" v="243"/>
          <ac:spMkLst>
            <pc:docMk/>
            <pc:sldMk cId="4047617736" sldId="291"/>
            <ac:spMk id="6" creationId="{5E1702C1-AB29-D96C-08E3-D540357B689F}"/>
          </ac:spMkLst>
        </pc:spChg>
      </pc:sldChg>
      <pc:sldChg chg="modSp mod modNotesTx">
        <pc:chgData name="Parmbir Singh" userId="dae4fa7f55ca21f2" providerId="LiveId" clId="{A87BCE85-0181-4B1D-9AED-5403F18560AA}" dt="2026-03-20T02:47:25.948" v="140" actId="5793"/>
        <pc:sldMkLst>
          <pc:docMk/>
          <pc:sldMk cId="3606967208" sldId="294"/>
        </pc:sldMkLst>
        <pc:spChg chg="mod">
          <ac:chgData name="Parmbir Singh" userId="dae4fa7f55ca21f2" providerId="LiveId" clId="{A87BCE85-0181-4B1D-9AED-5403F18560AA}" dt="2026-03-20T02:47:11.741" v="138"/>
          <ac:spMkLst>
            <pc:docMk/>
            <pc:sldMk cId="3606967208" sldId="294"/>
            <ac:spMk id="6" creationId="{8A5C9102-CCA9-2BD0-5416-0816F7F92932}"/>
          </ac:spMkLst>
        </pc:spChg>
      </pc:sldChg>
      <pc:sldChg chg="modSp mod modNotesTx">
        <pc:chgData name="Parmbir Singh" userId="dae4fa7f55ca21f2" providerId="LiveId" clId="{A87BCE85-0181-4B1D-9AED-5403F18560AA}" dt="2026-03-22T20:47:43.981" v="330"/>
        <pc:sldMkLst>
          <pc:docMk/>
          <pc:sldMk cId="2508983303" sldId="295"/>
        </pc:sldMkLst>
        <pc:spChg chg="mod">
          <ac:chgData name="Parmbir Singh" userId="dae4fa7f55ca21f2" providerId="LiveId" clId="{A87BCE85-0181-4B1D-9AED-5403F18560AA}" dt="2026-03-22T20:47:43.981" v="330"/>
          <ac:spMkLst>
            <pc:docMk/>
            <pc:sldMk cId="2508983303" sldId="295"/>
            <ac:spMk id="6" creationId="{F343F508-0FC4-DC88-B454-C270A02FF37C}"/>
          </ac:spMkLst>
        </pc:spChg>
      </pc:sldChg>
      <pc:sldChg chg="modSp mod modNotesTx">
        <pc:chgData name="Parmbir Singh" userId="dae4fa7f55ca21f2" providerId="LiveId" clId="{A87BCE85-0181-4B1D-9AED-5403F18560AA}" dt="2026-03-22T20:49:20.335" v="413" actId="20577"/>
        <pc:sldMkLst>
          <pc:docMk/>
          <pc:sldMk cId="1925660853" sldId="296"/>
        </pc:sldMkLst>
        <pc:spChg chg="mod">
          <ac:chgData name="Parmbir Singh" userId="dae4fa7f55ca21f2" providerId="LiveId" clId="{A87BCE85-0181-4B1D-9AED-5403F18560AA}" dt="2026-03-22T20:49:20.335" v="413" actId="20577"/>
          <ac:spMkLst>
            <pc:docMk/>
            <pc:sldMk cId="1925660853" sldId="296"/>
            <ac:spMk id="3" creationId="{1BD89704-7977-C06C-E045-1D0FBC95CCA5}"/>
          </ac:spMkLst>
        </pc:spChg>
      </pc:sldChg>
      <pc:sldChg chg="add del modNotesTx">
        <pc:chgData name="Parmbir Singh" userId="dae4fa7f55ca21f2" providerId="LiveId" clId="{A87BCE85-0181-4B1D-9AED-5403F18560AA}" dt="2026-03-20T02:51:46.314" v="171" actId="5793"/>
        <pc:sldMkLst>
          <pc:docMk/>
          <pc:sldMk cId="3159333230" sldId="297"/>
        </pc:sldMkLst>
      </pc:sldChg>
      <pc:sldChg chg="modSp mod modNotesTx">
        <pc:chgData name="Parmbir Singh" userId="dae4fa7f55ca21f2" providerId="LiveId" clId="{A87BCE85-0181-4B1D-9AED-5403F18560AA}" dt="2026-03-20T03:02:53.228" v="247" actId="20577"/>
        <pc:sldMkLst>
          <pc:docMk/>
          <pc:sldMk cId="3636004003" sldId="300"/>
        </pc:sldMkLst>
        <pc:spChg chg="mod">
          <ac:chgData name="Parmbir Singh" userId="dae4fa7f55ca21f2" providerId="LiveId" clId="{A87BCE85-0181-4B1D-9AED-5403F18560AA}" dt="2026-03-20T03:02:53.228" v="247" actId="20577"/>
          <ac:spMkLst>
            <pc:docMk/>
            <pc:sldMk cId="3636004003" sldId="300"/>
            <ac:spMk id="2" creationId="{ACAA14FF-90DC-CD6D-13F7-7ABF44033691}"/>
          </ac:spMkLst>
        </pc:spChg>
        <pc:spChg chg="mod">
          <ac:chgData name="Parmbir Singh" userId="dae4fa7f55ca21f2" providerId="LiveId" clId="{A87BCE85-0181-4B1D-9AED-5403F18560AA}" dt="2026-03-20T02:50:05.322" v="161"/>
          <ac:spMkLst>
            <pc:docMk/>
            <pc:sldMk cId="3636004003" sldId="300"/>
            <ac:spMk id="10" creationId="{F063E2A1-D2E5-8DBD-3603-E363C0EC1882}"/>
          </ac:spMkLst>
        </pc:spChg>
      </pc:sldChg>
      <pc:sldChg chg="addSp delSp modSp mod modNotesTx">
        <pc:chgData name="Parmbir Singh" userId="dae4fa7f55ca21f2" providerId="LiveId" clId="{A87BCE85-0181-4B1D-9AED-5403F18560AA}" dt="2026-03-20T03:04:33.400" v="253" actId="1076"/>
        <pc:sldMkLst>
          <pc:docMk/>
          <pc:sldMk cId="3960619580" sldId="302"/>
        </pc:sldMkLst>
        <pc:spChg chg="add mod">
          <ac:chgData name="Parmbir Singh" userId="dae4fa7f55ca21f2" providerId="LiveId" clId="{A87BCE85-0181-4B1D-9AED-5403F18560AA}" dt="2026-03-20T03:04:33.400" v="253" actId="1076"/>
          <ac:spMkLst>
            <pc:docMk/>
            <pc:sldMk cId="3960619580" sldId="302"/>
            <ac:spMk id="3" creationId="{3490DF44-8A03-E6B6-5BD2-1DB2D8DB6F6A}"/>
          </ac:spMkLst>
        </pc:spChg>
      </pc:sldChg>
      <pc:sldChg chg="modSp mod modNotesTx">
        <pc:chgData name="Parmbir Singh" userId="dae4fa7f55ca21f2" providerId="LiveId" clId="{A87BCE85-0181-4B1D-9AED-5403F18560AA}" dt="2026-03-22T20:50:43.555" v="420"/>
        <pc:sldMkLst>
          <pc:docMk/>
          <pc:sldMk cId="2310465880" sldId="304"/>
        </pc:sldMkLst>
        <pc:spChg chg="mod">
          <ac:chgData name="Parmbir Singh" userId="dae4fa7f55ca21f2" providerId="LiveId" clId="{A87BCE85-0181-4B1D-9AED-5403F18560AA}" dt="2026-03-20T02:54:00.225" v="182" actId="20577"/>
          <ac:spMkLst>
            <pc:docMk/>
            <pc:sldMk cId="2310465880" sldId="304"/>
            <ac:spMk id="2" creationId="{C5AEB264-CE3E-0630-7955-FF532DF3F1E2}"/>
          </ac:spMkLst>
        </pc:spChg>
        <pc:spChg chg="mod">
          <ac:chgData name="Parmbir Singh" userId="dae4fa7f55ca21f2" providerId="LiveId" clId="{A87BCE85-0181-4B1D-9AED-5403F18560AA}" dt="2026-03-22T20:50:43.555" v="420"/>
          <ac:spMkLst>
            <pc:docMk/>
            <pc:sldMk cId="2310465880" sldId="304"/>
            <ac:spMk id="3" creationId="{64682875-E0DB-F88B-6083-A161F7F33251}"/>
          </ac:spMkLst>
        </pc:spChg>
      </pc:sldChg>
      <pc:sldChg chg="modSp add mod">
        <pc:chgData name="Parmbir Singh" userId="dae4fa7f55ca21f2" providerId="LiveId" clId="{A87BCE85-0181-4B1D-9AED-5403F18560AA}" dt="2026-03-22T20:38:18.336" v="292" actId="1076"/>
        <pc:sldMkLst>
          <pc:docMk/>
          <pc:sldMk cId="298538659" sldId="305"/>
        </pc:sldMkLst>
        <pc:spChg chg="mod">
          <ac:chgData name="Parmbir Singh" userId="dae4fa7f55ca21f2" providerId="LiveId" clId="{A87BCE85-0181-4B1D-9AED-5403F18560AA}" dt="2026-03-22T20:36:33.481" v="257" actId="14100"/>
          <ac:spMkLst>
            <pc:docMk/>
            <pc:sldMk cId="298538659" sldId="305"/>
            <ac:spMk id="2" creationId="{872BF501-A035-8974-E576-C5C18E22B6E0}"/>
          </ac:spMkLst>
        </pc:spChg>
        <pc:spChg chg="mod">
          <ac:chgData name="Parmbir Singh" userId="dae4fa7f55ca21f2" providerId="LiveId" clId="{A87BCE85-0181-4B1D-9AED-5403F18560AA}" dt="2026-03-22T20:38:18.336" v="292" actId="1076"/>
          <ac:spMkLst>
            <pc:docMk/>
            <pc:sldMk cId="298538659" sldId="305"/>
            <ac:spMk id="6" creationId="{1DDB7911-40C1-A911-AE65-EE297D2EF03D}"/>
          </ac:spMkLst>
        </pc:spChg>
      </pc:sldChg>
      <pc:sldChg chg="modSp add mod modNotesTx">
        <pc:chgData name="Parmbir Singh" userId="dae4fa7f55ca21f2" providerId="LiveId" clId="{A87BCE85-0181-4B1D-9AED-5403F18560AA}" dt="2026-03-22T20:43:20.243" v="314" actId="20577"/>
        <pc:sldMkLst>
          <pc:docMk/>
          <pc:sldMk cId="364712653" sldId="306"/>
        </pc:sldMkLst>
        <pc:spChg chg="mod">
          <ac:chgData name="Parmbir Singh" userId="dae4fa7f55ca21f2" providerId="LiveId" clId="{A87BCE85-0181-4B1D-9AED-5403F18560AA}" dt="2026-03-22T20:40:41.951" v="295" actId="14100"/>
          <ac:spMkLst>
            <pc:docMk/>
            <pc:sldMk cId="364712653" sldId="306"/>
            <ac:spMk id="2" creationId="{EFBCECC0-8B6C-4EC4-46BC-FAB8F6485D64}"/>
          </ac:spMkLst>
        </pc:spChg>
        <pc:spChg chg="mod">
          <ac:chgData name="Parmbir Singh" userId="dae4fa7f55ca21f2" providerId="LiveId" clId="{A87BCE85-0181-4B1D-9AED-5403F18560AA}" dt="2026-03-22T20:42:32.415" v="312" actId="1076"/>
          <ac:spMkLst>
            <pc:docMk/>
            <pc:sldMk cId="364712653" sldId="306"/>
            <ac:spMk id="6" creationId="{B66F2D5C-08EF-A703-8E5D-A9C868805609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Hello, my name is Parmbir Singh, and today I will be presenting my capstone project. </a:t>
            </a:r>
            <a:r>
              <a:rPr lang="en-US" i="0" dirty="0"/>
              <a:t>Enhancing Aerospace Supply Chain Resilience: A Predictive Analytics Approach to Mitigate Lead-Time </a:t>
            </a:r>
            <a:r>
              <a:rPr lang="en-US" i="0"/>
              <a:t>Volatility.</a:t>
            </a:r>
            <a:endParaRPr lang="en-US" i="0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23718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64432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keywords highlight the core focus areas of my project, including predictive analytics, machine learning, and supply chain risk.</a:t>
            </a:r>
          </a:p>
          <a:p>
            <a:r>
              <a:rPr lang="en-US" dirty="0"/>
              <a:t>Together, they represent the intersection of data science and aerospace operations.</a:t>
            </a:r>
          </a:p>
        </p:txBody>
      </p:sp>
    </p:spTree>
    <p:extLst>
      <p:ext uri="{BB962C8B-B14F-4D97-AF65-F5344CB8AC3E}">
        <p14:creationId xmlns:p14="http://schemas.microsoft.com/office/powerpoint/2010/main" val="31914143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Aerospace supply chains rely heavily on reactive planning and historical averages.</a:t>
            </a:r>
          </a:p>
          <a:p>
            <a:r>
              <a:rPr lang="en-US" dirty="0"/>
              <a:t>A major issue is limited visibility across multiple supplier tiers, which leads to unpredictable delays.</a:t>
            </a:r>
          </a:p>
          <a:p>
            <a:r>
              <a:rPr lang="en-US" dirty="0"/>
              <a:t>Even small component delays can halt entire aircraft production lines, resulting in significant financial and operational impact.</a:t>
            </a:r>
          </a:p>
          <a:p>
            <a:pPr marL="457200" marR="0" lvl="0" indent="-317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tabLst/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64663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22317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6661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Existing research highlights the weaknesses of reactive supply chains, including volatility and delays.</a:t>
            </a:r>
          </a:p>
          <a:p>
            <a:r>
              <a:rPr lang="en-US" dirty="0"/>
              <a:t>It also shows that predictive analytics is emerging as a viable solution.</a:t>
            </a:r>
          </a:p>
        </p:txBody>
      </p:sp>
    </p:spTree>
    <p:extLst>
      <p:ext uri="{BB962C8B-B14F-4D97-AF65-F5344CB8AC3E}">
        <p14:creationId xmlns:p14="http://schemas.microsoft.com/office/powerpoint/2010/main" val="6277868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317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tabLst/>
              <a:defRPr/>
            </a:pPr>
            <a:r>
              <a:rPr lang="en-US" dirty="0"/>
              <a:t>Databricks was used for scalable data processing, and Power BI was selected for clear visualization and analysis.</a:t>
            </a:r>
            <a:br>
              <a:rPr lang="en-US" dirty="0"/>
            </a:br>
            <a:endParaRPr lang="en-US" dirty="0"/>
          </a:p>
          <a:p>
            <a:pPr marL="457200" marR="0" lvl="0" indent="-317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tabLst/>
              <a:defRPr/>
            </a:pPr>
            <a:r>
              <a:rPr lang="en-US" dirty="0"/>
              <a:t>These tools ensure that the analysis can be reproduced and extended in future work.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86188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system follows a modular pipeline, starting with data ingestion and processing.</a:t>
            </a:r>
          </a:p>
          <a:p>
            <a:r>
              <a:rPr lang="en-US" dirty="0"/>
              <a:t>It then moves into predictive modeling, and finally outputs risk indicators that can be used for decision-making.</a:t>
            </a:r>
          </a:p>
        </p:txBody>
      </p:sp>
    </p:spTree>
    <p:extLst>
      <p:ext uri="{BB962C8B-B14F-4D97-AF65-F5344CB8AC3E}">
        <p14:creationId xmlns:p14="http://schemas.microsoft.com/office/powerpoint/2010/main" val="22692671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used Databricks for data processing and modeling, Power BI for visualization, and GitHub for version control.</a:t>
            </a:r>
          </a:p>
          <a:p>
            <a:r>
              <a:rPr lang="en-US" dirty="0"/>
              <a:t>These tools allow for scalable and reproducible analysis.</a:t>
            </a:r>
          </a:p>
        </p:txBody>
      </p:sp>
    </p:spTree>
    <p:extLst>
      <p:ext uri="{BB962C8B-B14F-4D97-AF65-F5344CB8AC3E}">
        <p14:creationId xmlns:p14="http://schemas.microsoft.com/office/powerpoint/2010/main" val="3136488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928497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0989C0-CD13-4C12-8BA7-650B7537D5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7B51F9-3722-B63D-C123-31F6A2C621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F1210E-F274-281B-6FC2-5C037258CE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>
              <a:buNone/>
            </a:pPr>
            <a:r>
              <a:rPr lang="en-US" dirty="0"/>
              <a:t>Data cleaning was performed to ensure accuracy and consistency.</a:t>
            </a:r>
            <a:br>
              <a:rPr lang="en-US" dirty="0"/>
            </a:br>
            <a:r>
              <a:rPr lang="en-US" dirty="0"/>
              <a:t>This included removing missing or invalid values, standardizing formats, and aligning all variables for time-series analysis.</a:t>
            </a:r>
          </a:p>
        </p:txBody>
      </p:sp>
    </p:spTree>
    <p:extLst>
      <p:ext uri="{BB962C8B-B14F-4D97-AF65-F5344CB8AC3E}">
        <p14:creationId xmlns:p14="http://schemas.microsoft.com/office/powerpoint/2010/main" val="101964927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879864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193907-49EE-1EF8-7AF5-F01178D4D3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282104-41C3-0401-4538-AE934F6A8C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2AC4B4-9FFA-4113-6320-68C2960EDB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Outliers were identified as values that significantly deviated from the overall trend.</a:t>
            </a:r>
          </a:p>
          <a:p>
            <a:r>
              <a:rPr lang="en-US" dirty="0"/>
              <a:t>These points were reviewed and removed when they were outside expected ranges to prevent distortion of results.</a:t>
            </a:r>
          </a:p>
        </p:txBody>
      </p:sp>
    </p:spTree>
    <p:extLst>
      <p:ext uri="{BB962C8B-B14F-4D97-AF65-F5344CB8AC3E}">
        <p14:creationId xmlns:p14="http://schemas.microsoft.com/office/powerpoint/2010/main" val="288827428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20786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951837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24008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22082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2922CA-4181-F29F-F474-63B031A2FE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3FC46B-938C-DDC2-8A4D-CC664A22C7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0CD958-D496-796C-34BF-7B48F39CFF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002330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my GitHub repository where I track all project work.</a:t>
            </a:r>
          </a:p>
        </p:txBody>
      </p:sp>
    </p:spTree>
    <p:extLst>
      <p:ext uri="{BB962C8B-B14F-4D97-AF65-F5344CB8AC3E}">
        <p14:creationId xmlns:p14="http://schemas.microsoft.com/office/powerpoint/2010/main" val="67668815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the key sources used in this research, including academic, industry, and government publications.</a:t>
            </a:r>
          </a:p>
        </p:txBody>
      </p:sp>
    </p:spTree>
    <p:extLst>
      <p:ext uri="{BB962C8B-B14F-4D97-AF65-F5344CB8AC3E}">
        <p14:creationId xmlns:p14="http://schemas.microsoft.com/office/powerpoint/2010/main" val="250177773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you for your time</a:t>
            </a:r>
          </a:p>
          <a:p>
            <a:r>
              <a:rPr lang="en-US" dirty="0"/>
              <a:t>Any Questions?</a:t>
            </a:r>
          </a:p>
        </p:txBody>
      </p:sp>
    </p:spTree>
    <p:extLst>
      <p:ext uri="{BB962C8B-B14F-4D97-AF65-F5344CB8AC3E}">
        <p14:creationId xmlns:p14="http://schemas.microsoft.com/office/powerpoint/2010/main" val="4835319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7544483" y="657775"/>
            <a:ext cx="1299300" cy="432900"/>
          </a:xfrm>
          <a:prstGeom prst="triangle">
            <a:avLst>
              <a:gd name="adj" fmla="val 32425"/>
            </a:avLst>
          </a:prstGeom>
          <a:solidFill>
            <a:srgbClr val="2632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vo"/>
              <a:ea typeface="Arvo"/>
              <a:cs typeface="Arvo"/>
              <a:sym typeface="Arvo"/>
            </a:endParaRPr>
          </a:p>
        </p:txBody>
      </p:sp>
      <p:grpSp>
        <p:nvGrpSpPr>
          <p:cNvPr id="11" name="Google Shape;11;p2"/>
          <p:cNvGrpSpPr/>
          <p:nvPr/>
        </p:nvGrpSpPr>
        <p:grpSpPr>
          <a:xfrm>
            <a:off x="182385" y="0"/>
            <a:ext cx="8661398" cy="5150588"/>
            <a:chOff x="0" y="-7088"/>
            <a:chExt cx="8661398" cy="5150588"/>
          </a:xfrm>
        </p:grpSpPr>
        <p:sp>
          <p:nvSpPr>
            <p:cNvPr id="12" name="Google Shape;12;p2"/>
            <p:cNvSpPr/>
            <p:nvPr/>
          </p:nvSpPr>
          <p:spPr>
            <a:xfrm>
              <a:off x="0" y="0"/>
              <a:ext cx="3525000" cy="5143500"/>
            </a:xfrm>
            <a:prstGeom prst="rect">
              <a:avLst/>
            </a:prstGeom>
            <a:solidFill>
              <a:srgbClr val="C7D3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10800000" flipH="1">
              <a:off x="3517898" y="-7088"/>
              <a:ext cx="5143500" cy="5143500"/>
            </a:xfrm>
            <a:prstGeom prst="rtTriangle">
              <a:avLst/>
            </a:prstGeom>
            <a:solidFill>
              <a:srgbClr val="C7D3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</p:grpSp>
      <p:grpSp>
        <p:nvGrpSpPr>
          <p:cNvPr id="14" name="Google Shape;14;p2"/>
          <p:cNvGrpSpPr/>
          <p:nvPr/>
        </p:nvGrpSpPr>
        <p:grpSpPr>
          <a:xfrm rot="10800000" flipH="1">
            <a:off x="1" y="1090763"/>
            <a:ext cx="8847502" cy="2961975"/>
            <a:chOff x="-8178042" y="-4493254"/>
            <a:chExt cx="19483598" cy="6522736"/>
          </a:xfrm>
        </p:grpSpPr>
        <p:sp>
          <p:nvSpPr>
            <p:cNvPr id="15" name="Google Shape;15;p2"/>
            <p:cNvSpPr/>
            <p:nvPr/>
          </p:nvSpPr>
          <p:spPr>
            <a:xfrm>
              <a:off x="-8178042" y="-4493118"/>
              <a:ext cx="12968400" cy="6522600"/>
            </a:xfrm>
            <a:prstGeom prst="rect">
              <a:avLst/>
            </a:prstGeom>
            <a:solidFill>
              <a:srgbClr val="3F53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4782955" y="-4493254"/>
              <a:ext cx="6522600" cy="6522600"/>
            </a:xfrm>
            <a:prstGeom prst="rtTriangle">
              <a:avLst/>
            </a:prstGeom>
            <a:solidFill>
              <a:srgbClr val="3F53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</p:grpSp>
      <p:grpSp>
        <p:nvGrpSpPr>
          <p:cNvPr id="17" name="Google Shape;17;p2"/>
          <p:cNvGrpSpPr/>
          <p:nvPr/>
        </p:nvGrpSpPr>
        <p:grpSpPr>
          <a:xfrm>
            <a:off x="3677236" y="4278349"/>
            <a:ext cx="5480829" cy="432996"/>
            <a:chOff x="5582265" y="4646738"/>
            <a:chExt cx="5480829" cy="432996"/>
          </a:xfrm>
        </p:grpSpPr>
        <p:sp>
          <p:nvSpPr>
            <p:cNvPr id="18" name="Google Shape;18;p2"/>
            <p:cNvSpPr/>
            <p:nvPr/>
          </p:nvSpPr>
          <p:spPr>
            <a:xfrm rot="10800000">
              <a:off x="5582265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rgbClr val="D26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9" name="Google Shape;19;p2"/>
            <p:cNvGrpSpPr/>
            <p:nvPr/>
          </p:nvGrpSpPr>
          <p:grpSpPr>
            <a:xfrm flipH="1">
              <a:off x="5585232" y="4646738"/>
              <a:ext cx="5477861" cy="304551"/>
              <a:chOff x="-24158748" y="330075"/>
              <a:chExt cx="30568423" cy="1699506"/>
            </a:xfrm>
          </p:grpSpPr>
          <p:sp>
            <p:nvSpPr>
              <p:cNvPr id="20" name="Google Shape;20;p2"/>
              <p:cNvSpPr/>
              <p:nvPr/>
            </p:nvSpPr>
            <p:spPr>
              <a:xfrm>
                <a:off x="-24158748" y="330081"/>
                <a:ext cx="28908000" cy="1699500"/>
              </a:xfrm>
              <a:prstGeom prst="rect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4710175" y="330075"/>
                <a:ext cx="1699500" cy="1699500"/>
              </a:xfrm>
              <a:prstGeom prst="rtTriangle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2" name="Google Shape;22;p2"/>
          <p:cNvSpPr txBox="1">
            <a:spLocks noGrp="1"/>
          </p:cNvSpPr>
          <p:nvPr>
            <p:ph type="ctrTitle"/>
          </p:nvPr>
        </p:nvSpPr>
        <p:spPr>
          <a:xfrm>
            <a:off x="685800" y="1090750"/>
            <a:ext cx="5367900" cy="296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34F7D0F-FE46-C945-87EB-0FD3D356521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4243277"/>
            <a:ext cx="914400" cy="9144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988954610"/>
      </p:ext>
    </p:extLst>
  </p:cSld>
  <p:clrMapOvr>
    <a:masterClrMapping/>
  </p:clrMapOvr>
  <p:transition>
    <p:fade thruBlk="1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 + 1 colum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" name="Google Shape;62;p5"/>
          <p:cNvGrpSpPr/>
          <p:nvPr/>
        </p:nvGrpSpPr>
        <p:grpSpPr>
          <a:xfrm>
            <a:off x="-4" y="40"/>
            <a:ext cx="7072430" cy="1327315"/>
            <a:chOff x="-4" y="40"/>
            <a:chExt cx="7072430" cy="1327315"/>
          </a:xfrm>
        </p:grpSpPr>
        <p:sp>
          <p:nvSpPr>
            <p:cNvPr id="63" name="Google Shape;63;p5"/>
            <p:cNvSpPr/>
            <p:nvPr/>
          </p:nvSpPr>
          <p:spPr>
            <a:xfrm>
              <a:off x="6292649" y="126425"/>
              <a:ext cx="779700" cy="259800"/>
            </a:xfrm>
            <a:prstGeom prst="triangle">
              <a:avLst>
                <a:gd name="adj" fmla="val 32425"/>
              </a:avLst>
            </a:prstGeom>
            <a:solidFill>
              <a:srgbClr val="263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grpSp>
          <p:nvGrpSpPr>
            <p:cNvPr id="64" name="Google Shape;64;p5"/>
            <p:cNvGrpSpPr/>
            <p:nvPr/>
          </p:nvGrpSpPr>
          <p:grpSpPr>
            <a:xfrm rot="10800000" flipH="1">
              <a:off x="3" y="40"/>
              <a:ext cx="6756168" cy="1327315"/>
              <a:chOff x="-2168138" y="330075"/>
              <a:chExt cx="8650663" cy="1699506"/>
            </a:xfrm>
          </p:grpSpPr>
          <p:sp>
            <p:nvSpPr>
              <p:cNvPr id="65" name="Google Shape;65;p5"/>
              <p:cNvSpPr/>
              <p:nvPr/>
            </p:nvSpPr>
            <p:spPr>
              <a:xfrm>
                <a:off x="-2168138" y="330081"/>
                <a:ext cx="6958200" cy="1699500"/>
              </a:xfrm>
              <a:prstGeom prst="rect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66" name="Google Shape;66;p5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  <p:grpSp>
          <p:nvGrpSpPr>
            <p:cNvPr id="67" name="Google Shape;67;p5"/>
            <p:cNvGrpSpPr/>
            <p:nvPr/>
          </p:nvGrpSpPr>
          <p:grpSpPr>
            <a:xfrm rot="10800000" flipH="1">
              <a:off x="-4" y="381007"/>
              <a:ext cx="7072430" cy="771744"/>
              <a:chOff x="-9092084" y="330075"/>
              <a:chExt cx="15574609" cy="1699501"/>
            </a:xfrm>
          </p:grpSpPr>
          <p:sp>
            <p:nvSpPr>
              <p:cNvPr id="68" name="Google Shape;68;p5"/>
              <p:cNvSpPr/>
              <p:nvPr/>
            </p:nvSpPr>
            <p:spPr>
              <a:xfrm>
                <a:off x="-9092084" y="330076"/>
                <a:ext cx="13882200" cy="1699500"/>
              </a:xfrm>
              <a:prstGeom prst="rect">
                <a:avLst/>
              </a:prstGeom>
              <a:solidFill>
                <a:srgbClr val="3F537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69" name="Google Shape;69;p5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rgbClr val="3F537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</p:grpSp>
      <p:grpSp>
        <p:nvGrpSpPr>
          <p:cNvPr id="70" name="Google Shape;70;p5"/>
          <p:cNvGrpSpPr/>
          <p:nvPr/>
        </p:nvGrpSpPr>
        <p:grpSpPr>
          <a:xfrm>
            <a:off x="6946842" y="4472723"/>
            <a:ext cx="2202830" cy="670795"/>
            <a:chOff x="5575242" y="4472723"/>
            <a:chExt cx="2202830" cy="670795"/>
          </a:xfrm>
        </p:grpSpPr>
        <p:sp>
          <p:nvSpPr>
            <p:cNvPr id="71" name="Google Shape;71;p5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rgbClr val="D26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2" name="Google Shape;72;p5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73" name="Google Shape;73;p5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Google Shape;74;p5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5" name="Google Shape;75;p5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76" name="Google Shape;76;p5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" name="Google Shape;77;p5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78" name="Google Shape;78;p5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492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5"/>
          <p:cNvSpPr txBox="1">
            <a:spLocks noGrp="1"/>
          </p:cNvSpPr>
          <p:nvPr>
            <p:ph type="body" idx="1"/>
          </p:nvPr>
        </p:nvSpPr>
        <p:spPr>
          <a:xfrm>
            <a:off x="814275" y="1327350"/>
            <a:ext cx="6132600" cy="314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SzPts val="2400"/>
              <a:buChar char="▰"/>
              <a:defRPr sz="2800"/>
            </a:lvl1pPr>
            <a:lvl2pPr marL="914400" lvl="1" indent="-381000">
              <a:spcBef>
                <a:spcPts val="1000"/>
              </a:spcBef>
              <a:spcAft>
                <a:spcPts val="0"/>
              </a:spcAft>
              <a:buSzPts val="2400"/>
              <a:buChar char="▻"/>
              <a:defRPr/>
            </a:lvl2pPr>
            <a:lvl3pPr marL="1371600" lvl="2" indent="-381000">
              <a:spcBef>
                <a:spcPts val="1000"/>
              </a:spcBef>
              <a:spcAft>
                <a:spcPts val="0"/>
              </a:spcAft>
              <a:buSzPts val="2400"/>
              <a:buChar char="▻"/>
              <a:defRPr/>
            </a:lvl3pPr>
            <a:lvl4pPr marL="1828800" lvl="3" indent="-381000">
              <a:spcBef>
                <a:spcPts val="1000"/>
              </a:spcBef>
              <a:spcAft>
                <a:spcPts val="0"/>
              </a:spcAft>
              <a:buSzPts val="2400"/>
              <a:buChar char="▻"/>
              <a:defRPr/>
            </a:lvl4pPr>
            <a:lvl5pPr marL="2286000" lvl="4" indent="-381000">
              <a:spcBef>
                <a:spcPts val="1000"/>
              </a:spcBef>
              <a:spcAft>
                <a:spcPts val="0"/>
              </a:spcAft>
              <a:buSzPts val="2400"/>
              <a:buChar char="▻"/>
              <a:defRPr/>
            </a:lvl5pPr>
            <a:lvl6pPr marL="2743200" lvl="5" indent="-381000">
              <a:spcBef>
                <a:spcPts val="1000"/>
              </a:spcBef>
              <a:spcAft>
                <a:spcPts val="0"/>
              </a:spcAft>
              <a:buSzPts val="2400"/>
              <a:buChar char="▻"/>
              <a:defRPr/>
            </a:lvl6pPr>
            <a:lvl7pPr marL="3200400" lvl="6" indent="-381000">
              <a:spcBef>
                <a:spcPts val="1000"/>
              </a:spcBef>
              <a:spcAft>
                <a:spcPts val="0"/>
              </a:spcAft>
              <a:buSzPts val="2400"/>
              <a:buChar char="▻"/>
              <a:defRPr/>
            </a:lvl7pPr>
            <a:lvl8pPr marL="3657600" lvl="7" indent="-381000">
              <a:spcBef>
                <a:spcPts val="1000"/>
              </a:spcBef>
              <a:spcAft>
                <a:spcPts val="0"/>
              </a:spcAft>
              <a:buSzPts val="2400"/>
              <a:buChar char="▻"/>
              <a:defRPr/>
            </a:lvl8pPr>
            <a:lvl9pPr marL="4114800" lvl="8" indent="-381000">
              <a:spcBef>
                <a:spcPts val="1000"/>
              </a:spcBef>
              <a:spcAft>
                <a:spcPts val="1000"/>
              </a:spcAft>
              <a:buSzPts val="2400"/>
              <a:buChar char="▻"/>
              <a:defRPr/>
            </a:lvl9pPr>
          </a:lstStyle>
          <a:p>
            <a:endParaRPr/>
          </a:p>
        </p:txBody>
      </p:sp>
      <p:sp>
        <p:nvSpPr>
          <p:cNvPr id="80" name="Google Shape;80;p5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C8F7DB91-7595-E64B-B07D-A30575B2CB4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4253392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66445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tiff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14275" y="1327350"/>
            <a:ext cx="6132600" cy="31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▰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marL="914400" lvl="1" indent="-381000"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marL="1371600" lvl="2" indent="-381000"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marL="1828800" lvl="3" indent="-381000"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marL="2286000" lvl="4" indent="-381000"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marL="2743200" lvl="5" indent="-381000"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marL="3200400" lvl="6" indent="-381000"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marL="3657600" lvl="7" indent="-381000"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marL="4114800" lvl="8" indent="-381000">
              <a:spcBef>
                <a:spcPts val="1000"/>
              </a:spcBef>
              <a:spcAft>
                <a:spcPts val="100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B48145-9848-2F4E-A51E-1AF5F3EC5EAD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0" y="4243277"/>
            <a:ext cx="914400" cy="914400"/>
          </a:xfrm>
          <a:prstGeom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8" r:id="rId2"/>
    <p:sldLayoutId id="2147483659" r:id="rId3"/>
  </p:sldLayoutIdLst>
  <p:transition>
    <p:fade thruBlk="1"/>
  </p:transition>
  <p:hf hdr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kQuik559/Winter-2025-CS-497-Capstone-Project-Proposal-Enhancing-Aerospace-Supply-Chain-Resilience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1"/>
          <p:cNvSpPr txBox="1">
            <a:spLocks noGrp="1"/>
          </p:cNvSpPr>
          <p:nvPr>
            <p:ph type="ctrTitle"/>
          </p:nvPr>
        </p:nvSpPr>
        <p:spPr>
          <a:xfrm>
            <a:off x="155576" y="1177119"/>
            <a:ext cx="7193492" cy="93020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2400" dirty="0"/>
              <a:t>Enhancing Aerospace Supply Chain Resilience: A Predictive Analytics Approach to Mitigate Lead-Time Volatility</a:t>
            </a:r>
          </a:p>
        </p:txBody>
      </p:sp>
      <p:sp>
        <p:nvSpPr>
          <p:cNvPr id="4" name="AutoShape 8" descr="Image result for city university of seattle logo we are all about the finish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Google Shape;214;p13"/>
          <p:cNvSpPr txBox="1">
            <a:spLocks/>
          </p:cNvSpPr>
          <p:nvPr/>
        </p:nvSpPr>
        <p:spPr>
          <a:xfrm>
            <a:off x="12422" y="2107322"/>
            <a:ext cx="6404993" cy="18353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▰"/>
              <a:defRPr sz="2400" b="0" i="0" u="none" strike="noStrike" cap="none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 b="0" i="0" u="none" strike="noStrike" cap="none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 b="0" i="0" u="none" strike="noStrike" cap="none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 b="0" i="0" u="none" strike="noStrike" cap="none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 b="0" i="0" u="none" strike="noStrike" cap="none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 b="0" i="0" u="none" strike="noStrike" cap="none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 b="0" i="0" u="none" strike="noStrike" cap="none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 b="0" i="0" u="none" strike="noStrike" cap="none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 b="0" i="0" u="none" strike="noStrike" cap="none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pPr marL="76200" indent="0" algn="ctr">
              <a:buNone/>
            </a:pPr>
            <a:r>
              <a:rPr lang="en-US" sz="1600" dirty="0">
                <a:solidFill>
                  <a:schemeClr val="bg1"/>
                </a:solidFill>
              </a:rPr>
              <a:t>Parmbir Singh</a:t>
            </a:r>
            <a:endParaRPr lang="en-US" dirty="0">
              <a:solidFill>
                <a:schemeClr val="bg1"/>
              </a:solidFill>
            </a:endParaRPr>
          </a:p>
          <a:p>
            <a:pPr marL="76200" indent="0" algn="ctr">
              <a:buNone/>
            </a:pPr>
            <a:r>
              <a:rPr lang="en-US" sz="1600" dirty="0">
                <a:solidFill>
                  <a:schemeClr val="bg1"/>
                </a:solidFill>
              </a:rPr>
              <a:t>Course 497 Technology/Computing Capstone</a:t>
            </a:r>
          </a:p>
          <a:p>
            <a:pPr marL="76200" indent="0" algn="ctr">
              <a:buNone/>
            </a:pPr>
            <a:r>
              <a:rPr lang="en-US" sz="1600" dirty="0">
                <a:solidFill>
                  <a:schemeClr val="bg1"/>
                </a:solidFill>
              </a:rPr>
              <a:t>2026</a:t>
            </a:r>
            <a:br>
              <a:rPr lang="en-US" sz="1600" dirty="0">
                <a:solidFill>
                  <a:schemeClr val="bg1"/>
                </a:solidFill>
              </a:rPr>
            </a:br>
            <a:r>
              <a:rPr lang="en-US" sz="1600" dirty="0">
                <a:solidFill>
                  <a:schemeClr val="bg1"/>
                </a:solidFill>
              </a:rPr>
              <a:t>BS in Computer Science</a:t>
            </a:r>
            <a:endParaRPr lang="en-US" dirty="0">
              <a:solidFill>
                <a:schemeClr val="bg1"/>
              </a:solidFill>
            </a:endParaRPr>
          </a:p>
          <a:p>
            <a:pPr marL="76200" indent="0" algn="ctr">
              <a:buNone/>
            </a:pPr>
            <a:r>
              <a:rPr lang="en-US" sz="1500" dirty="0">
                <a:solidFill>
                  <a:schemeClr val="bg1"/>
                </a:solidFill>
              </a:rPr>
              <a:t>School of Technology &amp; Computing (STC)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918941" y="1297222"/>
            <a:ext cx="1911792" cy="2549056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59D2A3D-D013-0613-E2C5-08902924B9C2}"/>
              </a:ext>
            </a:extLst>
          </p:cNvPr>
          <p:cNvSpPr txBox="1">
            <a:spLocks/>
          </p:cNvSpPr>
          <p:nvPr/>
        </p:nvSpPr>
        <p:spPr>
          <a:xfrm>
            <a:off x="7612138" y="4278947"/>
            <a:ext cx="1487400" cy="3156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fld id="{00000000-1234-1234-1234-123412341234}" type="slidenum">
              <a:rPr lang="en" smtClean="0">
                <a:solidFill>
                  <a:schemeClr val="bg1"/>
                </a:solidFill>
              </a:rPr>
              <a:pPr algn="r"/>
              <a:t>1</a:t>
            </a:fld>
            <a:endParaRPr lang="en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3732" y="1397350"/>
            <a:ext cx="3836747" cy="3554750"/>
          </a:xfrm>
        </p:spPr>
        <p:txBody>
          <a:bodyPr/>
          <a:lstStyle/>
          <a:p>
            <a:r>
              <a:rPr lang="en-US" sz="2400" dirty="0"/>
              <a:t>Project Overview</a:t>
            </a:r>
          </a:p>
          <a:p>
            <a:r>
              <a:rPr lang="en-US" sz="2400" dirty="0"/>
              <a:t>Problem Statement</a:t>
            </a:r>
          </a:p>
          <a:p>
            <a:r>
              <a:rPr lang="en-US" sz="2400" dirty="0"/>
              <a:t>Approach</a:t>
            </a:r>
          </a:p>
          <a:p>
            <a:r>
              <a:rPr lang="en-US" sz="2400" dirty="0"/>
              <a:t>Data Collection</a:t>
            </a:r>
          </a:p>
        </p:txBody>
      </p:sp>
      <p:sp>
        <p:nvSpPr>
          <p:cNvPr id="5" name="Text Placeholder 2"/>
          <p:cNvSpPr txBox="1">
            <a:spLocks/>
          </p:cNvSpPr>
          <p:nvPr/>
        </p:nvSpPr>
        <p:spPr>
          <a:xfrm>
            <a:off x="4820479" y="1397349"/>
            <a:ext cx="4641573" cy="35547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▰"/>
              <a:defRPr sz="2800" b="0" i="0" u="none" strike="noStrike" cap="none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 b="0" i="0" u="none" strike="noStrike" cap="none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 b="0" i="0" u="none" strike="noStrike" cap="none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 b="0" i="0" u="none" strike="noStrike" cap="none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 b="0" i="0" u="none" strike="noStrike" cap="none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 b="0" i="0" u="none" strike="noStrike" cap="none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 b="0" i="0" u="none" strike="noStrike" cap="none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 b="0" i="0" u="none" strike="noStrike" cap="none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 b="0" i="0" u="none" strike="noStrike" cap="none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r>
              <a:rPr lang="en-US" sz="2400" dirty="0"/>
              <a:t>Data Analysis</a:t>
            </a:r>
          </a:p>
          <a:p>
            <a:r>
              <a:rPr lang="en-US" sz="2400" dirty="0"/>
              <a:t>Key Findings</a:t>
            </a:r>
          </a:p>
          <a:p>
            <a:r>
              <a:rPr lang="en-US" sz="2400" dirty="0"/>
              <a:t>Next Steps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4256474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36ACA6-337F-8A33-DFA1-73370A58AE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31A40-AE77-5F43-1CA5-E043629DDF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4275" y="392575"/>
            <a:ext cx="5258400" cy="766200"/>
          </a:xfrm>
        </p:spPr>
        <p:txBody>
          <a:bodyPr wrap="square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100" dirty="0"/>
              <a:t>Abstract</a:t>
            </a:r>
          </a:p>
        </p:txBody>
      </p:sp>
      <p:sp>
        <p:nvSpPr>
          <p:cNvPr id="5" name="Slide Number Placeholder 4" hidden="1">
            <a:extLst>
              <a:ext uri="{FF2B5EF4-FFF2-40B4-BE49-F238E27FC236}">
                <a16:creationId xmlns:a16="http://schemas.microsoft.com/office/drawing/2014/main" id="{6510A733-0BA2-9069-41BE-D59FC3EB75C7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7656513" y="4637088"/>
            <a:ext cx="1487487" cy="3143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600"/>
                </a:spcAft>
                <a:buNone/>
              </a:pPr>
              <a:t>3</a:t>
            </a:fld>
            <a:endParaRPr lang="e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0A0362-567C-A958-9107-2737094F0BE3}"/>
              </a:ext>
            </a:extLst>
          </p:cNvPr>
          <p:cNvSpPr txBox="1">
            <a:spLocks/>
          </p:cNvSpPr>
          <p:nvPr/>
        </p:nvSpPr>
        <p:spPr>
          <a:xfrm>
            <a:off x="814275" y="999000"/>
            <a:ext cx="6132600" cy="31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381000">
              <a:lnSpc>
                <a:spcPct val="90000"/>
              </a:lnSpc>
              <a:spcBef>
                <a:spcPts val="600"/>
              </a:spcBef>
              <a:buClr>
                <a:srgbClr val="C7D3E6"/>
              </a:buClr>
              <a:buSzPts val="2400"/>
              <a:buFont typeface="Roboto Condensed Light"/>
              <a:buChar char="▰"/>
            </a:pPr>
            <a:r>
              <a:rPr lang="en-US" sz="2400" dirty="0"/>
              <a:t>Aerospace supply chains face lead-time volatility due to reactive planning</a:t>
            </a:r>
          </a:p>
          <a:p>
            <a:pPr marL="457200" indent="-381000">
              <a:lnSpc>
                <a:spcPct val="90000"/>
              </a:lnSpc>
              <a:spcBef>
                <a:spcPts val="600"/>
              </a:spcBef>
              <a:buClr>
                <a:srgbClr val="C7D3E6"/>
              </a:buClr>
              <a:buSzPts val="2400"/>
              <a:buFont typeface="Roboto Condensed Light"/>
              <a:buChar char="▰"/>
            </a:pPr>
            <a:r>
              <a:rPr lang="en-US" sz="2400" dirty="0"/>
              <a:t>Limited multi-tier supplier visibility causes production instability</a:t>
            </a:r>
          </a:p>
          <a:p>
            <a:pPr marL="457200" indent="-381000">
              <a:lnSpc>
                <a:spcPct val="90000"/>
              </a:lnSpc>
              <a:spcBef>
                <a:spcPts val="600"/>
              </a:spcBef>
              <a:buClr>
                <a:srgbClr val="C7D3E6"/>
              </a:buClr>
              <a:buSzPts val="2400"/>
              <a:buFont typeface="Roboto Condensed Light"/>
              <a:buChar char="▰"/>
            </a:pPr>
            <a:r>
              <a:rPr lang="en-US" sz="2400" dirty="0"/>
              <a:t>Literature shows outdated models are insufficient</a:t>
            </a:r>
          </a:p>
          <a:p>
            <a:pPr marL="457200" indent="-381000">
              <a:lnSpc>
                <a:spcPct val="90000"/>
              </a:lnSpc>
              <a:spcBef>
                <a:spcPts val="600"/>
              </a:spcBef>
              <a:buClr>
                <a:srgbClr val="C7D3E6"/>
              </a:buClr>
              <a:buSzPts val="2400"/>
              <a:buFont typeface="Roboto Condensed Light"/>
              <a:buChar char="▰"/>
            </a:pPr>
            <a:r>
              <a:rPr lang="en-US" sz="2400" dirty="0"/>
              <a:t>Predictive analytics framework developed to analyze supply chain patterns</a:t>
            </a:r>
          </a:p>
          <a:p>
            <a:pPr marL="457200" indent="-381000">
              <a:lnSpc>
                <a:spcPct val="90000"/>
              </a:lnSpc>
              <a:spcBef>
                <a:spcPts val="600"/>
              </a:spcBef>
              <a:buClr>
                <a:srgbClr val="C7D3E6"/>
              </a:buClr>
              <a:buSzPts val="2400"/>
              <a:buFont typeface="Roboto Condensed Light"/>
              <a:buChar char="▰"/>
            </a:pPr>
            <a:r>
              <a:rPr lang="en-US" sz="2400" dirty="0"/>
              <a:t>Goal: shift from reactive response to proactive forecasting</a:t>
            </a:r>
            <a:endParaRPr lang="en-US" sz="2200" b="0" i="0" u="none" strike="noStrike" cap="none" dirty="0">
              <a:solidFill>
                <a:srgbClr val="263248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BF2AFDBB-D50B-13A0-0E4C-06BEAA578DBD}"/>
              </a:ext>
            </a:extLst>
          </p:cNvPr>
          <p:cNvSpPr txBox="1">
            <a:spLocks/>
          </p:cNvSpPr>
          <p:nvPr/>
        </p:nvSpPr>
        <p:spPr>
          <a:xfrm>
            <a:off x="7586025" y="4249638"/>
            <a:ext cx="1487400" cy="3156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fld id="{00000000-1234-1234-1234-123412341234}" type="slidenum">
              <a:rPr lang="en" smtClean="0">
                <a:solidFill>
                  <a:schemeClr val="bg1"/>
                </a:solidFill>
              </a:rPr>
              <a:pPr algn="r"/>
              <a:t>3</a:t>
            </a:fld>
            <a:endParaRPr lang="e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12450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2FA319-30F6-2FC3-A934-A12EE5B708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14DE5-914D-F92F-D6BD-10B5D849E7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4275" y="392575"/>
            <a:ext cx="5258400" cy="766200"/>
          </a:xfrm>
        </p:spPr>
        <p:txBody>
          <a:bodyPr wrap="square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100" dirty="0"/>
              <a:t>Keywords</a:t>
            </a:r>
          </a:p>
        </p:txBody>
      </p:sp>
      <p:sp>
        <p:nvSpPr>
          <p:cNvPr id="5" name="Slide Number Placeholder 4" hidden="1">
            <a:extLst>
              <a:ext uri="{FF2B5EF4-FFF2-40B4-BE49-F238E27FC236}">
                <a16:creationId xmlns:a16="http://schemas.microsoft.com/office/drawing/2014/main" id="{82F0C6AA-A1AB-8C1B-4764-9AE5596C90EE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7656513" y="4637088"/>
            <a:ext cx="1487487" cy="3143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600"/>
                </a:spcAft>
                <a:buNone/>
              </a:pPr>
              <a:t>4</a:t>
            </a:fld>
            <a:endParaRPr lang="e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43703C-126D-0219-E215-C5E93FA301DE}"/>
              </a:ext>
            </a:extLst>
          </p:cNvPr>
          <p:cNvSpPr txBox="1">
            <a:spLocks/>
          </p:cNvSpPr>
          <p:nvPr/>
        </p:nvSpPr>
        <p:spPr>
          <a:xfrm>
            <a:off x="814275" y="999000"/>
            <a:ext cx="6132600" cy="31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381000">
              <a:lnSpc>
                <a:spcPct val="90000"/>
              </a:lnSpc>
              <a:spcBef>
                <a:spcPts val="600"/>
              </a:spcBef>
              <a:buClr>
                <a:srgbClr val="C7D3E6"/>
              </a:buClr>
              <a:buSzPts val="2400"/>
              <a:buFont typeface="Roboto Condensed Light"/>
              <a:buChar char="▰"/>
            </a:pPr>
            <a:r>
              <a:rPr lang="en-US" sz="2200" b="0" i="0" u="none" strike="noStrike" cap="none" dirty="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 </a:t>
            </a:r>
            <a:r>
              <a:rPr lang="en-US" sz="2400" dirty="0"/>
              <a:t>Aerospace Supply Chain</a:t>
            </a:r>
          </a:p>
          <a:p>
            <a:pPr marL="457200" indent="-381000">
              <a:lnSpc>
                <a:spcPct val="90000"/>
              </a:lnSpc>
              <a:spcBef>
                <a:spcPts val="600"/>
              </a:spcBef>
              <a:buClr>
                <a:srgbClr val="C7D3E6"/>
              </a:buClr>
              <a:buSzPts val="2400"/>
              <a:buFont typeface="Roboto Condensed Light"/>
              <a:buChar char="▰"/>
            </a:pPr>
            <a:r>
              <a:rPr lang="en-US" sz="2400" dirty="0"/>
              <a:t>Predictive Analytics</a:t>
            </a:r>
          </a:p>
          <a:p>
            <a:pPr marL="457200" indent="-381000">
              <a:lnSpc>
                <a:spcPct val="90000"/>
              </a:lnSpc>
              <a:spcBef>
                <a:spcPts val="600"/>
              </a:spcBef>
              <a:buClr>
                <a:srgbClr val="C7D3E6"/>
              </a:buClr>
              <a:buSzPts val="2400"/>
              <a:buFont typeface="Roboto Condensed Light"/>
              <a:buChar char="▰"/>
            </a:pPr>
            <a:r>
              <a:rPr lang="en-US" sz="2400" dirty="0"/>
              <a:t>Lead-Time Volatility</a:t>
            </a:r>
          </a:p>
          <a:p>
            <a:pPr marL="457200" indent="-381000">
              <a:lnSpc>
                <a:spcPct val="90000"/>
              </a:lnSpc>
              <a:spcBef>
                <a:spcPts val="600"/>
              </a:spcBef>
              <a:buClr>
                <a:srgbClr val="C7D3E6"/>
              </a:buClr>
              <a:buSzPts val="2400"/>
              <a:buFont typeface="Roboto Condensed Light"/>
              <a:buChar char="▰"/>
            </a:pPr>
            <a:r>
              <a:rPr lang="en-US" sz="2400" dirty="0"/>
              <a:t>Machine Learning</a:t>
            </a:r>
          </a:p>
          <a:p>
            <a:pPr marL="457200" indent="-381000">
              <a:lnSpc>
                <a:spcPct val="90000"/>
              </a:lnSpc>
              <a:spcBef>
                <a:spcPts val="600"/>
              </a:spcBef>
              <a:buClr>
                <a:srgbClr val="C7D3E6"/>
              </a:buClr>
              <a:buSzPts val="2400"/>
              <a:buFont typeface="Roboto Condensed Light"/>
              <a:buChar char="▰"/>
            </a:pPr>
            <a:r>
              <a:rPr lang="en-US" sz="2400" dirty="0"/>
              <a:t>Supply Chain Risk</a:t>
            </a:r>
          </a:p>
          <a:p>
            <a:pPr marL="457200" indent="-381000">
              <a:lnSpc>
                <a:spcPct val="90000"/>
              </a:lnSpc>
              <a:spcBef>
                <a:spcPts val="600"/>
              </a:spcBef>
              <a:buClr>
                <a:srgbClr val="C7D3E6"/>
              </a:buClr>
              <a:buSzPts val="2400"/>
              <a:buFont typeface="Roboto Condensed Light"/>
              <a:buChar char="▰"/>
            </a:pPr>
            <a:r>
              <a:rPr lang="en-US" sz="2400" dirty="0"/>
              <a:t>Digital Supply Chain</a:t>
            </a:r>
            <a:endParaRPr lang="en-US" sz="2200" b="0" i="0" u="none" strike="noStrike" cap="none" dirty="0">
              <a:solidFill>
                <a:srgbClr val="263248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1393271-0418-12DD-F27D-D5D08BC9FDB5}"/>
              </a:ext>
            </a:extLst>
          </p:cNvPr>
          <p:cNvSpPr txBox="1">
            <a:spLocks/>
          </p:cNvSpPr>
          <p:nvPr/>
        </p:nvSpPr>
        <p:spPr>
          <a:xfrm>
            <a:off x="7586025" y="4249638"/>
            <a:ext cx="1487400" cy="3156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fld id="{00000000-1234-1234-1234-123412341234}" type="slidenum">
              <a:rPr lang="en" smtClean="0">
                <a:solidFill>
                  <a:schemeClr val="bg1"/>
                </a:solidFill>
              </a:rPr>
              <a:pPr algn="r"/>
              <a:t>4</a:t>
            </a:fld>
            <a:endParaRPr lang="e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0311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4275" y="392575"/>
            <a:ext cx="5258400" cy="766200"/>
          </a:xfrm>
        </p:spPr>
        <p:txBody>
          <a:bodyPr wrap="square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100"/>
              <a:t>Problem Statement</a:t>
            </a:r>
            <a:endParaRPr lang="en-US" sz="4100" dirty="0"/>
          </a:p>
        </p:txBody>
      </p:sp>
      <p:sp>
        <p:nvSpPr>
          <p:cNvPr id="5" name="Slide Number Placeholder 4" hidden="1"/>
          <p:cNvSpPr>
            <a:spLocks noGrp="1"/>
          </p:cNvSpPr>
          <p:nvPr>
            <p:ph type="sldNum" idx="4294967295"/>
          </p:nvPr>
        </p:nvSpPr>
        <p:spPr>
          <a:xfrm>
            <a:off x="7656513" y="4637088"/>
            <a:ext cx="1487487" cy="3143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600"/>
                </a:spcAft>
                <a:buNone/>
              </a:pPr>
              <a:t>5</a:t>
            </a:fld>
            <a:endParaRPr lang="en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62D5494C-4B48-A1DB-C0A8-D119F47D3E95}"/>
              </a:ext>
            </a:extLst>
          </p:cNvPr>
          <p:cNvSpPr txBox="1">
            <a:spLocks/>
          </p:cNvSpPr>
          <p:nvPr/>
        </p:nvSpPr>
        <p:spPr>
          <a:xfrm>
            <a:off x="7600415" y="4261361"/>
            <a:ext cx="1487400" cy="3156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>
              <a:spcAft>
                <a:spcPts val="600"/>
              </a:spcAft>
            </a:pPr>
            <a:fld id="{00000000-1234-1234-1234-123412341234}" type="slidenum">
              <a:rPr lang="en" smtClean="0">
                <a:solidFill>
                  <a:schemeClr val="bg1"/>
                </a:solidFill>
              </a:rPr>
              <a:pPr algn="r">
                <a:spcAft>
                  <a:spcPts val="600"/>
                </a:spcAft>
              </a:pPr>
              <a:t>5</a:t>
            </a:fld>
            <a:endParaRPr lang="en">
              <a:solidFill>
                <a:schemeClr val="bg1"/>
              </a:solidFill>
            </a:endParaRP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BCBDF3E-05E2-6DEA-CE78-FDD2C2433A5E}"/>
              </a:ext>
            </a:extLst>
          </p:cNvPr>
          <p:cNvSpPr txBox="1">
            <a:spLocks/>
          </p:cNvSpPr>
          <p:nvPr/>
        </p:nvSpPr>
        <p:spPr>
          <a:xfrm>
            <a:off x="814275" y="999000"/>
            <a:ext cx="4930269" cy="31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381000">
              <a:spcBef>
                <a:spcPts val="600"/>
              </a:spcBef>
              <a:buClr>
                <a:srgbClr val="C7D3E6"/>
              </a:buClr>
              <a:buSzPts val="2400"/>
              <a:buFont typeface="Roboto Condensed Light"/>
              <a:buChar char="▰"/>
            </a:pPr>
            <a:r>
              <a:rPr lang="en-US" sz="2800" dirty="0"/>
              <a:t>Aerospace supply chains rely on reactive planning and historical averages.</a:t>
            </a:r>
          </a:p>
          <a:p>
            <a:pPr marL="457200" indent="-381000">
              <a:spcBef>
                <a:spcPts val="600"/>
              </a:spcBef>
              <a:buClr>
                <a:srgbClr val="C7D3E6"/>
              </a:buClr>
              <a:buSzPts val="2400"/>
              <a:buFont typeface="Roboto Condensed Light"/>
              <a:buChar char="▰"/>
            </a:pPr>
            <a:r>
              <a:rPr lang="en-US" sz="2800" dirty="0"/>
              <a:t>Limited supplier visibility causes lead-time volatility.</a:t>
            </a:r>
          </a:p>
          <a:p>
            <a:pPr marL="457200" indent="-381000">
              <a:spcBef>
                <a:spcPts val="600"/>
              </a:spcBef>
              <a:buClr>
                <a:srgbClr val="C7D3E6"/>
              </a:buClr>
              <a:buSzPts val="2400"/>
              <a:buFont typeface="Roboto Condensed Light"/>
              <a:buChar char="▰"/>
            </a:pPr>
            <a:r>
              <a:rPr lang="en-US" sz="2800" dirty="0"/>
              <a:t>Delays in minor components stall entire aircraft production.</a:t>
            </a:r>
            <a:endParaRPr lang="en-US" sz="2800" b="0" i="0" u="none" strike="noStrike" cap="none" dirty="0">
              <a:solidFill>
                <a:srgbClr val="263248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</p:txBody>
      </p:sp>
    </p:spTree>
    <p:extLst>
      <p:ext uri="{BB962C8B-B14F-4D97-AF65-F5344CB8AC3E}">
        <p14:creationId xmlns:p14="http://schemas.microsoft.com/office/powerpoint/2010/main" val="34433717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0C3416-FAF6-AFFB-7361-7D35B75912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762EC-CE23-F3A9-D0BF-B23FA63591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4275" y="392575"/>
            <a:ext cx="5258400" cy="766200"/>
          </a:xfrm>
        </p:spPr>
        <p:txBody>
          <a:bodyPr wrap="square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100" dirty="0"/>
              <a:t>Background</a:t>
            </a:r>
          </a:p>
        </p:txBody>
      </p:sp>
      <p:sp>
        <p:nvSpPr>
          <p:cNvPr id="5" name="Slide Number Placeholder 4" hidden="1">
            <a:extLst>
              <a:ext uri="{FF2B5EF4-FFF2-40B4-BE49-F238E27FC236}">
                <a16:creationId xmlns:a16="http://schemas.microsoft.com/office/drawing/2014/main" id="{398FB18B-A3C3-E76C-B058-82597DE8E370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7656513" y="4637088"/>
            <a:ext cx="1487487" cy="3143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600"/>
                </a:spcAft>
                <a:buNone/>
              </a:pPr>
              <a:t>6</a:t>
            </a:fld>
            <a:endParaRPr lang="e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D0DB97-3C2B-DC83-6D62-87A519310BA2}"/>
              </a:ext>
            </a:extLst>
          </p:cNvPr>
          <p:cNvSpPr txBox="1">
            <a:spLocks/>
          </p:cNvSpPr>
          <p:nvPr/>
        </p:nvSpPr>
        <p:spPr>
          <a:xfrm>
            <a:off x="814275" y="999000"/>
            <a:ext cx="6132600" cy="31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381000">
              <a:lnSpc>
                <a:spcPct val="90000"/>
              </a:lnSpc>
              <a:spcBef>
                <a:spcPts val="600"/>
              </a:spcBef>
              <a:buClr>
                <a:srgbClr val="C7D3E6"/>
              </a:buClr>
              <a:buSzPts val="2400"/>
              <a:buFont typeface="Roboto Condensed Light"/>
              <a:buChar char="▰"/>
            </a:pPr>
            <a:r>
              <a:rPr lang="en-US" sz="2400" dirty="0"/>
              <a:t>Reviewed government, industry, and professional sources</a:t>
            </a:r>
          </a:p>
          <a:p>
            <a:pPr marL="457200" indent="-381000">
              <a:lnSpc>
                <a:spcPct val="90000"/>
              </a:lnSpc>
              <a:spcBef>
                <a:spcPts val="600"/>
              </a:spcBef>
              <a:buClr>
                <a:srgbClr val="C7D3E6"/>
              </a:buClr>
              <a:buSzPts val="2400"/>
              <a:buFont typeface="Roboto Condensed Light"/>
              <a:buChar char="▰"/>
            </a:pPr>
            <a:r>
              <a:rPr lang="en-US" sz="2400" dirty="0"/>
              <a:t>Identified evidence of reactive supply chain practices</a:t>
            </a:r>
          </a:p>
          <a:p>
            <a:pPr marL="457200" indent="-381000">
              <a:lnSpc>
                <a:spcPct val="90000"/>
              </a:lnSpc>
              <a:spcBef>
                <a:spcPts val="600"/>
              </a:spcBef>
              <a:buClr>
                <a:srgbClr val="C7D3E6"/>
              </a:buClr>
              <a:buSzPts val="2400"/>
              <a:buFont typeface="Roboto Condensed Light"/>
              <a:buChar char="▰"/>
            </a:pPr>
            <a:r>
              <a:rPr lang="en-US" sz="2400" dirty="0"/>
              <a:t>Found repeated reports of supplier delays and visibility gaps</a:t>
            </a:r>
          </a:p>
          <a:p>
            <a:pPr marL="457200" indent="-381000">
              <a:lnSpc>
                <a:spcPct val="90000"/>
              </a:lnSpc>
              <a:spcBef>
                <a:spcPts val="600"/>
              </a:spcBef>
              <a:buClr>
                <a:srgbClr val="C7D3E6"/>
              </a:buClr>
              <a:buSzPts val="2400"/>
              <a:buFont typeface="Roboto Condensed Light"/>
              <a:buChar char="▰"/>
            </a:pPr>
            <a:r>
              <a:rPr lang="en-US" sz="2400" dirty="0"/>
              <a:t>Identified emerging use of predictive analytics in aerospace</a:t>
            </a:r>
            <a:endParaRPr lang="en-US" sz="2200" b="0" i="0" u="none" strike="noStrike" cap="none" dirty="0">
              <a:solidFill>
                <a:srgbClr val="263248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A658873-3CC8-C4E4-534A-B74BDFD301C2}"/>
              </a:ext>
            </a:extLst>
          </p:cNvPr>
          <p:cNvSpPr txBox="1">
            <a:spLocks/>
          </p:cNvSpPr>
          <p:nvPr/>
        </p:nvSpPr>
        <p:spPr>
          <a:xfrm>
            <a:off x="7586025" y="4249638"/>
            <a:ext cx="1487400" cy="3156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fld id="{00000000-1234-1234-1234-123412341234}" type="slidenum">
              <a:rPr lang="en" smtClean="0">
                <a:solidFill>
                  <a:schemeClr val="bg1"/>
                </a:solidFill>
              </a:rPr>
              <a:pPr algn="r"/>
              <a:t>6</a:t>
            </a:fld>
            <a:endParaRPr lang="e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008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07E971-EEB4-8634-9C57-CB9F6688B6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C4BA4-DC2F-3AE2-F6EA-0D6AC0C4D0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4275" y="392575"/>
            <a:ext cx="5258400" cy="766200"/>
          </a:xfrm>
        </p:spPr>
        <p:txBody>
          <a:bodyPr wrap="square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100" dirty="0"/>
              <a:t>Background - Evidence</a:t>
            </a:r>
          </a:p>
        </p:txBody>
      </p:sp>
      <p:sp>
        <p:nvSpPr>
          <p:cNvPr id="5" name="Slide Number Placeholder 4" hidden="1">
            <a:extLst>
              <a:ext uri="{FF2B5EF4-FFF2-40B4-BE49-F238E27FC236}">
                <a16:creationId xmlns:a16="http://schemas.microsoft.com/office/drawing/2014/main" id="{75582989-BC33-0A49-7EF4-DDF960C22EE1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7656513" y="4637088"/>
            <a:ext cx="1487487" cy="3143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600"/>
                </a:spcAft>
                <a:buNone/>
              </a:pPr>
              <a:t>7</a:t>
            </a:fld>
            <a:endParaRPr lang="e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438649-0031-8221-3512-976787D2775C}"/>
              </a:ext>
            </a:extLst>
          </p:cNvPr>
          <p:cNvSpPr txBox="1">
            <a:spLocks/>
          </p:cNvSpPr>
          <p:nvPr/>
        </p:nvSpPr>
        <p:spPr>
          <a:xfrm>
            <a:off x="814275" y="999000"/>
            <a:ext cx="5806658" cy="31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381000">
              <a:lnSpc>
                <a:spcPct val="90000"/>
              </a:lnSpc>
              <a:spcBef>
                <a:spcPts val="600"/>
              </a:spcBef>
              <a:buClr>
                <a:srgbClr val="C7D3E6"/>
              </a:buClr>
              <a:buSzPts val="2400"/>
              <a:buFont typeface="Roboto Condensed Light"/>
              <a:buChar char="▰"/>
            </a:pPr>
            <a:r>
              <a:rPr lang="en-US" sz="2400" dirty="0"/>
              <a:t>GAO: limited multi-tier supplier visibility</a:t>
            </a:r>
          </a:p>
          <a:p>
            <a:pPr marL="457200" indent="-381000">
              <a:lnSpc>
                <a:spcPct val="90000"/>
              </a:lnSpc>
              <a:spcBef>
                <a:spcPts val="600"/>
              </a:spcBef>
              <a:buClr>
                <a:srgbClr val="C7D3E6"/>
              </a:buClr>
              <a:buSzPts val="2400"/>
              <a:buFont typeface="Roboto Condensed Light"/>
              <a:buChar char="▰"/>
            </a:pPr>
            <a:r>
              <a:rPr lang="en-US" sz="2400" dirty="0"/>
              <a:t>Leeham: Boeing &amp; Airbus production slowdowns</a:t>
            </a:r>
          </a:p>
          <a:p>
            <a:pPr marL="457200" indent="-381000">
              <a:lnSpc>
                <a:spcPct val="90000"/>
              </a:lnSpc>
              <a:spcBef>
                <a:spcPts val="600"/>
              </a:spcBef>
              <a:buClr>
                <a:srgbClr val="C7D3E6"/>
              </a:buClr>
              <a:buSzPts val="2400"/>
              <a:buFont typeface="Roboto Condensed Light"/>
              <a:buChar char="▰"/>
            </a:pPr>
            <a:r>
              <a:rPr lang="en-US" sz="2400" dirty="0"/>
              <a:t>Reuters: supplier capacity affecting output goals</a:t>
            </a:r>
          </a:p>
          <a:p>
            <a:pPr marL="457200" indent="-381000">
              <a:lnSpc>
                <a:spcPct val="90000"/>
              </a:lnSpc>
              <a:spcBef>
                <a:spcPts val="600"/>
              </a:spcBef>
              <a:buClr>
                <a:srgbClr val="C7D3E6"/>
              </a:buClr>
              <a:buSzPts val="2400"/>
              <a:buFont typeface="Roboto Condensed Light"/>
              <a:buChar char="▰"/>
            </a:pPr>
            <a:r>
              <a:rPr lang="en-US" sz="2400" dirty="0"/>
              <a:t>Industry moving toward predictive tools (Trax, EY)</a:t>
            </a:r>
            <a:endParaRPr lang="en-US" sz="2200" b="0" i="0" u="none" strike="noStrike" cap="none" dirty="0">
              <a:solidFill>
                <a:srgbClr val="263248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B8968175-69ED-B8DC-262C-7AC1BA8C6898}"/>
              </a:ext>
            </a:extLst>
          </p:cNvPr>
          <p:cNvSpPr txBox="1">
            <a:spLocks/>
          </p:cNvSpPr>
          <p:nvPr/>
        </p:nvSpPr>
        <p:spPr>
          <a:xfrm>
            <a:off x="7586025" y="4249638"/>
            <a:ext cx="1487400" cy="3156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fld id="{00000000-1234-1234-1234-123412341234}" type="slidenum">
              <a:rPr lang="en" smtClean="0">
                <a:solidFill>
                  <a:schemeClr val="bg1"/>
                </a:solidFill>
              </a:rPr>
              <a:pPr algn="r"/>
              <a:t>7</a:t>
            </a:fld>
            <a:endParaRPr lang="e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34080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01602C-5CEA-7637-0EEE-836DD7E098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CA7DAA-DA2A-4DAF-4CF0-973410C0BD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4275" y="392575"/>
            <a:ext cx="5258400" cy="766200"/>
          </a:xfrm>
        </p:spPr>
        <p:txBody>
          <a:bodyPr wrap="square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100" dirty="0"/>
              <a:t>Related Work</a:t>
            </a:r>
          </a:p>
        </p:txBody>
      </p:sp>
      <p:sp>
        <p:nvSpPr>
          <p:cNvPr id="5" name="Slide Number Placeholder 4" hidden="1">
            <a:extLst>
              <a:ext uri="{FF2B5EF4-FFF2-40B4-BE49-F238E27FC236}">
                <a16:creationId xmlns:a16="http://schemas.microsoft.com/office/drawing/2014/main" id="{A7F5389C-A57C-2651-CA1E-59A1588A40EA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7656513" y="4637088"/>
            <a:ext cx="1487487" cy="3143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600"/>
                </a:spcAft>
                <a:buNone/>
              </a:pPr>
              <a:t>8</a:t>
            </a:fld>
            <a:endParaRPr lang="e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189FA2-D837-DFCE-D004-BAB7250FCADA}"/>
              </a:ext>
            </a:extLst>
          </p:cNvPr>
          <p:cNvSpPr txBox="1">
            <a:spLocks/>
          </p:cNvSpPr>
          <p:nvPr/>
        </p:nvSpPr>
        <p:spPr>
          <a:xfrm>
            <a:off x="814275" y="999000"/>
            <a:ext cx="6132600" cy="31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381000">
              <a:lnSpc>
                <a:spcPct val="90000"/>
              </a:lnSpc>
              <a:spcBef>
                <a:spcPts val="600"/>
              </a:spcBef>
              <a:buClr>
                <a:srgbClr val="C7D3E6"/>
              </a:buClr>
              <a:buSzPts val="2400"/>
              <a:buFont typeface="Roboto Condensed Light"/>
              <a:buChar char="▰"/>
            </a:pPr>
            <a:r>
              <a:rPr lang="en-US" sz="2400" dirty="0">
                <a:latin typeface="+mj-lt"/>
              </a:rPr>
              <a:t>Outdated reactive aerospace supply chains</a:t>
            </a:r>
          </a:p>
          <a:p>
            <a:pPr marL="457200" indent="-381000">
              <a:lnSpc>
                <a:spcPct val="90000"/>
              </a:lnSpc>
              <a:spcBef>
                <a:spcPts val="600"/>
              </a:spcBef>
              <a:buClr>
                <a:srgbClr val="C7D3E6"/>
              </a:buClr>
              <a:buSzPts val="2400"/>
              <a:buFont typeface="Roboto Condensed Light"/>
              <a:buChar char="▰"/>
            </a:pPr>
            <a:r>
              <a:rPr lang="en-US" sz="2400" dirty="0">
                <a:latin typeface="+mj-lt"/>
              </a:rPr>
              <a:t>Lead-time volatility and production delays</a:t>
            </a:r>
          </a:p>
          <a:p>
            <a:pPr marL="457200" indent="-381000">
              <a:lnSpc>
                <a:spcPct val="90000"/>
              </a:lnSpc>
              <a:spcBef>
                <a:spcPts val="600"/>
              </a:spcBef>
              <a:buClr>
                <a:srgbClr val="C7D3E6"/>
              </a:buClr>
              <a:buSzPts val="2400"/>
              <a:buFont typeface="Roboto Condensed Light"/>
              <a:buChar char="▰"/>
            </a:pPr>
            <a:r>
              <a:rPr lang="en-US" sz="2400" dirty="0">
                <a:latin typeface="+mj-lt"/>
              </a:rPr>
              <a:t>Supplier capacity constraints across tiers</a:t>
            </a:r>
          </a:p>
          <a:p>
            <a:pPr marL="457200" indent="-381000">
              <a:lnSpc>
                <a:spcPct val="90000"/>
              </a:lnSpc>
              <a:spcBef>
                <a:spcPts val="600"/>
              </a:spcBef>
              <a:buClr>
                <a:srgbClr val="C7D3E6"/>
              </a:buClr>
              <a:buSzPts val="2400"/>
              <a:buFont typeface="Roboto Condensed Light"/>
              <a:buChar char="▰"/>
            </a:pPr>
            <a:r>
              <a:rPr lang="en-US" sz="2400" dirty="0">
                <a:latin typeface="+mj-lt"/>
              </a:rPr>
              <a:t>Predictive analytics as emerging solution</a:t>
            </a:r>
            <a:endParaRPr lang="en-US" sz="2400" b="0" i="0" u="none" strike="noStrike" cap="none" dirty="0">
              <a:solidFill>
                <a:srgbClr val="263248"/>
              </a:solidFill>
              <a:latin typeface="+mj-lt"/>
              <a:ea typeface="Roboto Condensed Light"/>
              <a:cs typeface="Roboto Condensed Light"/>
              <a:sym typeface="Roboto Condensed Light"/>
            </a:endParaRP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8086FC16-40EA-83A1-77A8-97B881189444}"/>
              </a:ext>
            </a:extLst>
          </p:cNvPr>
          <p:cNvSpPr txBox="1">
            <a:spLocks/>
          </p:cNvSpPr>
          <p:nvPr/>
        </p:nvSpPr>
        <p:spPr>
          <a:xfrm>
            <a:off x="7586025" y="4249638"/>
            <a:ext cx="1487400" cy="3156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fld id="{00000000-1234-1234-1234-123412341234}" type="slidenum">
              <a:rPr lang="en" smtClean="0">
                <a:solidFill>
                  <a:schemeClr val="bg1"/>
                </a:solidFill>
              </a:rPr>
              <a:pPr algn="r"/>
              <a:t>8</a:t>
            </a:fld>
            <a:endParaRPr lang="e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07541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EB915E-2C50-CCDD-54D2-E1EA44475F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A27CB-92FD-0775-02C3-73BB148474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4275" y="392575"/>
            <a:ext cx="5258400" cy="766200"/>
          </a:xfrm>
        </p:spPr>
        <p:txBody>
          <a:bodyPr wrap="square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100" dirty="0"/>
              <a:t>Approach Overview</a:t>
            </a:r>
          </a:p>
        </p:txBody>
      </p:sp>
      <p:sp>
        <p:nvSpPr>
          <p:cNvPr id="5" name="Slide Number Placeholder 4" hidden="1">
            <a:extLst>
              <a:ext uri="{FF2B5EF4-FFF2-40B4-BE49-F238E27FC236}">
                <a16:creationId xmlns:a16="http://schemas.microsoft.com/office/drawing/2014/main" id="{B22DEC09-5DAF-D36C-299D-9A1E4579026C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7656513" y="4637088"/>
            <a:ext cx="1487487" cy="3143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600"/>
                </a:spcAft>
                <a:buNone/>
              </a:pPr>
              <a:t>9</a:t>
            </a:fld>
            <a:endParaRPr lang="e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D14E73-D425-7011-6D24-4BB4D42D07DF}"/>
              </a:ext>
            </a:extLst>
          </p:cNvPr>
          <p:cNvSpPr txBox="1">
            <a:spLocks/>
          </p:cNvSpPr>
          <p:nvPr/>
        </p:nvSpPr>
        <p:spPr>
          <a:xfrm>
            <a:off x="814275" y="999000"/>
            <a:ext cx="5662725" cy="31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381000">
              <a:lnSpc>
                <a:spcPct val="90000"/>
              </a:lnSpc>
              <a:spcBef>
                <a:spcPts val="600"/>
              </a:spcBef>
              <a:buClr>
                <a:srgbClr val="C7D3E6"/>
              </a:buClr>
              <a:buSzPts val="2400"/>
              <a:buFont typeface="Roboto Condensed Light"/>
              <a:buChar char="▰"/>
            </a:pPr>
            <a:r>
              <a:rPr lang="en-US" sz="2400" dirty="0"/>
              <a:t>Collected and cleaned multiple datasets </a:t>
            </a:r>
          </a:p>
          <a:p>
            <a:pPr marL="457200" indent="-381000">
              <a:lnSpc>
                <a:spcPct val="90000"/>
              </a:lnSpc>
              <a:spcBef>
                <a:spcPts val="600"/>
              </a:spcBef>
              <a:buClr>
                <a:srgbClr val="C7D3E6"/>
              </a:buClr>
              <a:buSzPts val="2400"/>
              <a:buFont typeface="Roboto Condensed Light"/>
              <a:buChar char="▰"/>
            </a:pPr>
            <a:r>
              <a:rPr lang="en-US" sz="2400" dirty="0"/>
              <a:t>Engineered features (volatility, pressure change) </a:t>
            </a:r>
          </a:p>
          <a:p>
            <a:pPr marL="457200" indent="-381000">
              <a:lnSpc>
                <a:spcPct val="90000"/>
              </a:lnSpc>
              <a:spcBef>
                <a:spcPts val="600"/>
              </a:spcBef>
              <a:buClr>
                <a:srgbClr val="C7D3E6"/>
              </a:buClr>
              <a:buSzPts val="2400"/>
              <a:buFont typeface="Roboto Condensed Light"/>
              <a:buChar char="▰"/>
            </a:pPr>
            <a:r>
              <a:rPr lang="en-US" sz="2400" dirty="0"/>
              <a:t>Applied time-series, volatility, and correlation analysis</a:t>
            </a:r>
          </a:p>
          <a:p>
            <a:pPr marL="457200" indent="-381000">
              <a:lnSpc>
                <a:spcPct val="90000"/>
              </a:lnSpc>
              <a:spcBef>
                <a:spcPts val="600"/>
              </a:spcBef>
              <a:buClr>
                <a:srgbClr val="C7D3E6"/>
              </a:buClr>
              <a:buSzPts val="2400"/>
              <a:buFont typeface="Roboto Condensed Light"/>
              <a:buChar char="▰"/>
            </a:pPr>
            <a:r>
              <a:rPr lang="en-US" sz="2400" dirty="0"/>
              <a:t>Used Power BI for visualization </a:t>
            </a:r>
          </a:p>
          <a:p>
            <a:pPr marL="457200" indent="-381000">
              <a:lnSpc>
                <a:spcPct val="90000"/>
              </a:lnSpc>
              <a:spcBef>
                <a:spcPts val="600"/>
              </a:spcBef>
              <a:buClr>
                <a:srgbClr val="C7D3E6"/>
              </a:buClr>
              <a:buSzPts val="2400"/>
              <a:buFont typeface="Roboto Condensed Light"/>
              <a:buChar char="▰"/>
            </a:pPr>
            <a:r>
              <a:rPr lang="en-US" sz="2400" dirty="0"/>
              <a:t>Designed approach to support reproducible analysis</a:t>
            </a:r>
          </a:p>
          <a:p>
            <a:pPr marL="457200" indent="-381000">
              <a:lnSpc>
                <a:spcPct val="90000"/>
              </a:lnSpc>
              <a:spcBef>
                <a:spcPts val="600"/>
              </a:spcBef>
              <a:buClr>
                <a:srgbClr val="C7D3E6"/>
              </a:buClr>
              <a:buSzPts val="2400"/>
              <a:buFont typeface="Roboto Condensed Light"/>
              <a:buChar char="▰"/>
            </a:pPr>
            <a:r>
              <a:rPr lang="en-US" sz="2400" dirty="0"/>
              <a:t>Technologies selected for scalability, reproducibility, and visualization clarity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EBAD5DF-6220-2A9B-BF51-84A4C8BE5805}"/>
              </a:ext>
            </a:extLst>
          </p:cNvPr>
          <p:cNvSpPr txBox="1">
            <a:spLocks/>
          </p:cNvSpPr>
          <p:nvPr/>
        </p:nvSpPr>
        <p:spPr>
          <a:xfrm>
            <a:off x="7586025" y="4249638"/>
            <a:ext cx="1487400" cy="3156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fld id="{00000000-1234-1234-1234-123412341234}" type="slidenum">
              <a:rPr lang="en" smtClean="0">
                <a:solidFill>
                  <a:schemeClr val="bg1"/>
                </a:solidFill>
              </a:rPr>
              <a:pPr algn="r"/>
              <a:t>9</a:t>
            </a:fld>
            <a:endParaRPr lang="e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8165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EA5013-CECB-A902-7B8B-014D9FFFB1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39531D-8107-38FB-7F88-20A64E9DDC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4275" y="392575"/>
            <a:ext cx="5258400" cy="766200"/>
          </a:xfrm>
        </p:spPr>
        <p:txBody>
          <a:bodyPr wrap="square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100" dirty="0"/>
              <a:t>System Design</a:t>
            </a:r>
          </a:p>
        </p:txBody>
      </p:sp>
      <p:sp>
        <p:nvSpPr>
          <p:cNvPr id="5" name="Slide Number Placeholder 4" hidden="1">
            <a:extLst>
              <a:ext uri="{FF2B5EF4-FFF2-40B4-BE49-F238E27FC236}">
                <a16:creationId xmlns:a16="http://schemas.microsoft.com/office/drawing/2014/main" id="{8172E217-68B1-0B4E-BCE5-6A6C43A2CDBA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7656513" y="4637088"/>
            <a:ext cx="1487487" cy="3143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600"/>
                </a:spcAft>
                <a:buNone/>
              </a:pPr>
              <a:t>10</a:t>
            </a:fld>
            <a:endParaRPr lang="en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FB997D0-6745-3072-4326-EDC9F39F47CA}"/>
              </a:ext>
            </a:extLst>
          </p:cNvPr>
          <p:cNvSpPr txBox="1">
            <a:spLocks/>
          </p:cNvSpPr>
          <p:nvPr/>
        </p:nvSpPr>
        <p:spPr>
          <a:xfrm>
            <a:off x="7586025" y="4249638"/>
            <a:ext cx="1487400" cy="3156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fld id="{00000000-1234-1234-1234-123412341234}" type="slidenum">
              <a:rPr lang="en" smtClean="0">
                <a:solidFill>
                  <a:schemeClr val="bg1"/>
                </a:solidFill>
              </a:rPr>
              <a:pPr algn="r"/>
              <a:t>10</a:t>
            </a:fld>
            <a:endParaRPr lang="en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E1702C1-AB29-D96C-08E3-D540357B689F}"/>
              </a:ext>
            </a:extLst>
          </p:cNvPr>
          <p:cNvSpPr txBox="1"/>
          <p:nvPr/>
        </p:nvSpPr>
        <p:spPr>
          <a:xfrm>
            <a:off x="814275" y="1105194"/>
            <a:ext cx="4576712" cy="27176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6200">
              <a:lnSpc>
                <a:spcPct val="90000"/>
              </a:lnSpc>
              <a:spcBef>
                <a:spcPts val="600"/>
              </a:spcBef>
              <a:buClr>
                <a:srgbClr val="C7D3E6"/>
              </a:buClr>
              <a:buSzPts val="2400"/>
            </a:pPr>
            <a:r>
              <a:rPr lang="en-US" sz="1200" b="1" dirty="0"/>
              <a:t>Data Ingestion</a:t>
            </a:r>
          </a:p>
          <a:p>
            <a:pPr marL="457200" indent="-381000">
              <a:lnSpc>
                <a:spcPct val="90000"/>
              </a:lnSpc>
              <a:spcBef>
                <a:spcPts val="600"/>
              </a:spcBef>
              <a:buClr>
                <a:srgbClr val="C7D3E6"/>
              </a:buClr>
              <a:buSzPts val="2400"/>
              <a:buFont typeface="Roboto Condensed Light"/>
              <a:buChar char="▰"/>
            </a:pPr>
            <a:r>
              <a:rPr lang="en-US" sz="1200" dirty="0"/>
              <a:t>Supplier delivery history</a:t>
            </a:r>
          </a:p>
          <a:p>
            <a:pPr marL="457200" indent="-381000">
              <a:lnSpc>
                <a:spcPct val="90000"/>
              </a:lnSpc>
              <a:spcBef>
                <a:spcPts val="600"/>
              </a:spcBef>
              <a:buClr>
                <a:srgbClr val="C7D3E6"/>
              </a:buClr>
              <a:buSzPts val="2400"/>
              <a:buFont typeface="Roboto Condensed Light"/>
              <a:buChar char="▰"/>
            </a:pPr>
            <a:r>
              <a:rPr lang="en-US" sz="1200" dirty="0"/>
              <a:t>Lead-time performance data</a:t>
            </a:r>
          </a:p>
          <a:p>
            <a:pPr marL="76200">
              <a:lnSpc>
                <a:spcPct val="90000"/>
              </a:lnSpc>
              <a:spcBef>
                <a:spcPts val="600"/>
              </a:spcBef>
              <a:buClr>
                <a:srgbClr val="C7D3E6"/>
              </a:buClr>
              <a:buSzPts val="2400"/>
            </a:pPr>
            <a:r>
              <a:rPr lang="en-US" sz="1200" b="1" dirty="0"/>
              <a:t>Data Processing</a:t>
            </a:r>
          </a:p>
          <a:p>
            <a:pPr marL="457200" indent="-381000">
              <a:lnSpc>
                <a:spcPct val="90000"/>
              </a:lnSpc>
              <a:spcBef>
                <a:spcPts val="600"/>
              </a:spcBef>
              <a:buClr>
                <a:srgbClr val="C7D3E6"/>
              </a:buClr>
              <a:buSzPts val="2400"/>
              <a:buFont typeface="Roboto Condensed Light"/>
              <a:buChar char="▰"/>
            </a:pPr>
            <a:r>
              <a:rPr lang="en-US" sz="1200" dirty="0"/>
              <a:t>Cleaning &amp; normalization</a:t>
            </a:r>
          </a:p>
          <a:p>
            <a:pPr marL="457200" indent="-381000">
              <a:lnSpc>
                <a:spcPct val="90000"/>
              </a:lnSpc>
              <a:spcBef>
                <a:spcPts val="600"/>
              </a:spcBef>
              <a:buClr>
                <a:srgbClr val="C7D3E6"/>
              </a:buClr>
              <a:buSzPts val="2400"/>
              <a:buFont typeface="Roboto Condensed Light"/>
              <a:buChar char="▰"/>
            </a:pPr>
            <a:r>
              <a:rPr lang="en-US" sz="1200" dirty="0"/>
              <a:t>Feature engineering</a:t>
            </a:r>
          </a:p>
          <a:p>
            <a:pPr marL="76200">
              <a:lnSpc>
                <a:spcPct val="90000"/>
              </a:lnSpc>
              <a:spcBef>
                <a:spcPts val="600"/>
              </a:spcBef>
              <a:buClr>
                <a:srgbClr val="C7D3E6"/>
              </a:buClr>
              <a:buSzPts val="2400"/>
            </a:pPr>
            <a:r>
              <a:rPr lang="en-US" sz="1200" b="1" dirty="0"/>
              <a:t>Risk Output</a:t>
            </a:r>
          </a:p>
          <a:p>
            <a:pPr marL="457200" indent="-381000">
              <a:lnSpc>
                <a:spcPct val="90000"/>
              </a:lnSpc>
              <a:spcBef>
                <a:spcPts val="600"/>
              </a:spcBef>
              <a:buClr>
                <a:srgbClr val="C7D3E6"/>
              </a:buClr>
              <a:buSzPts val="2400"/>
              <a:buFont typeface="Roboto Condensed Light"/>
              <a:buChar char="▰"/>
            </a:pPr>
            <a:r>
              <a:rPr lang="en-US" sz="1200" dirty="0"/>
              <a:t>Visualization Outputs </a:t>
            </a:r>
          </a:p>
          <a:p>
            <a:pPr marL="457200" indent="-381000">
              <a:lnSpc>
                <a:spcPct val="90000"/>
              </a:lnSpc>
              <a:spcBef>
                <a:spcPts val="600"/>
              </a:spcBef>
              <a:buClr>
                <a:srgbClr val="C7D3E6"/>
              </a:buClr>
              <a:buSzPts val="2400"/>
              <a:buFont typeface="Roboto Condensed Light"/>
              <a:buChar char="▰"/>
            </a:pPr>
            <a:r>
              <a:rPr lang="en-US" sz="1200" dirty="0"/>
              <a:t>Trend analysis </a:t>
            </a:r>
          </a:p>
          <a:p>
            <a:pPr marL="457200" indent="-381000">
              <a:lnSpc>
                <a:spcPct val="90000"/>
              </a:lnSpc>
              <a:spcBef>
                <a:spcPts val="600"/>
              </a:spcBef>
              <a:buClr>
                <a:srgbClr val="C7D3E6"/>
              </a:buClr>
              <a:buSzPts val="2400"/>
              <a:buFont typeface="Roboto Condensed Light"/>
              <a:buChar char="▰"/>
            </a:pPr>
            <a:r>
              <a:rPr lang="en-US" sz="1200" dirty="0"/>
              <a:t>Volatility indicators </a:t>
            </a:r>
          </a:p>
          <a:p>
            <a:pPr marL="457200" indent="-381000">
              <a:lnSpc>
                <a:spcPct val="90000"/>
              </a:lnSpc>
              <a:spcBef>
                <a:spcPts val="600"/>
              </a:spcBef>
              <a:buClr>
                <a:srgbClr val="C7D3E6"/>
              </a:buClr>
              <a:buSzPts val="2400"/>
              <a:buFont typeface="Roboto Condensed Light"/>
              <a:buChar char="▰"/>
            </a:pPr>
            <a:r>
              <a:rPr lang="en-US" sz="1200" dirty="0"/>
              <a:t>Correlation insights </a:t>
            </a:r>
            <a:endParaRPr 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40476177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6873C3-76C1-D8DB-4848-F8B4F3F79B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0E03F-01E3-A60B-EFE8-033C66C08D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4275" y="392575"/>
            <a:ext cx="5258400" cy="766200"/>
          </a:xfrm>
        </p:spPr>
        <p:txBody>
          <a:bodyPr wrap="square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100" dirty="0"/>
              <a:t>Technologies Used</a:t>
            </a:r>
          </a:p>
        </p:txBody>
      </p:sp>
      <p:sp>
        <p:nvSpPr>
          <p:cNvPr id="5" name="Slide Number Placeholder 4" hidden="1">
            <a:extLst>
              <a:ext uri="{FF2B5EF4-FFF2-40B4-BE49-F238E27FC236}">
                <a16:creationId xmlns:a16="http://schemas.microsoft.com/office/drawing/2014/main" id="{440E61FE-4AA7-E91C-5ABA-0ED2DC4C920A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7656513" y="4637088"/>
            <a:ext cx="1487487" cy="3143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600"/>
                </a:spcAft>
                <a:buNone/>
              </a:pPr>
              <a:t>11</a:t>
            </a:fld>
            <a:endParaRPr lang="en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D90F0319-8C03-862A-CDF1-B03783C4BACA}"/>
              </a:ext>
            </a:extLst>
          </p:cNvPr>
          <p:cNvSpPr txBox="1">
            <a:spLocks/>
          </p:cNvSpPr>
          <p:nvPr/>
        </p:nvSpPr>
        <p:spPr>
          <a:xfrm>
            <a:off x="7586025" y="4249638"/>
            <a:ext cx="1487400" cy="3156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fld id="{00000000-1234-1234-1234-123412341234}" type="slidenum">
              <a:rPr lang="en" smtClean="0">
                <a:solidFill>
                  <a:schemeClr val="bg1"/>
                </a:solidFill>
              </a:rPr>
              <a:pPr algn="r"/>
              <a:t>11</a:t>
            </a:fld>
            <a:endParaRPr lang="en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A87F6C-39AC-9E0D-8676-706791A890A5}"/>
              </a:ext>
            </a:extLst>
          </p:cNvPr>
          <p:cNvSpPr txBox="1"/>
          <p:nvPr/>
        </p:nvSpPr>
        <p:spPr>
          <a:xfrm>
            <a:off x="814275" y="1460676"/>
            <a:ext cx="4576712" cy="22221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6200">
              <a:lnSpc>
                <a:spcPct val="90000"/>
              </a:lnSpc>
              <a:spcBef>
                <a:spcPts val="600"/>
              </a:spcBef>
              <a:buClr>
                <a:srgbClr val="C7D3E6"/>
              </a:buClr>
              <a:buSzPts val="2400"/>
            </a:pPr>
            <a:r>
              <a:rPr lang="en-US" sz="1800" b="1" dirty="0"/>
              <a:t>Primary Stack</a:t>
            </a:r>
          </a:p>
          <a:p>
            <a:pPr marL="457200" indent="-381000">
              <a:lnSpc>
                <a:spcPct val="90000"/>
              </a:lnSpc>
              <a:spcBef>
                <a:spcPts val="600"/>
              </a:spcBef>
              <a:buClr>
                <a:srgbClr val="C7D3E6"/>
              </a:buClr>
              <a:buSzPts val="2400"/>
              <a:buFont typeface="Roboto Condensed Light"/>
              <a:buChar char="▰"/>
            </a:pPr>
            <a:r>
              <a:rPr lang="en-US" sz="1800" dirty="0"/>
              <a:t>Databricks (Python notebooks)</a:t>
            </a:r>
          </a:p>
          <a:p>
            <a:pPr marL="76200">
              <a:lnSpc>
                <a:spcPct val="90000"/>
              </a:lnSpc>
              <a:spcBef>
                <a:spcPts val="600"/>
              </a:spcBef>
              <a:buClr>
                <a:srgbClr val="C7D3E6"/>
              </a:buClr>
              <a:buSzPts val="2400"/>
            </a:pPr>
            <a:endParaRPr lang="en-US" sz="1800" dirty="0"/>
          </a:p>
          <a:p>
            <a:pPr marL="457200" indent="-381000">
              <a:lnSpc>
                <a:spcPct val="90000"/>
              </a:lnSpc>
              <a:spcBef>
                <a:spcPts val="600"/>
              </a:spcBef>
              <a:buClr>
                <a:srgbClr val="C7D3E6"/>
              </a:buClr>
              <a:buSzPts val="2400"/>
              <a:buFont typeface="Roboto Condensed Light"/>
              <a:buChar char="▰"/>
            </a:pPr>
            <a:r>
              <a:rPr lang="en-US" sz="1800" dirty="0"/>
              <a:t>Power BI (dashboard &amp; visualization)</a:t>
            </a:r>
          </a:p>
          <a:p>
            <a:pPr marL="457200" indent="-381000">
              <a:lnSpc>
                <a:spcPct val="90000"/>
              </a:lnSpc>
              <a:spcBef>
                <a:spcPts val="600"/>
              </a:spcBef>
              <a:buClr>
                <a:srgbClr val="C7D3E6"/>
              </a:buClr>
              <a:buSzPts val="2400"/>
              <a:buFont typeface="Roboto Condensed Light"/>
              <a:buChar char="▰"/>
            </a:pPr>
            <a:endParaRPr lang="en-US" sz="1800" dirty="0"/>
          </a:p>
          <a:p>
            <a:pPr marL="457200" indent="-381000">
              <a:lnSpc>
                <a:spcPct val="90000"/>
              </a:lnSpc>
              <a:spcBef>
                <a:spcPts val="600"/>
              </a:spcBef>
              <a:buClr>
                <a:srgbClr val="C7D3E6"/>
              </a:buClr>
              <a:buSzPts val="2400"/>
              <a:buFont typeface="Roboto Condensed Light"/>
              <a:buChar char="▰"/>
            </a:pPr>
            <a:r>
              <a:rPr lang="en-US" sz="1800" dirty="0"/>
              <a:t>GitHub (version control &amp; documentation)</a:t>
            </a:r>
          </a:p>
        </p:txBody>
      </p:sp>
    </p:spTree>
    <p:extLst>
      <p:ext uri="{BB962C8B-B14F-4D97-AF65-F5344CB8AC3E}">
        <p14:creationId xmlns:p14="http://schemas.microsoft.com/office/powerpoint/2010/main" val="3124713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97A258-AF9B-A47F-C6BD-32F2132441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FE3B3-222D-F6FA-C9C2-B715060FB5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4275" y="392575"/>
            <a:ext cx="5258400" cy="766200"/>
          </a:xfrm>
        </p:spPr>
        <p:txBody>
          <a:bodyPr wrap="square" anchor="ctr"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n-US" sz="4400" dirty="0"/>
              <a:t>Data Collection</a:t>
            </a:r>
            <a:endParaRPr lang="en-US" sz="4100" dirty="0"/>
          </a:p>
        </p:txBody>
      </p:sp>
      <p:sp>
        <p:nvSpPr>
          <p:cNvPr id="5" name="Slide Number Placeholder 4" hidden="1">
            <a:extLst>
              <a:ext uri="{FF2B5EF4-FFF2-40B4-BE49-F238E27FC236}">
                <a16:creationId xmlns:a16="http://schemas.microsoft.com/office/drawing/2014/main" id="{A29807D4-E8FC-0AF4-C5C2-0E3EACF0181D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7656513" y="4637088"/>
            <a:ext cx="1487487" cy="3143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600"/>
                </a:spcAft>
                <a:buNone/>
              </a:pPr>
              <a:t>12</a:t>
            </a:fld>
            <a:endParaRPr lang="en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887C0634-2F18-DD1C-EC3D-59875346EBE6}"/>
              </a:ext>
            </a:extLst>
          </p:cNvPr>
          <p:cNvSpPr txBox="1">
            <a:spLocks/>
          </p:cNvSpPr>
          <p:nvPr/>
        </p:nvSpPr>
        <p:spPr>
          <a:xfrm>
            <a:off x="7586025" y="4249638"/>
            <a:ext cx="1487400" cy="3156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fld id="{00000000-1234-1234-1234-123412341234}" type="slidenum">
              <a:rPr lang="en" smtClean="0">
                <a:solidFill>
                  <a:schemeClr val="bg1"/>
                </a:solidFill>
              </a:rPr>
              <a:pPr algn="r"/>
              <a:t>12</a:t>
            </a:fld>
            <a:endParaRPr lang="en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A5C9102-CCA9-2BD0-5416-0816F7F92932}"/>
              </a:ext>
            </a:extLst>
          </p:cNvPr>
          <p:cNvSpPr txBox="1"/>
          <p:nvPr/>
        </p:nvSpPr>
        <p:spPr>
          <a:xfrm>
            <a:off x="814275" y="1134433"/>
            <a:ext cx="4576712" cy="25483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6200">
              <a:lnSpc>
                <a:spcPct val="90000"/>
              </a:lnSpc>
              <a:spcBef>
                <a:spcPts val="600"/>
              </a:spcBef>
              <a:buClr>
                <a:srgbClr val="C7D3E6"/>
              </a:buClr>
              <a:buSzPts val="2400"/>
            </a:pPr>
            <a:r>
              <a:rPr lang="en-US" sz="1800" b="1" dirty="0"/>
              <a:t>Data Source (Simulated / Structured Sample Data)</a:t>
            </a:r>
          </a:p>
          <a:p>
            <a:pPr marL="457200" lvl="1" indent="-381000">
              <a:lnSpc>
                <a:spcPct val="90000"/>
              </a:lnSpc>
              <a:spcBef>
                <a:spcPts val="600"/>
              </a:spcBef>
              <a:buClr>
                <a:srgbClr val="C7D3E6"/>
              </a:buClr>
              <a:buSzPts val="2400"/>
              <a:buFont typeface="Roboto Condensed Light"/>
              <a:buChar char="▰"/>
            </a:pPr>
            <a:r>
              <a:rPr lang="en-US" sz="1800" dirty="0"/>
              <a:t>Aerospace Production Index </a:t>
            </a:r>
          </a:p>
          <a:p>
            <a:pPr marL="457200" lvl="1" indent="-381000">
              <a:lnSpc>
                <a:spcPct val="90000"/>
              </a:lnSpc>
              <a:spcBef>
                <a:spcPts val="600"/>
              </a:spcBef>
              <a:buClr>
                <a:srgbClr val="C7D3E6"/>
              </a:buClr>
              <a:buSzPts val="2400"/>
              <a:buFont typeface="Roboto Condensed Light"/>
              <a:buChar char="▰"/>
            </a:pPr>
            <a:r>
              <a:rPr lang="en-US" sz="1800" dirty="0"/>
              <a:t>Freight Index </a:t>
            </a:r>
          </a:p>
          <a:p>
            <a:pPr marL="457200" lvl="1" indent="-381000">
              <a:lnSpc>
                <a:spcPct val="90000"/>
              </a:lnSpc>
              <a:spcBef>
                <a:spcPts val="600"/>
              </a:spcBef>
              <a:buClr>
                <a:srgbClr val="C7D3E6"/>
              </a:buClr>
              <a:buSzPts val="2400"/>
              <a:buFont typeface="Roboto Condensed Light"/>
              <a:buChar char="▰"/>
            </a:pPr>
            <a:r>
              <a:rPr lang="en-US" sz="1800" dirty="0"/>
              <a:t>Supply Chain Pressure Index</a:t>
            </a:r>
          </a:p>
          <a:p>
            <a:pPr marL="457200" lvl="1" indent="-381000">
              <a:lnSpc>
                <a:spcPct val="90000"/>
              </a:lnSpc>
              <a:spcBef>
                <a:spcPts val="600"/>
              </a:spcBef>
              <a:buClr>
                <a:srgbClr val="C7D3E6"/>
              </a:buClr>
              <a:buSzPts val="2400"/>
              <a:buFont typeface="Roboto Condensed Light"/>
              <a:buChar char="▰"/>
            </a:pPr>
            <a:r>
              <a:rPr lang="en-US" sz="1800" dirty="0"/>
              <a:t>Combined into unified dataset</a:t>
            </a:r>
          </a:p>
          <a:p>
            <a:pPr marL="457200" lvl="1" indent="-381000">
              <a:lnSpc>
                <a:spcPct val="90000"/>
              </a:lnSpc>
              <a:spcBef>
                <a:spcPts val="600"/>
              </a:spcBef>
              <a:buClr>
                <a:srgbClr val="C7D3E6"/>
              </a:buClr>
              <a:buSzPts val="2400"/>
              <a:buFont typeface="Roboto Condensed Light"/>
              <a:buChar char="▰"/>
            </a:pPr>
            <a:r>
              <a:rPr lang="en-US" sz="1800" dirty="0"/>
              <a:t>Processed in Databricks </a:t>
            </a:r>
          </a:p>
          <a:p>
            <a:pPr marL="457200" lvl="1" indent="-381000">
              <a:lnSpc>
                <a:spcPct val="90000"/>
              </a:lnSpc>
              <a:spcBef>
                <a:spcPts val="600"/>
              </a:spcBef>
              <a:buClr>
                <a:srgbClr val="C7D3E6"/>
              </a:buClr>
              <a:buSzPts val="2400"/>
              <a:buFont typeface="Roboto Condensed Light"/>
              <a:buChar char="▰"/>
            </a:pPr>
            <a:r>
              <a:rPr lang="en-US" sz="1800" dirty="0"/>
              <a:t>Exported to Power BI </a:t>
            </a:r>
          </a:p>
        </p:txBody>
      </p:sp>
    </p:spTree>
    <p:extLst>
      <p:ext uri="{BB962C8B-B14F-4D97-AF65-F5344CB8AC3E}">
        <p14:creationId xmlns:p14="http://schemas.microsoft.com/office/powerpoint/2010/main" val="36069672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E7CD29-DEE9-2DE9-738B-F4FBE4C71A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BF501-A035-8974-E576-C5C18E22B6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4274" y="392575"/>
            <a:ext cx="6386625" cy="766200"/>
          </a:xfrm>
        </p:spPr>
        <p:txBody>
          <a:bodyPr wrap="square" anchor="ctr"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n-US" sz="4400" dirty="0"/>
              <a:t>Data Cleaning &amp; Preparation</a:t>
            </a:r>
            <a:endParaRPr lang="en-US" sz="4100" dirty="0"/>
          </a:p>
        </p:txBody>
      </p:sp>
      <p:sp>
        <p:nvSpPr>
          <p:cNvPr id="5" name="Slide Number Placeholder 4" hidden="1">
            <a:extLst>
              <a:ext uri="{FF2B5EF4-FFF2-40B4-BE49-F238E27FC236}">
                <a16:creationId xmlns:a16="http://schemas.microsoft.com/office/drawing/2014/main" id="{C32588D9-0F76-CED8-9F1D-DBF0BBE45F41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7656513" y="4637088"/>
            <a:ext cx="1487487" cy="3143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600"/>
                </a:spcAft>
                <a:buNone/>
              </a:pPr>
              <a:t>13</a:t>
            </a:fld>
            <a:endParaRPr lang="en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53A29983-6DD1-DD42-0503-BF3F30763137}"/>
              </a:ext>
            </a:extLst>
          </p:cNvPr>
          <p:cNvSpPr txBox="1">
            <a:spLocks/>
          </p:cNvSpPr>
          <p:nvPr/>
        </p:nvSpPr>
        <p:spPr>
          <a:xfrm>
            <a:off x="7586025" y="4249638"/>
            <a:ext cx="1487400" cy="3156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fld id="{00000000-1234-1234-1234-123412341234}" type="slidenum">
              <a:rPr lang="en" smtClean="0">
                <a:solidFill>
                  <a:schemeClr val="bg1"/>
                </a:solidFill>
              </a:rPr>
              <a:pPr algn="r"/>
              <a:t>13</a:t>
            </a:fld>
            <a:endParaRPr lang="en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DB7911-40C1-A911-AE65-EE297D2EF03D}"/>
              </a:ext>
            </a:extLst>
          </p:cNvPr>
          <p:cNvSpPr txBox="1"/>
          <p:nvPr/>
        </p:nvSpPr>
        <p:spPr>
          <a:xfrm>
            <a:off x="814274" y="1499148"/>
            <a:ext cx="5167425" cy="2145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indent="-381000">
              <a:lnSpc>
                <a:spcPct val="90000"/>
              </a:lnSpc>
              <a:spcBef>
                <a:spcPts val="600"/>
              </a:spcBef>
              <a:buClr>
                <a:srgbClr val="C7D3E6"/>
              </a:buClr>
              <a:buSzPts val="2400"/>
              <a:buFont typeface="Roboto Condensed Light"/>
              <a:buChar char="▰"/>
            </a:pPr>
            <a:r>
              <a:rPr lang="en-US" sz="1800" dirty="0"/>
              <a:t>Removed missing and invalid values </a:t>
            </a:r>
          </a:p>
          <a:p>
            <a:pPr marL="457200" lvl="1" indent="-381000">
              <a:lnSpc>
                <a:spcPct val="90000"/>
              </a:lnSpc>
              <a:spcBef>
                <a:spcPts val="600"/>
              </a:spcBef>
              <a:buClr>
                <a:srgbClr val="C7D3E6"/>
              </a:buClr>
              <a:buSzPts val="2400"/>
              <a:buFont typeface="Roboto Condensed Light"/>
              <a:buChar char="▰"/>
            </a:pPr>
            <a:r>
              <a:rPr lang="en-US" sz="1800" dirty="0"/>
              <a:t>Standardized date formats and numeric fields </a:t>
            </a:r>
          </a:p>
          <a:p>
            <a:pPr marL="457200" lvl="1" indent="-381000">
              <a:lnSpc>
                <a:spcPct val="90000"/>
              </a:lnSpc>
              <a:spcBef>
                <a:spcPts val="600"/>
              </a:spcBef>
              <a:buClr>
                <a:srgbClr val="C7D3E6"/>
              </a:buClr>
              <a:buSzPts val="2400"/>
              <a:buFont typeface="Roboto Condensed Light"/>
              <a:buChar char="▰"/>
            </a:pPr>
            <a:r>
              <a:rPr lang="en-US" sz="1800" dirty="0"/>
              <a:t>Converted all variables to consistent scale </a:t>
            </a:r>
          </a:p>
          <a:p>
            <a:pPr marL="457200" lvl="1" indent="-381000">
              <a:lnSpc>
                <a:spcPct val="90000"/>
              </a:lnSpc>
              <a:spcBef>
                <a:spcPts val="600"/>
              </a:spcBef>
              <a:buClr>
                <a:srgbClr val="C7D3E6"/>
              </a:buClr>
              <a:buSzPts val="2400"/>
              <a:buFont typeface="Roboto Condensed Light"/>
              <a:buChar char="▰"/>
            </a:pPr>
            <a:r>
              <a:rPr lang="en-US" sz="1800" dirty="0"/>
              <a:t>Checked for duplicates and removed inconsistencies </a:t>
            </a:r>
          </a:p>
          <a:p>
            <a:pPr marL="457200" lvl="1" indent="-381000">
              <a:lnSpc>
                <a:spcPct val="90000"/>
              </a:lnSpc>
              <a:spcBef>
                <a:spcPts val="600"/>
              </a:spcBef>
              <a:buClr>
                <a:srgbClr val="C7D3E6"/>
              </a:buClr>
              <a:buSzPts val="2400"/>
              <a:buFont typeface="Roboto Condensed Light"/>
              <a:buChar char="▰"/>
            </a:pPr>
            <a:r>
              <a:rPr lang="en-US" sz="1800" dirty="0"/>
              <a:t>Prepared dataset for time-series alignment </a:t>
            </a:r>
          </a:p>
        </p:txBody>
      </p:sp>
    </p:spTree>
    <p:extLst>
      <p:ext uri="{BB962C8B-B14F-4D97-AF65-F5344CB8AC3E}">
        <p14:creationId xmlns:p14="http://schemas.microsoft.com/office/powerpoint/2010/main" val="2985386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AF53D2-A60F-E2EA-8EC7-CA4B2EA89A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43134-03DC-7601-243F-90D6D15BCA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4275" y="392575"/>
            <a:ext cx="5258400" cy="766200"/>
          </a:xfrm>
        </p:spPr>
        <p:txBody>
          <a:bodyPr wrap="square" anchor="ctr"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n-US" sz="4400" dirty="0"/>
              <a:t>Data Analysis</a:t>
            </a:r>
            <a:endParaRPr lang="en-US" sz="4100" dirty="0"/>
          </a:p>
        </p:txBody>
      </p:sp>
      <p:sp>
        <p:nvSpPr>
          <p:cNvPr id="5" name="Slide Number Placeholder 4" hidden="1">
            <a:extLst>
              <a:ext uri="{FF2B5EF4-FFF2-40B4-BE49-F238E27FC236}">
                <a16:creationId xmlns:a16="http://schemas.microsoft.com/office/drawing/2014/main" id="{C944FA2F-FF01-3FF9-E814-E62E367D2FC1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7656513" y="4637088"/>
            <a:ext cx="1487487" cy="3143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600"/>
                </a:spcAft>
                <a:buNone/>
              </a:pPr>
              <a:t>14</a:t>
            </a:fld>
            <a:endParaRPr lang="en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E51F2957-6F1E-5925-A8E1-DBEC1D43454B}"/>
              </a:ext>
            </a:extLst>
          </p:cNvPr>
          <p:cNvSpPr txBox="1">
            <a:spLocks/>
          </p:cNvSpPr>
          <p:nvPr/>
        </p:nvSpPr>
        <p:spPr>
          <a:xfrm>
            <a:off x="7586025" y="4249638"/>
            <a:ext cx="1487400" cy="3156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fld id="{00000000-1234-1234-1234-123412341234}" type="slidenum">
              <a:rPr lang="en" smtClean="0">
                <a:solidFill>
                  <a:schemeClr val="bg1"/>
                </a:solidFill>
              </a:rPr>
              <a:pPr algn="r"/>
              <a:t>14</a:t>
            </a:fld>
            <a:endParaRPr lang="en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343F508-0FC4-DC88-B454-C270A02FF37C}"/>
              </a:ext>
            </a:extLst>
          </p:cNvPr>
          <p:cNvSpPr txBox="1"/>
          <p:nvPr/>
        </p:nvSpPr>
        <p:spPr>
          <a:xfrm>
            <a:off x="814275" y="1202144"/>
            <a:ext cx="4576712" cy="2262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381000">
              <a:lnSpc>
                <a:spcPct val="90000"/>
              </a:lnSpc>
              <a:spcBef>
                <a:spcPts val="600"/>
              </a:spcBef>
              <a:buClr>
                <a:srgbClr val="C7D3E6"/>
              </a:buClr>
              <a:buSzPts val="2400"/>
              <a:buFont typeface="Roboto Condensed Light"/>
              <a:buChar char="▰"/>
            </a:pPr>
            <a:r>
              <a:rPr lang="en-US" sz="2000" dirty="0"/>
              <a:t>Production vs Supply Pressure over time</a:t>
            </a:r>
          </a:p>
          <a:p>
            <a:pPr marL="457200" indent="-381000">
              <a:lnSpc>
                <a:spcPct val="90000"/>
              </a:lnSpc>
              <a:spcBef>
                <a:spcPts val="600"/>
              </a:spcBef>
              <a:buClr>
                <a:srgbClr val="C7D3E6"/>
              </a:buClr>
              <a:buSzPts val="2400"/>
              <a:buFont typeface="Roboto Condensed Light"/>
              <a:buChar char="▰"/>
            </a:pPr>
            <a:r>
              <a:rPr lang="en-US" sz="2000" dirty="0"/>
              <a:t>Both variables increase together </a:t>
            </a:r>
          </a:p>
          <a:p>
            <a:pPr marL="457200" indent="-381000">
              <a:lnSpc>
                <a:spcPct val="90000"/>
              </a:lnSpc>
              <a:spcBef>
                <a:spcPts val="600"/>
              </a:spcBef>
              <a:buClr>
                <a:srgbClr val="C7D3E6"/>
              </a:buClr>
              <a:buSzPts val="2400"/>
              <a:buFont typeface="Roboto Condensed Light"/>
              <a:buChar char="▰"/>
            </a:pPr>
            <a:r>
              <a:rPr lang="en-US" sz="2000" dirty="0"/>
              <a:t>Indicates sustained supply chain stress</a:t>
            </a:r>
          </a:p>
          <a:p>
            <a:pPr marL="457200" indent="-381000">
              <a:lnSpc>
                <a:spcPct val="90000"/>
              </a:lnSpc>
              <a:spcBef>
                <a:spcPts val="600"/>
              </a:spcBef>
              <a:buClr>
                <a:srgbClr val="C7D3E6"/>
              </a:buClr>
              <a:buSzPts val="2400"/>
              <a:buFont typeface="Roboto Condensed Light"/>
              <a:buChar char="▰"/>
            </a:pPr>
            <a:r>
              <a:rPr lang="en-US" sz="2000" dirty="0"/>
              <a:t>Analysis performed using cleaned and validated dataset</a:t>
            </a:r>
          </a:p>
        </p:txBody>
      </p:sp>
    </p:spTree>
    <p:extLst>
      <p:ext uri="{BB962C8B-B14F-4D97-AF65-F5344CB8AC3E}">
        <p14:creationId xmlns:p14="http://schemas.microsoft.com/office/powerpoint/2010/main" val="25089833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CFD909-DB45-67CD-6D71-53F006516A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CECC0-8B6C-4EC4-46BC-FAB8F6485D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4274" y="392575"/>
            <a:ext cx="6577125" cy="766200"/>
          </a:xfrm>
        </p:spPr>
        <p:txBody>
          <a:bodyPr wrap="square" anchor="ctr"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n-US" sz="4400" dirty="0"/>
              <a:t>Outlier Handling &amp; Thresholds</a:t>
            </a:r>
            <a:endParaRPr lang="en-US" sz="4100" dirty="0"/>
          </a:p>
        </p:txBody>
      </p:sp>
      <p:sp>
        <p:nvSpPr>
          <p:cNvPr id="5" name="Slide Number Placeholder 4" hidden="1">
            <a:extLst>
              <a:ext uri="{FF2B5EF4-FFF2-40B4-BE49-F238E27FC236}">
                <a16:creationId xmlns:a16="http://schemas.microsoft.com/office/drawing/2014/main" id="{7A1C38B6-3602-49BD-06D7-A7B15C1EF5BB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7656513" y="4637088"/>
            <a:ext cx="1487487" cy="3143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600"/>
                </a:spcAft>
                <a:buNone/>
              </a:pPr>
              <a:t>15</a:t>
            </a:fld>
            <a:endParaRPr lang="en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8ECC85F-2B9E-0525-254A-35A8BC9F9BDD}"/>
              </a:ext>
            </a:extLst>
          </p:cNvPr>
          <p:cNvSpPr txBox="1">
            <a:spLocks/>
          </p:cNvSpPr>
          <p:nvPr/>
        </p:nvSpPr>
        <p:spPr>
          <a:xfrm>
            <a:off x="7586025" y="4249638"/>
            <a:ext cx="1487400" cy="3156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fld id="{00000000-1234-1234-1234-123412341234}" type="slidenum">
              <a:rPr lang="en" smtClean="0">
                <a:solidFill>
                  <a:schemeClr val="bg1"/>
                </a:solidFill>
              </a:rPr>
              <a:pPr algn="r"/>
              <a:t>15</a:t>
            </a:fld>
            <a:endParaRPr lang="en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6F2D5C-08EF-A703-8E5D-A9C868805609}"/>
              </a:ext>
            </a:extLst>
          </p:cNvPr>
          <p:cNvSpPr txBox="1"/>
          <p:nvPr/>
        </p:nvSpPr>
        <p:spPr>
          <a:xfrm>
            <a:off x="814274" y="1125200"/>
            <a:ext cx="4748325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381000">
              <a:lnSpc>
                <a:spcPct val="90000"/>
              </a:lnSpc>
              <a:spcBef>
                <a:spcPts val="600"/>
              </a:spcBef>
              <a:buClr>
                <a:srgbClr val="C7D3E6"/>
              </a:buClr>
              <a:buSzPts val="2400"/>
              <a:buFont typeface="Roboto Condensed Light"/>
              <a:buChar char="▰"/>
            </a:pPr>
            <a:r>
              <a:rPr lang="en-US" sz="1800" dirty="0"/>
              <a:t>Outliers identified using trend and distribution analysis</a:t>
            </a:r>
          </a:p>
          <a:p>
            <a:pPr marL="457200" indent="-381000">
              <a:lnSpc>
                <a:spcPct val="90000"/>
              </a:lnSpc>
              <a:spcBef>
                <a:spcPts val="600"/>
              </a:spcBef>
              <a:buClr>
                <a:srgbClr val="C7D3E6"/>
              </a:buClr>
              <a:buSzPts val="2400"/>
              <a:buFont typeface="Roboto Condensed Light"/>
              <a:buChar char="▰"/>
            </a:pPr>
            <a:r>
              <a:rPr lang="en-US" sz="1800" dirty="0"/>
              <a:t>Extreme spikes outside normal trend were reviewed </a:t>
            </a:r>
          </a:p>
          <a:p>
            <a:pPr marL="457200" indent="-381000">
              <a:lnSpc>
                <a:spcPct val="90000"/>
              </a:lnSpc>
              <a:spcBef>
                <a:spcPts val="600"/>
              </a:spcBef>
              <a:buClr>
                <a:srgbClr val="C7D3E6"/>
              </a:buClr>
              <a:buSzPts val="2400"/>
              <a:buFont typeface="Roboto Condensed Light"/>
              <a:buChar char="▰"/>
            </a:pPr>
            <a:r>
              <a:rPr lang="en-US" sz="1800" dirty="0"/>
              <a:t>Values outside expected range were removed</a:t>
            </a:r>
          </a:p>
          <a:p>
            <a:pPr marL="457200" indent="-381000">
              <a:lnSpc>
                <a:spcPct val="90000"/>
              </a:lnSpc>
              <a:spcBef>
                <a:spcPts val="600"/>
              </a:spcBef>
              <a:buClr>
                <a:srgbClr val="C7D3E6"/>
              </a:buClr>
              <a:buSzPts val="2400"/>
              <a:buFont typeface="Roboto Condensed Light"/>
              <a:buChar char="▰"/>
            </a:pPr>
            <a:r>
              <a:rPr lang="en-US" sz="1800" dirty="0"/>
              <a:t>Threshold based on deviation from overall trend </a:t>
            </a:r>
          </a:p>
          <a:p>
            <a:pPr marL="457200" indent="-381000">
              <a:lnSpc>
                <a:spcPct val="90000"/>
              </a:lnSpc>
              <a:spcBef>
                <a:spcPts val="600"/>
              </a:spcBef>
              <a:buClr>
                <a:srgbClr val="C7D3E6"/>
              </a:buClr>
              <a:buSzPts val="2400"/>
              <a:buFont typeface="Roboto Condensed Light"/>
              <a:buChar char="▰"/>
            </a:pPr>
            <a:r>
              <a:rPr lang="en-US" sz="1800" dirty="0"/>
              <a:t>Ensured outliers did not distort analysis results </a:t>
            </a:r>
          </a:p>
        </p:txBody>
      </p:sp>
    </p:spTree>
    <p:extLst>
      <p:ext uri="{BB962C8B-B14F-4D97-AF65-F5344CB8AC3E}">
        <p14:creationId xmlns:p14="http://schemas.microsoft.com/office/powerpoint/2010/main" val="3647126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4A13BE-A410-81EA-A476-630E53B21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A14FF-90DC-CD6D-13F7-7ABF440336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4275" y="392575"/>
            <a:ext cx="7070268" cy="766200"/>
          </a:xfrm>
        </p:spPr>
        <p:txBody>
          <a:bodyPr wrap="square" anchor="ctr"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n-US" sz="4400" dirty="0"/>
              <a:t>Feature Engineering</a:t>
            </a:r>
            <a:endParaRPr lang="en-US" sz="4100" dirty="0"/>
          </a:p>
        </p:txBody>
      </p:sp>
      <p:sp>
        <p:nvSpPr>
          <p:cNvPr id="5" name="Slide Number Placeholder 4" hidden="1">
            <a:extLst>
              <a:ext uri="{FF2B5EF4-FFF2-40B4-BE49-F238E27FC236}">
                <a16:creationId xmlns:a16="http://schemas.microsoft.com/office/drawing/2014/main" id="{67687BB5-5C40-3E9C-1B84-785F6B60AEA1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7656513" y="4637088"/>
            <a:ext cx="1487487" cy="3143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600"/>
                </a:spcAft>
                <a:buNone/>
              </a:pPr>
              <a:t>16</a:t>
            </a:fld>
            <a:endParaRPr lang="en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0C211D6-049B-99E7-DDE0-C6A55600AB25}"/>
              </a:ext>
            </a:extLst>
          </p:cNvPr>
          <p:cNvSpPr txBox="1">
            <a:spLocks/>
          </p:cNvSpPr>
          <p:nvPr/>
        </p:nvSpPr>
        <p:spPr>
          <a:xfrm>
            <a:off x="7586025" y="4249638"/>
            <a:ext cx="1487400" cy="3156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fld id="{00000000-1234-1234-1234-123412341234}" type="slidenum">
              <a:rPr lang="en" smtClean="0">
                <a:solidFill>
                  <a:schemeClr val="bg1"/>
                </a:solidFill>
              </a:rPr>
              <a:pPr algn="r"/>
              <a:t>16</a:t>
            </a:fld>
            <a:endParaRPr lang="en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063E2A1-D2E5-8DBD-3603-E363C0EC1882}"/>
              </a:ext>
            </a:extLst>
          </p:cNvPr>
          <p:cNvSpPr txBox="1"/>
          <p:nvPr/>
        </p:nvSpPr>
        <p:spPr>
          <a:xfrm>
            <a:off x="814275" y="1259083"/>
            <a:ext cx="6020158" cy="12095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6200">
              <a:lnSpc>
                <a:spcPct val="90000"/>
              </a:lnSpc>
              <a:spcBef>
                <a:spcPts val="600"/>
              </a:spcBef>
              <a:buClr>
                <a:srgbClr val="C7D3E6"/>
              </a:buClr>
              <a:buSzPts val="2400"/>
            </a:pPr>
            <a:r>
              <a:rPr lang="en-US" sz="1600" b="1" dirty="0"/>
              <a:t>Additional analytical indicators created:</a:t>
            </a:r>
          </a:p>
          <a:p>
            <a:pPr marL="457200" indent="-381000">
              <a:lnSpc>
                <a:spcPct val="90000"/>
              </a:lnSpc>
              <a:spcBef>
                <a:spcPts val="600"/>
              </a:spcBef>
              <a:buClr>
                <a:srgbClr val="C7D3E6"/>
              </a:buClr>
              <a:buSzPts val="2400"/>
              <a:buFont typeface="Roboto Condensed Light"/>
              <a:buChar char="▰"/>
            </a:pPr>
            <a:r>
              <a:rPr lang="en-US" sz="1600" dirty="0"/>
              <a:t>Created volatility measures </a:t>
            </a:r>
          </a:p>
          <a:p>
            <a:pPr marL="457200" indent="-381000">
              <a:lnSpc>
                <a:spcPct val="90000"/>
              </a:lnSpc>
              <a:spcBef>
                <a:spcPts val="600"/>
              </a:spcBef>
              <a:buClr>
                <a:srgbClr val="C7D3E6"/>
              </a:buClr>
              <a:buSzPts val="2400"/>
              <a:buFont typeface="Roboto Condensed Light"/>
              <a:buChar char="▰"/>
            </a:pPr>
            <a:r>
              <a:rPr lang="en-US" sz="1600" dirty="0"/>
              <a:t>Added pressure change feature </a:t>
            </a:r>
          </a:p>
          <a:p>
            <a:pPr marL="457200" indent="-381000">
              <a:lnSpc>
                <a:spcPct val="90000"/>
              </a:lnSpc>
              <a:spcBef>
                <a:spcPts val="600"/>
              </a:spcBef>
              <a:buClr>
                <a:srgbClr val="C7D3E6"/>
              </a:buClr>
              <a:buSzPts val="2400"/>
              <a:buFont typeface="Roboto Condensed Light"/>
              <a:buChar char="▰"/>
            </a:pPr>
            <a:r>
              <a:rPr lang="en-US" sz="1600" dirty="0"/>
              <a:t>Captures instability patterns </a:t>
            </a:r>
          </a:p>
        </p:txBody>
      </p:sp>
    </p:spTree>
    <p:extLst>
      <p:ext uri="{BB962C8B-B14F-4D97-AF65-F5344CB8AC3E}">
        <p14:creationId xmlns:p14="http://schemas.microsoft.com/office/powerpoint/2010/main" val="36360040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AA9BD4-DCEA-D0A0-E802-CE90EF3391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412A37-B059-70ED-8457-F42CE243F0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4275" y="392575"/>
            <a:ext cx="5258400" cy="766200"/>
          </a:xfrm>
        </p:spPr>
        <p:txBody>
          <a:bodyPr wrap="square" anchor="ctr"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n-US" sz="4400" dirty="0"/>
              <a:t>Key Findings</a:t>
            </a:r>
            <a:endParaRPr lang="en-US" sz="4100" dirty="0"/>
          </a:p>
        </p:txBody>
      </p:sp>
      <p:sp>
        <p:nvSpPr>
          <p:cNvPr id="5" name="Slide Number Placeholder 4" hidden="1">
            <a:extLst>
              <a:ext uri="{FF2B5EF4-FFF2-40B4-BE49-F238E27FC236}">
                <a16:creationId xmlns:a16="http://schemas.microsoft.com/office/drawing/2014/main" id="{0A0EB3E0-CAEB-CB19-812B-7A6A1EF64028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7656513" y="4637088"/>
            <a:ext cx="1487487" cy="3143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600"/>
                </a:spcAft>
                <a:buNone/>
              </a:pPr>
              <a:t>17</a:t>
            </a:fld>
            <a:endParaRPr lang="e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D89704-7977-C06C-E045-1D0FBC95CCA5}"/>
              </a:ext>
            </a:extLst>
          </p:cNvPr>
          <p:cNvSpPr txBox="1">
            <a:spLocks/>
          </p:cNvSpPr>
          <p:nvPr/>
        </p:nvSpPr>
        <p:spPr>
          <a:xfrm>
            <a:off x="814275" y="999000"/>
            <a:ext cx="6132600" cy="31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381000">
              <a:lnSpc>
                <a:spcPct val="90000"/>
              </a:lnSpc>
              <a:spcBef>
                <a:spcPts val="600"/>
              </a:spcBef>
              <a:buClr>
                <a:srgbClr val="C7D3E6"/>
              </a:buClr>
              <a:buSzPts val="2400"/>
              <a:buFont typeface="Roboto Condensed Light"/>
              <a:buChar char="▰"/>
            </a:pPr>
            <a:r>
              <a:rPr lang="en-US" sz="2400" dirty="0"/>
              <a:t>Production and supply pressure increase together   </a:t>
            </a:r>
          </a:p>
          <a:p>
            <a:pPr marL="457200" indent="-381000">
              <a:lnSpc>
                <a:spcPct val="90000"/>
              </a:lnSpc>
              <a:spcBef>
                <a:spcPts val="600"/>
              </a:spcBef>
              <a:buClr>
                <a:srgbClr val="C7D3E6"/>
              </a:buClr>
              <a:buSzPts val="2400"/>
              <a:buFont typeface="Roboto Condensed Light"/>
              <a:buChar char="▰"/>
            </a:pPr>
            <a:r>
              <a:rPr lang="en-US" sz="2400" dirty="0"/>
              <a:t>Supply chain pressure remains elevated over time</a:t>
            </a:r>
          </a:p>
          <a:p>
            <a:pPr marL="457200" indent="-381000">
              <a:lnSpc>
                <a:spcPct val="90000"/>
              </a:lnSpc>
              <a:spcBef>
                <a:spcPts val="600"/>
              </a:spcBef>
              <a:buClr>
                <a:srgbClr val="C7D3E6"/>
              </a:buClr>
              <a:buSzPts val="2400"/>
              <a:buFont typeface="Roboto Condensed Light"/>
              <a:buChar char="▰"/>
            </a:pPr>
            <a:r>
              <a:rPr lang="en-US" sz="2400" dirty="0"/>
              <a:t>Continuous fluctuations observed in pressure levels</a:t>
            </a:r>
          </a:p>
          <a:p>
            <a:pPr marL="457200" indent="-381000">
              <a:lnSpc>
                <a:spcPct val="90000"/>
              </a:lnSpc>
              <a:spcBef>
                <a:spcPts val="600"/>
              </a:spcBef>
              <a:buClr>
                <a:srgbClr val="C7D3E6"/>
              </a:buClr>
              <a:buSzPts val="2400"/>
              <a:buFont typeface="Roboto Condensed Light"/>
              <a:buChar char="▰"/>
            </a:pPr>
            <a:r>
              <a:rPr lang="en-US" sz="2400" dirty="0"/>
              <a:t>Strong positive correlation between variables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E6BEDC78-D4C5-F497-ECB8-95695E1B93D4}"/>
              </a:ext>
            </a:extLst>
          </p:cNvPr>
          <p:cNvSpPr txBox="1">
            <a:spLocks/>
          </p:cNvSpPr>
          <p:nvPr/>
        </p:nvSpPr>
        <p:spPr>
          <a:xfrm>
            <a:off x="7586025" y="4249638"/>
            <a:ext cx="1487400" cy="3156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fld id="{00000000-1234-1234-1234-123412341234}" type="slidenum">
              <a:rPr lang="en" smtClean="0">
                <a:solidFill>
                  <a:schemeClr val="bg1"/>
                </a:solidFill>
              </a:rPr>
              <a:pPr algn="r"/>
              <a:t>17</a:t>
            </a:fld>
            <a:endParaRPr lang="e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56608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3D724B-2B7C-58B1-630F-1D03D145E3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E0F449-4E23-F7EF-6D0F-20DBFDEBF0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4275" y="392575"/>
            <a:ext cx="5258400" cy="766200"/>
          </a:xfrm>
        </p:spPr>
        <p:txBody>
          <a:bodyPr wrap="square" anchor="ctr"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n-US" sz="4400" dirty="0"/>
              <a:t>Hypothesis vs Reality</a:t>
            </a:r>
            <a:endParaRPr lang="en-US" sz="4100" dirty="0"/>
          </a:p>
        </p:txBody>
      </p:sp>
      <p:sp>
        <p:nvSpPr>
          <p:cNvPr id="5" name="Slide Number Placeholder 4" hidden="1">
            <a:extLst>
              <a:ext uri="{FF2B5EF4-FFF2-40B4-BE49-F238E27FC236}">
                <a16:creationId xmlns:a16="http://schemas.microsoft.com/office/drawing/2014/main" id="{45F8367D-99AF-7FAE-7AE0-68D399B3D0BD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7656513" y="4637088"/>
            <a:ext cx="1487487" cy="3143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600"/>
                </a:spcAft>
                <a:buNone/>
              </a:pPr>
              <a:t>18</a:t>
            </a:fld>
            <a:endParaRPr lang="e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AC1325-1A49-CA33-A277-8C5DCB490099}"/>
              </a:ext>
            </a:extLst>
          </p:cNvPr>
          <p:cNvSpPr txBox="1">
            <a:spLocks/>
          </p:cNvSpPr>
          <p:nvPr/>
        </p:nvSpPr>
        <p:spPr>
          <a:xfrm>
            <a:off x="814275" y="1213929"/>
            <a:ext cx="6132600" cy="27156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76200">
              <a:lnSpc>
                <a:spcPct val="90000"/>
              </a:lnSpc>
              <a:spcBef>
                <a:spcPts val="600"/>
              </a:spcBef>
              <a:buClr>
                <a:srgbClr val="C7D3E6"/>
              </a:buClr>
              <a:buSzPts val="2400"/>
            </a:pPr>
            <a:r>
              <a:rPr lang="en-US" sz="1600" b="1" i="0" u="none" strike="noStrike" cap="none" dirty="0">
                <a:solidFill>
                  <a:schemeClr val="tx1"/>
                </a:solidFill>
                <a:latin typeface="+mj-lt"/>
                <a:ea typeface="Roboto Condensed Light"/>
                <a:cs typeface="Roboto Condensed Light"/>
                <a:sym typeface="Roboto Condensed Light"/>
              </a:rPr>
              <a:t>Initial Assumptions</a:t>
            </a:r>
          </a:p>
          <a:p>
            <a:pPr marL="457200" indent="-381000">
              <a:lnSpc>
                <a:spcPct val="90000"/>
              </a:lnSpc>
              <a:spcBef>
                <a:spcPts val="600"/>
              </a:spcBef>
              <a:buClr>
                <a:srgbClr val="C7D3E6"/>
              </a:buClr>
              <a:buSzPts val="2400"/>
              <a:buFont typeface="Roboto Condensed Light"/>
              <a:buChar char="▰"/>
            </a:pPr>
            <a:r>
              <a:rPr lang="en-US" sz="1600" b="0" i="0" u="none" strike="noStrike" cap="none" dirty="0">
                <a:solidFill>
                  <a:srgbClr val="263248"/>
                </a:solidFill>
                <a:latin typeface="+mj-lt"/>
                <a:ea typeface="Roboto Condensed Light"/>
                <a:cs typeface="Roboto Condensed Light"/>
                <a:sym typeface="Roboto Condensed Light"/>
              </a:rPr>
              <a:t> </a:t>
            </a:r>
            <a:r>
              <a:rPr lang="en-US" sz="1600" dirty="0">
                <a:latin typeface="+mj-lt"/>
              </a:rPr>
              <a:t>Production and supply pressure are loosely related</a:t>
            </a:r>
            <a:endParaRPr lang="en-US" sz="1600" b="0" i="0" u="none" strike="noStrike" cap="none" dirty="0">
              <a:solidFill>
                <a:srgbClr val="263248"/>
              </a:solidFill>
              <a:latin typeface="+mj-lt"/>
              <a:ea typeface="Roboto Condensed Light"/>
              <a:cs typeface="Roboto Condensed Light"/>
              <a:sym typeface="Roboto Condensed Light"/>
            </a:endParaRPr>
          </a:p>
          <a:p>
            <a:pPr marL="457200" indent="-381000">
              <a:lnSpc>
                <a:spcPct val="90000"/>
              </a:lnSpc>
              <a:spcBef>
                <a:spcPts val="600"/>
              </a:spcBef>
              <a:buClr>
                <a:srgbClr val="C7D3E6"/>
              </a:buClr>
              <a:buSzPts val="2400"/>
              <a:buFont typeface="Roboto Condensed Light"/>
              <a:buChar char="▰"/>
            </a:pPr>
            <a:r>
              <a:rPr lang="en-US" sz="1600" dirty="0">
                <a:latin typeface="+mj-lt"/>
              </a:rPr>
              <a:t>Supply chain disruptions are temporary and event-driven</a:t>
            </a:r>
          </a:p>
          <a:p>
            <a:pPr marL="457200" indent="-381000">
              <a:lnSpc>
                <a:spcPct val="90000"/>
              </a:lnSpc>
              <a:spcBef>
                <a:spcPts val="600"/>
              </a:spcBef>
              <a:buClr>
                <a:srgbClr val="C7D3E6"/>
              </a:buClr>
              <a:buSzPts val="2400"/>
              <a:buFont typeface="Roboto Condensed Light"/>
              <a:buChar char="▰"/>
            </a:pPr>
            <a:r>
              <a:rPr lang="en-US" sz="1600" dirty="0">
                <a:latin typeface="+mj-lt"/>
              </a:rPr>
              <a:t>Increased production should stabilize supply chains</a:t>
            </a:r>
          </a:p>
          <a:p>
            <a:pPr marL="76200">
              <a:lnSpc>
                <a:spcPct val="90000"/>
              </a:lnSpc>
              <a:spcBef>
                <a:spcPts val="600"/>
              </a:spcBef>
              <a:buClr>
                <a:srgbClr val="C7D3E6"/>
              </a:buClr>
              <a:buSzPts val="2400"/>
            </a:pPr>
            <a:r>
              <a:rPr lang="en-US" sz="1600" b="1" dirty="0">
                <a:latin typeface="+mj-lt"/>
              </a:rPr>
              <a:t>What the Data Showed</a:t>
            </a:r>
          </a:p>
          <a:p>
            <a:pPr marL="457200" indent="-381000">
              <a:lnSpc>
                <a:spcPct val="90000"/>
              </a:lnSpc>
              <a:spcBef>
                <a:spcPts val="600"/>
              </a:spcBef>
              <a:buClr>
                <a:srgbClr val="C7D3E6"/>
              </a:buClr>
              <a:buSzPts val="2400"/>
              <a:buFont typeface="Roboto Condensed Light"/>
              <a:buChar char="▰"/>
            </a:pPr>
            <a:r>
              <a:rPr lang="en-US" sz="1600" dirty="0">
                <a:latin typeface="+mj-lt"/>
              </a:rPr>
              <a:t>Supply chain pressure is persistent, not temporary</a:t>
            </a:r>
          </a:p>
          <a:p>
            <a:pPr marL="457200" indent="-381000">
              <a:lnSpc>
                <a:spcPct val="90000"/>
              </a:lnSpc>
              <a:spcBef>
                <a:spcPts val="600"/>
              </a:spcBef>
              <a:buClr>
                <a:srgbClr val="C7D3E6"/>
              </a:buClr>
              <a:buSzPts val="2400"/>
              <a:buFont typeface="Roboto Condensed Light"/>
              <a:buChar char="▰"/>
            </a:pPr>
            <a:r>
              <a:rPr lang="en-US" sz="1600" dirty="0">
                <a:latin typeface="+mj-lt"/>
              </a:rPr>
              <a:t>Strong positive correlation between production and supply pressure</a:t>
            </a:r>
          </a:p>
          <a:p>
            <a:pPr marL="457200" indent="-381000">
              <a:lnSpc>
                <a:spcPct val="90000"/>
              </a:lnSpc>
              <a:spcBef>
                <a:spcPts val="600"/>
              </a:spcBef>
              <a:buClr>
                <a:srgbClr val="C7D3E6"/>
              </a:buClr>
              <a:buSzPts val="2400"/>
              <a:buFont typeface="Roboto Condensed Light"/>
              <a:buChar char="▰"/>
            </a:pPr>
            <a:r>
              <a:rPr lang="en-US" sz="1600" dirty="0">
                <a:latin typeface="+mj-lt"/>
              </a:rPr>
              <a:t>Increased production amplifies supply chain strain</a:t>
            </a:r>
          </a:p>
          <a:p>
            <a:pPr marL="457200" indent="-381000">
              <a:lnSpc>
                <a:spcPct val="90000"/>
              </a:lnSpc>
              <a:spcBef>
                <a:spcPts val="600"/>
              </a:spcBef>
              <a:buClr>
                <a:srgbClr val="C7D3E6"/>
              </a:buClr>
              <a:buSzPts val="2400"/>
              <a:buFont typeface="Roboto Condensed Light"/>
              <a:buChar char="▰"/>
            </a:pPr>
            <a:r>
              <a:rPr lang="en-US" sz="1600" dirty="0">
                <a:latin typeface="+mj-lt"/>
              </a:rPr>
              <a:t>Volatility is ongoing, not isolated</a:t>
            </a:r>
            <a:endParaRPr lang="en-US" sz="1600" b="0" i="0" u="none" strike="noStrike" cap="none" dirty="0">
              <a:solidFill>
                <a:srgbClr val="263248"/>
              </a:solidFill>
              <a:latin typeface="+mj-lt"/>
              <a:ea typeface="Roboto Condensed Light"/>
              <a:cs typeface="Roboto Condensed Light"/>
              <a:sym typeface="Roboto Condensed Light"/>
            </a:endParaRP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34F79544-3A0F-9B09-8B5F-93816B83D3E6}"/>
              </a:ext>
            </a:extLst>
          </p:cNvPr>
          <p:cNvSpPr txBox="1">
            <a:spLocks/>
          </p:cNvSpPr>
          <p:nvPr/>
        </p:nvSpPr>
        <p:spPr>
          <a:xfrm>
            <a:off x="7586025" y="4249638"/>
            <a:ext cx="1487400" cy="3156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fld id="{00000000-1234-1234-1234-123412341234}" type="slidenum">
              <a:rPr lang="en" smtClean="0">
                <a:solidFill>
                  <a:schemeClr val="bg1"/>
                </a:solidFill>
              </a:rPr>
              <a:pPr algn="r"/>
              <a:t>18</a:t>
            </a:fld>
            <a:endParaRPr lang="e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93332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F9FD3-3D1F-F2D2-5008-FBE8027886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ECD0F-7992-D841-0F1B-1F3C3CEFE9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4274" y="392575"/>
            <a:ext cx="6284109" cy="766200"/>
          </a:xfrm>
        </p:spPr>
        <p:txBody>
          <a:bodyPr wrap="square" anchor="ctr"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n-US" sz="4100" dirty="0"/>
              <a:t>Data Visualizations &amp; Analysis</a:t>
            </a:r>
          </a:p>
        </p:txBody>
      </p:sp>
      <p:sp>
        <p:nvSpPr>
          <p:cNvPr id="5" name="Slide Number Placeholder 4" hidden="1">
            <a:extLst>
              <a:ext uri="{FF2B5EF4-FFF2-40B4-BE49-F238E27FC236}">
                <a16:creationId xmlns:a16="http://schemas.microsoft.com/office/drawing/2014/main" id="{C392F33D-13E4-EE05-8391-D15BA04A9F29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7656513" y="4637088"/>
            <a:ext cx="1487487" cy="3143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600"/>
                </a:spcAft>
                <a:buNone/>
              </a:pPr>
              <a:t>19</a:t>
            </a:fld>
            <a:endParaRPr lang="en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29A412D8-AA38-D561-5A5B-70BE923F2ACF}"/>
              </a:ext>
            </a:extLst>
          </p:cNvPr>
          <p:cNvSpPr txBox="1">
            <a:spLocks/>
          </p:cNvSpPr>
          <p:nvPr/>
        </p:nvSpPr>
        <p:spPr>
          <a:xfrm>
            <a:off x="7586025" y="4249638"/>
            <a:ext cx="1487400" cy="3156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fld id="{00000000-1234-1234-1234-123412341234}" type="slidenum">
              <a:rPr lang="en" smtClean="0">
                <a:solidFill>
                  <a:schemeClr val="bg1"/>
                </a:solidFill>
              </a:rPr>
              <a:pPr algn="r"/>
              <a:t>19</a:t>
            </a:fld>
            <a:endParaRPr lang="en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90DF44-8A03-E6B6-5BD2-1DB2D8DB6F6A}"/>
              </a:ext>
            </a:extLst>
          </p:cNvPr>
          <p:cNvSpPr txBox="1"/>
          <p:nvPr/>
        </p:nvSpPr>
        <p:spPr>
          <a:xfrm>
            <a:off x="814274" y="1394550"/>
            <a:ext cx="6020158" cy="535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381000">
              <a:lnSpc>
                <a:spcPct val="90000"/>
              </a:lnSpc>
              <a:spcBef>
                <a:spcPts val="600"/>
              </a:spcBef>
              <a:buClr>
                <a:srgbClr val="C7D3E6"/>
              </a:buClr>
              <a:buSzPts val="2400"/>
              <a:buFont typeface="Roboto Condensed Light"/>
              <a:buChar char="▰"/>
            </a:pPr>
            <a:r>
              <a:rPr lang="en-US" sz="1600" dirty="0"/>
              <a:t>Visualizations highlight trends, volatility, and correlation patterns </a:t>
            </a:r>
          </a:p>
        </p:txBody>
      </p:sp>
    </p:spTree>
    <p:extLst>
      <p:ext uri="{BB962C8B-B14F-4D97-AF65-F5344CB8AC3E}">
        <p14:creationId xmlns:p14="http://schemas.microsoft.com/office/powerpoint/2010/main" val="39606195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73A426-CE23-B981-08E4-4876CD5C05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AEB264-CE3E-0630-7955-FF532DF3F1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4275" y="392575"/>
            <a:ext cx="5805186" cy="766200"/>
          </a:xfrm>
        </p:spPr>
        <p:txBody>
          <a:bodyPr wrap="square" anchor="ctr"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n-US" sz="4400" dirty="0"/>
              <a:t>Conclusion</a:t>
            </a:r>
            <a:endParaRPr lang="en-US" sz="4100" dirty="0"/>
          </a:p>
        </p:txBody>
      </p:sp>
      <p:sp>
        <p:nvSpPr>
          <p:cNvPr id="5" name="Slide Number Placeholder 4" hidden="1">
            <a:extLst>
              <a:ext uri="{FF2B5EF4-FFF2-40B4-BE49-F238E27FC236}">
                <a16:creationId xmlns:a16="http://schemas.microsoft.com/office/drawing/2014/main" id="{8B16F3AD-AC18-365A-B07B-FC51038F8AF9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7656513" y="4637088"/>
            <a:ext cx="1487487" cy="3143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600"/>
                </a:spcAft>
                <a:buNone/>
              </a:pPr>
              <a:t>20</a:t>
            </a:fld>
            <a:endParaRPr lang="e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82875-E0DB-F88B-6083-A161F7F33251}"/>
              </a:ext>
            </a:extLst>
          </p:cNvPr>
          <p:cNvSpPr txBox="1">
            <a:spLocks/>
          </p:cNvSpPr>
          <p:nvPr/>
        </p:nvSpPr>
        <p:spPr>
          <a:xfrm>
            <a:off x="814275" y="1213929"/>
            <a:ext cx="6132600" cy="27156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381000">
              <a:lnSpc>
                <a:spcPct val="90000"/>
              </a:lnSpc>
              <a:spcBef>
                <a:spcPts val="600"/>
              </a:spcBef>
              <a:buClr>
                <a:srgbClr val="C7D3E6"/>
              </a:buClr>
              <a:buSzPts val="2400"/>
              <a:buFont typeface="Roboto Condensed Light"/>
              <a:buChar char="▰"/>
            </a:pPr>
            <a:r>
              <a:rPr lang="en-US" sz="2000" dirty="0"/>
              <a:t>Results indicate supply chain instability is persistent</a:t>
            </a:r>
          </a:p>
          <a:p>
            <a:pPr marL="457200" indent="-381000">
              <a:lnSpc>
                <a:spcPct val="90000"/>
              </a:lnSpc>
              <a:spcBef>
                <a:spcPts val="600"/>
              </a:spcBef>
              <a:buClr>
                <a:srgbClr val="C7D3E6"/>
              </a:buClr>
              <a:buSzPts val="2400"/>
              <a:buFont typeface="Roboto Condensed Light"/>
              <a:buChar char="▰"/>
            </a:pPr>
            <a:r>
              <a:rPr lang="en-US" sz="2000" dirty="0"/>
              <a:t>Increased production amplifies supply chain strain</a:t>
            </a:r>
          </a:p>
          <a:p>
            <a:pPr marL="457200" indent="-381000">
              <a:lnSpc>
                <a:spcPct val="90000"/>
              </a:lnSpc>
              <a:spcBef>
                <a:spcPts val="600"/>
              </a:spcBef>
              <a:buClr>
                <a:srgbClr val="C7D3E6"/>
              </a:buClr>
              <a:buSzPts val="2400"/>
              <a:buFont typeface="Roboto Condensed Light"/>
              <a:buChar char="▰"/>
            </a:pPr>
            <a:r>
              <a:rPr lang="en-US" sz="2000" dirty="0"/>
              <a:t>Volatility suggests structural system challenges</a:t>
            </a:r>
          </a:p>
          <a:p>
            <a:pPr marL="457200" indent="-381000">
              <a:lnSpc>
                <a:spcPct val="90000"/>
              </a:lnSpc>
              <a:spcBef>
                <a:spcPts val="600"/>
              </a:spcBef>
              <a:buClr>
                <a:srgbClr val="C7D3E6"/>
              </a:buClr>
              <a:buSzPts val="2400"/>
              <a:buFont typeface="Roboto Condensed Light"/>
              <a:buChar char="▰"/>
            </a:pPr>
            <a:r>
              <a:rPr lang="en-US" sz="2000" dirty="0"/>
              <a:t>Reactive models are insufficient for current conditions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DC4578A6-9D58-AB29-F347-F0A288047B36}"/>
              </a:ext>
            </a:extLst>
          </p:cNvPr>
          <p:cNvSpPr txBox="1">
            <a:spLocks/>
          </p:cNvSpPr>
          <p:nvPr/>
        </p:nvSpPr>
        <p:spPr>
          <a:xfrm>
            <a:off x="7586025" y="4249638"/>
            <a:ext cx="1487400" cy="3156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fld id="{00000000-1234-1234-1234-123412341234}" type="slidenum">
              <a:rPr lang="en" smtClean="0">
                <a:solidFill>
                  <a:schemeClr val="bg1"/>
                </a:solidFill>
              </a:rPr>
              <a:pPr algn="r"/>
              <a:t>20</a:t>
            </a:fld>
            <a:endParaRPr lang="e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04658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69AA07-676A-0D93-0CE2-0753BCB9F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BC8A6-A59A-FD0F-9A0F-FFC2C905A0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4275" y="392575"/>
            <a:ext cx="5258400" cy="766200"/>
          </a:xfrm>
        </p:spPr>
        <p:txBody>
          <a:bodyPr wrap="square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100" dirty="0"/>
              <a:t>GitHub</a:t>
            </a:r>
          </a:p>
        </p:txBody>
      </p:sp>
      <p:sp>
        <p:nvSpPr>
          <p:cNvPr id="5" name="Slide Number Placeholder 4" hidden="1">
            <a:extLst>
              <a:ext uri="{FF2B5EF4-FFF2-40B4-BE49-F238E27FC236}">
                <a16:creationId xmlns:a16="http://schemas.microsoft.com/office/drawing/2014/main" id="{4BABBAFD-059D-9BD8-D035-4490CB19EE2B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7656513" y="4637088"/>
            <a:ext cx="1487487" cy="3143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600"/>
                </a:spcAft>
                <a:buNone/>
              </a:pPr>
              <a:t>21</a:t>
            </a:fld>
            <a:endParaRPr lang="en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B3D96EF4-53C0-663F-08B4-8D74465EDB91}"/>
              </a:ext>
            </a:extLst>
          </p:cNvPr>
          <p:cNvSpPr txBox="1">
            <a:spLocks/>
          </p:cNvSpPr>
          <p:nvPr/>
        </p:nvSpPr>
        <p:spPr>
          <a:xfrm>
            <a:off x="7586025" y="4249638"/>
            <a:ext cx="1487400" cy="3156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fld id="{00000000-1234-1234-1234-123412341234}" type="slidenum">
              <a:rPr lang="en" smtClean="0">
                <a:solidFill>
                  <a:schemeClr val="bg1"/>
                </a:solidFill>
              </a:rPr>
              <a:pPr algn="r"/>
              <a:t>21</a:t>
            </a:fld>
            <a:endParaRPr lang="en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031895-7006-9F9A-096A-54C7D37F967E}"/>
              </a:ext>
            </a:extLst>
          </p:cNvPr>
          <p:cNvSpPr txBox="1"/>
          <p:nvPr/>
        </p:nvSpPr>
        <p:spPr>
          <a:xfrm>
            <a:off x="814275" y="1211377"/>
            <a:ext cx="4576712" cy="1415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6200">
              <a:lnSpc>
                <a:spcPct val="90000"/>
              </a:lnSpc>
              <a:spcBef>
                <a:spcPts val="600"/>
              </a:spcBef>
              <a:buClr>
                <a:srgbClr val="C7D3E6"/>
              </a:buClr>
              <a:buSzPts val="2400"/>
            </a:pPr>
            <a:r>
              <a:rPr lang="en-US" sz="1800" b="1" dirty="0"/>
              <a:t>GitHub Repository:</a:t>
            </a:r>
          </a:p>
          <a:p>
            <a:pPr marL="457200" indent="-381000">
              <a:lnSpc>
                <a:spcPct val="90000"/>
              </a:lnSpc>
              <a:spcBef>
                <a:spcPts val="600"/>
              </a:spcBef>
              <a:buClr>
                <a:srgbClr val="C7D3E6"/>
              </a:buClr>
              <a:buSzPts val="2400"/>
              <a:buFont typeface="Roboto Condensed Light"/>
              <a:buChar char="▰"/>
            </a:pPr>
            <a:r>
              <a:rPr lang="en-US" sz="1800" b="1" dirty="0">
                <a:solidFill>
                  <a:schemeClr val="accent2"/>
                </a:solidFill>
                <a:ea typeface="Roboto Condensed Light"/>
                <a:cs typeface="Roboto Condensed Light"/>
                <a:sym typeface="Roboto Condense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https://github.com/AkQuik559/Winter-2025-CS-497-Capstone-Project-Proposal-Enhancing-Aerospace-Supply-Chain-Resilience</a:t>
            </a:r>
            <a:endParaRPr lang="en-US" sz="1800" dirty="0">
              <a:solidFill>
                <a:schemeClr val="accent2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0BFAEDC-3A7D-5FB8-7ACB-D0E858BA79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5123" y="3165922"/>
            <a:ext cx="913869" cy="76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26844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B163A0-0E9D-8B27-D33E-52F8BDA179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DCE04-8418-280C-599D-944B403BB3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4275" y="392575"/>
            <a:ext cx="5258400" cy="766200"/>
          </a:xfrm>
        </p:spPr>
        <p:txBody>
          <a:bodyPr wrap="square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100" dirty="0"/>
              <a:t>References</a:t>
            </a:r>
          </a:p>
        </p:txBody>
      </p:sp>
      <p:sp>
        <p:nvSpPr>
          <p:cNvPr id="5" name="Slide Number Placeholder 4" hidden="1">
            <a:extLst>
              <a:ext uri="{FF2B5EF4-FFF2-40B4-BE49-F238E27FC236}">
                <a16:creationId xmlns:a16="http://schemas.microsoft.com/office/drawing/2014/main" id="{6F182B3A-5F95-ED2F-B6E5-BA276E8B7BF9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7656513" y="4637088"/>
            <a:ext cx="1487487" cy="3143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600"/>
                </a:spcAft>
                <a:buNone/>
              </a:pPr>
              <a:t>22</a:t>
            </a:fld>
            <a:endParaRPr lang="e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7230D6-3892-E353-3FA5-0B6E2C4B121E}"/>
              </a:ext>
            </a:extLst>
          </p:cNvPr>
          <p:cNvSpPr txBox="1">
            <a:spLocks/>
          </p:cNvSpPr>
          <p:nvPr/>
        </p:nvSpPr>
        <p:spPr>
          <a:xfrm>
            <a:off x="814275" y="1158775"/>
            <a:ext cx="6132600" cy="31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381000">
              <a:lnSpc>
                <a:spcPct val="90000"/>
              </a:lnSpc>
              <a:spcBef>
                <a:spcPts val="600"/>
              </a:spcBef>
              <a:buClr>
                <a:srgbClr val="C7D3E6"/>
              </a:buClr>
              <a:buSzPts val="2400"/>
              <a:buFont typeface="Roboto Condensed Light"/>
              <a:buChar char="▰"/>
            </a:pPr>
            <a:r>
              <a:rPr lang="en-US" sz="2400" dirty="0">
                <a:solidFill>
                  <a:schemeClr val="tx1"/>
                </a:solidFill>
                <a:latin typeface="+mj-lt"/>
              </a:rPr>
              <a:t>Bednarski et al. (2025)</a:t>
            </a:r>
          </a:p>
          <a:p>
            <a:pPr marL="457200" indent="-381000">
              <a:lnSpc>
                <a:spcPct val="90000"/>
              </a:lnSpc>
              <a:spcBef>
                <a:spcPts val="600"/>
              </a:spcBef>
              <a:buClr>
                <a:srgbClr val="C7D3E6"/>
              </a:buClr>
              <a:buSzPts val="2400"/>
              <a:buFont typeface="Roboto Condensed Light"/>
              <a:buChar char="▰"/>
            </a:pPr>
            <a:r>
              <a:rPr lang="en-US" sz="2400" dirty="0">
                <a:solidFill>
                  <a:schemeClr val="tx1"/>
                </a:solidFill>
                <a:latin typeface="+mj-lt"/>
              </a:rPr>
              <a:t>Deloitte (2023)</a:t>
            </a:r>
          </a:p>
          <a:p>
            <a:pPr marL="457200" indent="-381000">
              <a:lnSpc>
                <a:spcPct val="90000"/>
              </a:lnSpc>
              <a:spcBef>
                <a:spcPts val="600"/>
              </a:spcBef>
              <a:buClr>
                <a:srgbClr val="C7D3E6"/>
              </a:buClr>
              <a:buSzPts val="2400"/>
              <a:buFont typeface="Roboto Condensed Light"/>
              <a:buChar char="▰"/>
            </a:pPr>
            <a:r>
              <a:rPr lang="en-US" sz="2400">
                <a:solidFill>
                  <a:schemeClr val="tx1"/>
                </a:solidFill>
              </a:rPr>
              <a:t>Deloitte (2025)</a:t>
            </a:r>
            <a:endParaRPr lang="en-US" sz="2400" dirty="0">
              <a:solidFill>
                <a:schemeClr val="tx1"/>
              </a:solidFill>
              <a:latin typeface="+mj-lt"/>
            </a:endParaRPr>
          </a:p>
          <a:p>
            <a:pPr marL="457200" indent="-381000">
              <a:lnSpc>
                <a:spcPct val="90000"/>
              </a:lnSpc>
              <a:spcBef>
                <a:spcPts val="600"/>
              </a:spcBef>
              <a:buClr>
                <a:srgbClr val="C7D3E6"/>
              </a:buClr>
              <a:buSzPts val="2400"/>
              <a:buFont typeface="Roboto Condensed Light"/>
              <a:buChar char="▰"/>
            </a:pPr>
            <a:r>
              <a:rPr lang="en-US" sz="2400" dirty="0" err="1">
                <a:solidFill>
                  <a:schemeClr val="tx1"/>
                </a:solidFill>
                <a:latin typeface="+mj-lt"/>
              </a:rPr>
              <a:t>Douaioui</a:t>
            </a:r>
            <a:r>
              <a:rPr lang="en-US" sz="2400" dirty="0">
                <a:solidFill>
                  <a:schemeClr val="tx1"/>
                </a:solidFill>
                <a:latin typeface="+mj-lt"/>
              </a:rPr>
              <a:t> et al (2024)</a:t>
            </a:r>
          </a:p>
          <a:p>
            <a:pPr marL="457200" indent="-381000">
              <a:lnSpc>
                <a:spcPct val="90000"/>
              </a:lnSpc>
              <a:spcBef>
                <a:spcPts val="600"/>
              </a:spcBef>
              <a:buClr>
                <a:srgbClr val="C7D3E6"/>
              </a:buClr>
              <a:buSzPts val="2400"/>
              <a:buFont typeface="Roboto Condensed Light"/>
              <a:buChar char="▰"/>
            </a:pPr>
            <a:r>
              <a:rPr lang="en-US" sz="2400" dirty="0">
                <a:solidFill>
                  <a:schemeClr val="tx1"/>
                </a:solidFill>
                <a:latin typeface="+mj-lt"/>
              </a:rPr>
              <a:t>Omar (2025)</a:t>
            </a:r>
          </a:p>
          <a:p>
            <a:pPr marL="457200" indent="-381000">
              <a:lnSpc>
                <a:spcPct val="90000"/>
              </a:lnSpc>
              <a:spcBef>
                <a:spcPts val="600"/>
              </a:spcBef>
              <a:buClr>
                <a:srgbClr val="C7D3E6"/>
              </a:buClr>
              <a:buSzPts val="2400"/>
              <a:buFont typeface="Roboto Condensed Light"/>
              <a:buChar char="▰"/>
            </a:pPr>
            <a:r>
              <a:rPr lang="en-US" sz="2400" i="0" u="none" strike="noStrike" cap="none" dirty="0">
                <a:solidFill>
                  <a:schemeClr val="tx1"/>
                </a:solidFill>
                <a:latin typeface="+mj-lt"/>
                <a:ea typeface="Roboto Condensed Light"/>
                <a:cs typeface="Roboto Condensed Light"/>
                <a:sym typeface="Roboto Condensed Light"/>
              </a:rPr>
              <a:t>GAO (2024)</a:t>
            </a:r>
          </a:p>
          <a:p>
            <a:pPr marL="457200" indent="-381000">
              <a:lnSpc>
                <a:spcPct val="90000"/>
              </a:lnSpc>
              <a:spcBef>
                <a:spcPts val="600"/>
              </a:spcBef>
              <a:buClr>
                <a:srgbClr val="C7D3E6"/>
              </a:buClr>
              <a:buSzPts val="2400"/>
              <a:buFont typeface="Roboto Condensed Light"/>
              <a:buChar char="▰"/>
            </a:pPr>
            <a:r>
              <a:rPr lang="en-US" sz="2400" dirty="0">
                <a:solidFill>
                  <a:schemeClr val="tx1"/>
                </a:solidFill>
                <a:latin typeface="+mj-lt"/>
                <a:ea typeface="Roboto Condensed Light"/>
                <a:cs typeface="Roboto Condensed Light"/>
                <a:sym typeface="Roboto Condensed Light"/>
              </a:rPr>
              <a:t>Leeham News (2025)</a:t>
            </a:r>
          </a:p>
          <a:p>
            <a:pPr marL="457200" indent="-381000">
              <a:lnSpc>
                <a:spcPct val="90000"/>
              </a:lnSpc>
              <a:spcBef>
                <a:spcPts val="600"/>
              </a:spcBef>
              <a:buClr>
                <a:srgbClr val="C7D3E6"/>
              </a:buClr>
              <a:buSzPts val="2400"/>
              <a:buFont typeface="Roboto Condensed Light"/>
              <a:buChar char="▰"/>
            </a:pPr>
            <a:r>
              <a:rPr lang="en-US" sz="2400" dirty="0">
                <a:solidFill>
                  <a:schemeClr val="tx1"/>
                </a:solidFill>
                <a:latin typeface="+mj-lt"/>
                <a:ea typeface="Roboto Condensed Light"/>
                <a:cs typeface="Roboto Condensed Light"/>
                <a:sym typeface="Roboto Condensed Light"/>
              </a:rPr>
              <a:t>McKinsey (2021)</a:t>
            </a:r>
          </a:p>
          <a:p>
            <a:pPr marL="457200" indent="-381000">
              <a:lnSpc>
                <a:spcPct val="90000"/>
              </a:lnSpc>
              <a:spcBef>
                <a:spcPts val="600"/>
              </a:spcBef>
              <a:buClr>
                <a:srgbClr val="C7D3E6"/>
              </a:buClr>
              <a:buSzPts val="2400"/>
              <a:buFont typeface="Roboto Condensed Light"/>
              <a:buChar char="▰"/>
            </a:pPr>
            <a:r>
              <a:rPr lang="en-US" sz="2400" i="0" u="none" strike="noStrike" cap="none" dirty="0">
                <a:solidFill>
                  <a:schemeClr val="tx1"/>
                </a:solidFill>
                <a:latin typeface="+mj-lt"/>
                <a:ea typeface="Roboto Condensed Light"/>
                <a:cs typeface="Roboto Condensed Light"/>
                <a:sym typeface="Roboto Condensed Light"/>
              </a:rPr>
              <a:t>Reuters (2, 2024)</a:t>
            </a:r>
          </a:p>
          <a:p>
            <a:pPr marL="457200" indent="-381000">
              <a:lnSpc>
                <a:spcPct val="90000"/>
              </a:lnSpc>
              <a:spcBef>
                <a:spcPts val="600"/>
              </a:spcBef>
              <a:buClr>
                <a:srgbClr val="C7D3E6"/>
              </a:buClr>
              <a:buSzPts val="2400"/>
              <a:buFont typeface="Roboto Condensed Light"/>
              <a:buChar char="▰"/>
            </a:pPr>
            <a:r>
              <a:rPr lang="en-US" sz="2400" dirty="0">
                <a:solidFill>
                  <a:schemeClr val="tx1"/>
                </a:solidFill>
                <a:latin typeface="+mj-lt"/>
                <a:ea typeface="Roboto Condensed Light"/>
                <a:cs typeface="Roboto Condensed Light"/>
                <a:sym typeface="Roboto Condensed Light"/>
              </a:rPr>
              <a:t>Trax Technologies (2025)</a:t>
            </a:r>
          </a:p>
          <a:p>
            <a:pPr marL="457200" indent="-381000">
              <a:lnSpc>
                <a:spcPct val="90000"/>
              </a:lnSpc>
              <a:spcBef>
                <a:spcPts val="600"/>
              </a:spcBef>
              <a:buClr>
                <a:srgbClr val="C7D3E6"/>
              </a:buClr>
              <a:buSzPts val="2400"/>
              <a:buFont typeface="Roboto Condensed Light"/>
              <a:buChar char="▰"/>
            </a:pPr>
            <a:r>
              <a:rPr lang="en-US" sz="2400" i="0" u="none" strike="noStrike" cap="none" dirty="0">
                <a:solidFill>
                  <a:schemeClr val="tx1"/>
                </a:solidFill>
                <a:latin typeface="+mj-lt"/>
                <a:ea typeface="Roboto Condensed Light"/>
                <a:cs typeface="Roboto Condensed Light"/>
                <a:sym typeface="Roboto Condensed Light"/>
              </a:rPr>
              <a:t>EY (2025)</a:t>
            </a:r>
          </a:p>
          <a:p>
            <a:pPr marL="457200" indent="-381000">
              <a:lnSpc>
                <a:spcPct val="90000"/>
              </a:lnSpc>
              <a:spcBef>
                <a:spcPts val="600"/>
              </a:spcBef>
              <a:buClr>
                <a:srgbClr val="C7D3E6"/>
              </a:buClr>
              <a:buSzPts val="2400"/>
              <a:buFont typeface="Roboto Condensed Light"/>
              <a:buChar char="▰"/>
            </a:pPr>
            <a:endParaRPr lang="en-US" sz="2200" b="0" i="0" u="none" strike="noStrike" cap="none" dirty="0">
              <a:solidFill>
                <a:srgbClr val="263248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8712EA5E-CEC0-E62B-D8A7-2A706AB95262}"/>
              </a:ext>
            </a:extLst>
          </p:cNvPr>
          <p:cNvSpPr txBox="1">
            <a:spLocks/>
          </p:cNvSpPr>
          <p:nvPr/>
        </p:nvSpPr>
        <p:spPr>
          <a:xfrm>
            <a:off x="7586025" y="4261362"/>
            <a:ext cx="1487400" cy="3156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fld id="{00000000-1234-1234-1234-123412341234}" type="slidenum">
              <a:rPr lang="en" smtClean="0">
                <a:solidFill>
                  <a:schemeClr val="bg1"/>
                </a:solidFill>
              </a:rPr>
              <a:pPr algn="r"/>
              <a:t>22</a:t>
            </a:fld>
            <a:endParaRPr lang="e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53352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Q&amp;A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275" y="1862668"/>
            <a:ext cx="4402663" cy="176106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2731" y="1862668"/>
            <a:ext cx="1944335" cy="1944335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23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863282085"/>
      </p:ext>
    </p:extLst>
  </p:cSld>
  <p:clrMapOvr>
    <a:masterClrMapping/>
  </p:clrMapOvr>
</p:sld>
</file>

<file path=ppt/theme/theme1.xml><?xml version="1.0" encoding="utf-8"?>
<a:theme xmlns:a="http://schemas.openxmlformats.org/drawingml/2006/main" name="Salerio template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866</TotalTime>
  <Words>1040</Words>
  <Application>Microsoft Office PowerPoint</Application>
  <PresentationFormat>On-screen Show (16:9)</PresentationFormat>
  <Paragraphs>203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Arvo</vt:lpstr>
      <vt:lpstr>Roboto Condensed</vt:lpstr>
      <vt:lpstr>Roboto Condensed Light</vt:lpstr>
      <vt:lpstr>Salerio template</vt:lpstr>
      <vt:lpstr>Enhancing Aerospace Supply Chain Resilience: A Predictive Analytics Approach to Mitigate Lead-Time Volatility</vt:lpstr>
      <vt:lpstr>Agenda</vt:lpstr>
      <vt:lpstr>Abstract</vt:lpstr>
      <vt:lpstr>Keywords</vt:lpstr>
      <vt:lpstr>Problem Statement</vt:lpstr>
      <vt:lpstr>Background</vt:lpstr>
      <vt:lpstr>Background - Evidence</vt:lpstr>
      <vt:lpstr>Related Work</vt:lpstr>
      <vt:lpstr>Approach Overview</vt:lpstr>
      <vt:lpstr>System Design</vt:lpstr>
      <vt:lpstr>Technologies Used</vt:lpstr>
      <vt:lpstr>Data Collection</vt:lpstr>
      <vt:lpstr>Data Cleaning &amp; Preparation</vt:lpstr>
      <vt:lpstr>Data Analysis</vt:lpstr>
      <vt:lpstr>Outlier Handling &amp; Thresholds</vt:lpstr>
      <vt:lpstr>Feature Engineering</vt:lpstr>
      <vt:lpstr>Key Findings</vt:lpstr>
      <vt:lpstr>Hypothesis vs Reality</vt:lpstr>
      <vt:lpstr>Data Visualizations &amp; Analysis</vt:lpstr>
      <vt:lpstr>Conclusion</vt:lpstr>
      <vt:lpstr>GitHub</vt:lpstr>
      <vt:lpstr>References</vt:lpstr>
      <vt:lpstr>Q&amp;A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IS YOUR PRESENTATION TITLE</dc:title>
  <dc:creator>Karthik Dinakaran</dc:creator>
  <cp:lastModifiedBy>Parmbir Singh</cp:lastModifiedBy>
  <cp:revision>19</cp:revision>
  <dcterms:modified xsi:type="dcterms:W3CDTF">2026-03-22T20:51:59Z</dcterms:modified>
</cp:coreProperties>
</file>