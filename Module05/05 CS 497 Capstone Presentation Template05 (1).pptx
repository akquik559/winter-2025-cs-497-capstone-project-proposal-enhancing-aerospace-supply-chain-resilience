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7" r:id="rId1"/>
  </p:sldMasterIdLst>
  <p:notesMasterIdLst>
    <p:notesMasterId r:id="rId27"/>
  </p:notesMasterIdLst>
  <p:sldIdLst>
    <p:sldId id="256" r:id="rId2"/>
    <p:sldId id="274" r:id="rId3"/>
    <p:sldId id="281" r:id="rId4"/>
    <p:sldId id="289" r:id="rId5"/>
    <p:sldId id="275" r:id="rId6"/>
    <p:sldId id="277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91" r:id="rId15"/>
    <p:sldId id="292" r:id="rId16"/>
    <p:sldId id="293" r:id="rId17"/>
    <p:sldId id="294" r:id="rId18"/>
    <p:sldId id="295" r:id="rId19"/>
    <p:sldId id="296" r:id="rId20"/>
    <p:sldId id="278" r:id="rId21"/>
    <p:sldId id="279" r:id="rId22"/>
    <p:sldId id="290" r:id="rId23"/>
    <p:sldId id="280" r:id="rId24"/>
    <p:sldId id="276" r:id="rId25"/>
    <p:sldId id="297" r:id="rId2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B65FF5-06DE-3BE7-3A3A-AFA21D1D8015}" v="3" dt="2023-08-23T17:20:41.602"/>
    <p1510:client id="{C013B410-1339-4A1D-8F70-6FBA0BE58D00}" v="1" dt="2023-08-23T17:21:32.122"/>
  </p1510:revLst>
</p1510:revInfo>
</file>

<file path=ppt/tableStyles.xml><?xml version="1.0" encoding="utf-8"?>
<a:tblStyleLst xmlns:a="http://schemas.openxmlformats.org/drawingml/2006/main" def="{1FE44F72-D7B3-41EB-977B-2E401710A9A8}">
  <a:tblStyle styleId="{1FE44F72-D7B3-41EB-977B-2E401710A9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723" autoAdjust="0"/>
  </p:normalViewPr>
  <p:slideViewPr>
    <p:cSldViewPr snapToGrid="0">
      <p:cViewPr varScale="1">
        <p:scale>
          <a:sx n="75" d="100"/>
          <a:sy n="75" d="100"/>
        </p:scale>
        <p:origin x="36" y="60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F2F321-F67D-4817-AA6C-F9D1C742136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A6FE060-2978-4105-A2C9-3FEEE607093D}">
      <dgm:prSet/>
      <dgm:spPr/>
      <dgm:t>
        <a:bodyPr/>
        <a:lstStyle/>
        <a:p>
          <a:r>
            <a:rPr lang="en-US" b="1" i="0"/>
            <a:t>Outcome 1:</a:t>
          </a:r>
          <a:r>
            <a:rPr lang="en-US" b="0" i="0"/>
            <a:t> Applying advanced Data Analytics and Machine Learning to real-world aerospace challenges</a:t>
          </a:r>
          <a:endParaRPr lang="en-US"/>
        </a:p>
      </dgm:t>
    </dgm:pt>
    <dgm:pt modelId="{776D803D-6FEE-4728-8929-1499AB9B50A4}" type="parTrans" cxnId="{178F11EB-AD34-4554-8F7C-A726C215C2B8}">
      <dgm:prSet/>
      <dgm:spPr/>
      <dgm:t>
        <a:bodyPr/>
        <a:lstStyle/>
        <a:p>
          <a:endParaRPr lang="en-US"/>
        </a:p>
      </dgm:t>
    </dgm:pt>
    <dgm:pt modelId="{93918A25-9780-4770-87B6-399AA518CF8B}" type="sibTrans" cxnId="{178F11EB-AD34-4554-8F7C-A726C215C2B8}">
      <dgm:prSet/>
      <dgm:spPr/>
      <dgm:t>
        <a:bodyPr/>
        <a:lstStyle/>
        <a:p>
          <a:endParaRPr lang="en-US"/>
        </a:p>
      </dgm:t>
    </dgm:pt>
    <dgm:pt modelId="{31886C3B-692F-45ED-AD2F-78D88BC32958}">
      <dgm:prSet/>
      <dgm:spPr/>
      <dgm:t>
        <a:bodyPr/>
        <a:lstStyle/>
        <a:p>
          <a:r>
            <a:rPr lang="en-US" b="1" i="0"/>
            <a:t>Outcome 2:</a:t>
          </a:r>
          <a:r>
            <a:rPr lang="en-US" b="0" i="0"/>
            <a:t> Demonstrating technical proficiency in </a:t>
          </a:r>
          <a:r>
            <a:rPr lang="en-US" b="1" i="0"/>
            <a:t>Python</a:t>
          </a:r>
          <a:r>
            <a:rPr lang="en-US" b="0" i="0"/>
            <a:t> (predictive modeling) and </a:t>
          </a:r>
          <a:r>
            <a:rPr lang="en-US" b="1" i="0"/>
            <a:t>SQL</a:t>
          </a:r>
          <a:r>
            <a:rPr lang="en-US" b="0" i="0"/>
            <a:t> (data preparation)</a:t>
          </a:r>
          <a:endParaRPr lang="en-US"/>
        </a:p>
      </dgm:t>
    </dgm:pt>
    <dgm:pt modelId="{87435C3B-EEAA-47DB-A32E-7872BA592D9E}" type="parTrans" cxnId="{E64FF6A0-14B5-41DB-B1EE-A45ABD697DB2}">
      <dgm:prSet/>
      <dgm:spPr/>
      <dgm:t>
        <a:bodyPr/>
        <a:lstStyle/>
        <a:p>
          <a:endParaRPr lang="en-US"/>
        </a:p>
      </dgm:t>
    </dgm:pt>
    <dgm:pt modelId="{1CFEA526-53A2-4B0E-9E74-801BF55193E7}" type="sibTrans" cxnId="{E64FF6A0-14B5-41DB-B1EE-A45ABD697DB2}">
      <dgm:prSet/>
      <dgm:spPr/>
      <dgm:t>
        <a:bodyPr/>
        <a:lstStyle/>
        <a:p>
          <a:endParaRPr lang="en-US"/>
        </a:p>
      </dgm:t>
    </dgm:pt>
    <dgm:pt modelId="{00CCEEB3-3BE7-438C-8A53-FF2AC42A8B5C}">
      <dgm:prSet/>
      <dgm:spPr/>
      <dgm:t>
        <a:bodyPr/>
        <a:lstStyle/>
        <a:p>
          <a:r>
            <a:rPr lang="en-US" b="1" i="0"/>
            <a:t>Outcome 3:</a:t>
          </a:r>
          <a:r>
            <a:rPr lang="en-US" b="0" i="0"/>
            <a:t> Defending technical decisions and findings in a professional setting</a:t>
          </a:r>
          <a:endParaRPr lang="en-US"/>
        </a:p>
      </dgm:t>
    </dgm:pt>
    <dgm:pt modelId="{E5C2FCE0-9512-4AE8-98FA-25612F867260}" type="parTrans" cxnId="{DAA1B804-48F6-477E-8590-BAA1AE73ADA5}">
      <dgm:prSet/>
      <dgm:spPr/>
      <dgm:t>
        <a:bodyPr/>
        <a:lstStyle/>
        <a:p>
          <a:endParaRPr lang="en-US"/>
        </a:p>
      </dgm:t>
    </dgm:pt>
    <dgm:pt modelId="{543ACFDE-03B6-4A7A-BBB7-F391CC6118C0}" type="sibTrans" cxnId="{DAA1B804-48F6-477E-8590-BAA1AE73ADA5}">
      <dgm:prSet/>
      <dgm:spPr/>
      <dgm:t>
        <a:bodyPr/>
        <a:lstStyle/>
        <a:p>
          <a:endParaRPr lang="en-US"/>
        </a:p>
      </dgm:t>
    </dgm:pt>
    <dgm:pt modelId="{7F2B4EC2-71E7-4C8C-AAC9-3B19FB973F47}" type="pres">
      <dgm:prSet presAssocID="{08F2F321-F67D-4817-AA6C-F9D1C7421366}" presName="root" presStyleCnt="0">
        <dgm:presLayoutVars>
          <dgm:dir/>
          <dgm:resizeHandles val="exact"/>
        </dgm:presLayoutVars>
      </dgm:prSet>
      <dgm:spPr/>
    </dgm:pt>
    <dgm:pt modelId="{C9C172A1-C3BA-49E9-84DA-55BB96277576}" type="pres">
      <dgm:prSet presAssocID="{FA6FE060-2978-4105-A2C9-3FEEE607093D}" presName="compNode" presStyleCnt="0"/>
      <dgm:spPr/>
    </dgm:pt>
    <dgm:pt modelId="{75903E41-81DD-49B9-9D34-6906EA0E9485}" type="pres">
      <dgm:prSet presAssocID="{FA6FE060-2978-4105-A2C9-3FEEE607093D}" presName="bgRect" presStyleLbl="bgShp" presStyleIdx="0" presStyleCnt="3"/>
      <dgm:spPr/>
    </dgm:pt>
    <dgm:pt modelId="{915BA3EE-3949-4531-BC12-2781AE05CC9D}" type="pres">
      <dgm:prSet presAssocID="{FA6FE060-2978-4105-A2C9-3FEEE607093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422BD6B0-452E-4C33-BAAC-15A02D6CB151}" type="pres">
      <dgm:prSet presAssocID="{FA6FE060-2978-4105-A2C9-3FEEE607093D}" presName="spaceRect" presStyleCnt="0"/>
      <dgm:spPr/>
    </dgm:pt>
    <dgm:pt modelId="{90CF679E-8126-4C79-913A-98C12E76E03F}" type="pres">
      <dgm:prSet presAssocID="{FA6FE060-2978-4105-A2C9-3FEEE607093D}" presName="parTx" presStyleLbl="revTx" presStyleIdx="0" presStyleCnt="3">
        <dgm:presLayoutVars>
          <dgm:chMax val="0"/>
          <dgm:chPref val="0"/>
        </dgm:presLayoutVars>
      </dgm:prSet>
      <dgm:spPr/>
    </dgm:pt>
    <dgm:pt modelId="{CAA64CC6-163C-4C81-938D-763A4509B338}" type="pres">
      <dgm:prSet presAssocID="{93918A25-9780-4770-87B6-399AA518CF8B}" presName="sibTrans" presStyleCnt="0"/>
      <dgm:spPr/>
    </dgm:pt>
    <dgm:pt modelId="{A8BC99FF-277F-4E33-B28B-43ECB9FCF21B}" type="pres">
      <dgm:prSet presAssocID="{31886C3B-692F-45ED-AD2F-78D88BC32958}" presName="compNode" presStyleCnt="0"/>
      <dgm:spPr/>
    </dgm:pt>
    <dgm:pt modelId="{AF204C76-1980-4D36-B41C-C9944AE55494}" type="pres">
      <dgm:prSet presAssocID="{31886C3B-692F-45ED-AD2F-78D88BC32958}" presName="bgRect" presStyleLbl="bgShp" presStyleIdx="1" presStyleCnt="3"/>
      <dgm:spPr/>
    </dgm:pt>
    <dgm:pt modelId="{202C9A67-D004-4C52-BE76-DB1417ACDF94}" type="pres">
      <dgm:prSet presAssocID="{31886C3B-692F-45ED-AD2F-78D88BC3295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CDCBA99B-B3CE-4EF4-973E-40685E524BCD}" type="pres">
      <dgm:prSet presAssocID="{31886C3B-692F-45ED-AD2F-78D88BC32958}" presName="spaceRect" presStyleCnt="0"/>
      <dgm:spPr/>
    </dgm:pt>
    <dgm:pt modelId="{BC3A6956-2FDB-4BB2-A9C6-4551CDA09BC8}" type="pres">
      <dgm:prSet presAssocID="{31886C3B-692F-45ED-AD2F-78D88BC32958}" presName="parTx" presStyleLbl="revTx" presStyleIdx="1" presStyleCnt="3">
        <dgm:presLayoutVars>
          <dgm:chMax val="0"/>
          <dgm:chPref val="0"/>
        </dgm:presLayoutVars>
      </dgm:prSet>
      <dgm:spPr/>
    </dgm:pt>
    <dgm:pt modelId="{CE531C48-01B6-4546-BC7C-F5B95F94666B}" type="pres">
      <dgm:prSet presAssocID="{1CFEA526-53A2-4B0E-9E74-801BF55193E7}" presName="sibTrans" presStyleCnt="0"/>
      <dgm:spPr/>
    </dgm:pt>
    <dgm:pt modelId="{14ED7DEE-A427-494E-860E-5229F21523BA}" type="pres">
      <dgm:prSet presAssocID="{00CCEEB3-3BE7-438C-8A53-FF2AC42A8B5C}" presName="compNode" presStyleCnt="0"/>
      <dgm:spPr/>
    </dgm:pt>
    <dgm:pt modelId="{6B08A0DD-CC56-4E9A-A3A3-854F2B4D737D}" type="pres">
      <dgm:prSet presAssocID="{00CCEEB3-3BE7-438C-8A53-FF2AC42A8B5C}" presName="bgRect" presStyleLbl="bgShp" presStyleIdx="2" presStyleCnt="3"/>
      <dgm:spPr/>
    </dgm:pt>
    <dgm:pt modelId="{AF8BFA26-F463-41D5-A072-3238241F50EC}" type="pres">
      <dgm:prSet presAssocID="{00CCEEB3-3BE7-438C-8A53-FF2AC42A8B5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5E8CEC2-F186-42E4-BD97-EAE06FE8668C}" type="pres">
      <dgm:prSet presAssocID="{00CCEEB3-3BE7-438C-8A53-FF2AC42A8B5C}" presName="spaceRect" presStyleCnt="0"/>
      <dgm:spPr/>
    </dgm:pt>
    <dgm:pt modelId="{2FD61ACF-D42D-40B0-BC0C-91C2153FFA43}" type="pres">
      <dgm:prSet presAssocID="{00CCEEB3-3BE7-438C-8A53-FF2AC42A8B5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FFD5504-6347-4098-99F2-2F0CA361641B}" type="presOf" srcId="{00CCEEB3-3BE7-438C-8A53-FF2AC42A8B5C}" destId="{2FD61ACF-D42D-40B0-BC0C-91C2153FFA43}" srcOrd="0" destOrd="0" presId="urn:microsoft.com/office/officeart/2018/2/layout/IconVerticalSolidList"/>
    <dgm:cxn modelId="{DAA1B804-48F6-477E-8590-BAA1AE73ADA5}" srcId="{08F2F321-F67D-4817-AA6C-F9D1C7421366}" destId="{00CCEEB3-3BE7-438C-8A53-FF2AC42A8B5C}" srcOrd="2" destOrd="0" parTransId="{E5C2FCE0-9512-4AE8-98FA-25612F867260}" sibTransId="{543ACFDE-03B6-4A7A-BBB7-F391CC6118C0}"/>
    <dgm:cxn modelId="{CABB1C14-8AAC-4ECD-A34F-C5796B535974}" type="presOf" srcId="{08F2F321-F67D-4817-AA6C-F9D1C7421366}" destId="{7F2B4EC2-71E7-4C8C-AAC9-3B19FB973F47}" srcOrd="0" destOrd="0" presId="urn:microsoft.com/office/officeart/2018/2/layout/IconVerticalSolidList"/>
    <dgm:cxn modelId="{EF8F7A67-28BA-4A0A-BA28-D929A585FA90}" type="presOf" srcId="{31886C3B-692F-45ED-AD2F-78D88BC32958}" destId="{BC3A6956-2FDB-4BB2-A9C6-4551CDA09BC8}" srcOrd="0" destOrd="0" presId="urn:microsoft.com/office/officeart/2018/2/layout/IconVerticalSolidList"/>
    <dgm:cxn modelId="{3CF4DE56-ED97-4DD8-A229-0F237E3672EA}" type="presOf" srcId="{FA6FE060-2978-4105-A2C9-3FEEE607093D}" destId="{90CF679E-8126-4C79-913A-98C12E76E03F}" srcOrd="0" destOrd="0" presId="urn:microsoft.com/office/officeart/2018/2/layout/IconVerticalSolidList"/>
    <dgm:cxn modelId="{E64FF6A0-14B5-41DB-B1EE-A45ABD697DB2}" srcId="{08F2F321-F67D-4817-AA6C-F9D1C7421366}" destId="{31886C3B-692F-45ED-AD2F-78D88BC32958}" srcOrd="1" destOrd="0" parTransId="{87435C3B-EEAA-47DB-A32E-7872BA592D9E}" sibTransId="{1CFEA526-53A2-4B0E-9E74-801BF55193E7}"/>
    <dgm:cxn modelId="{178F11EB-AD34-4554-8F7C-A726C215C2B8}" srcId="{08F2F321-F67D-4817-AA6C-F9D1C7421366}" destId="{FA6FE060-2978-4105-A2C9-3FEEE607093D}" srcOrd="0" destOrd="0" parTransId="{776D803D-6FEE-4728-8929-1499AB9B50A4}" sibTransId="{93918A25-9780-4770-87B6-399AA518CF8B}"/>
    <dgm:cxn modelId="{B24A7310-CD61-4D29-98B3-995724685E30}" type="presParOf" srcId="{7F2B4EC2-71E7-4C8C-AAC9-3B19FB973F47}" destId="{C9C172A1-C3BA-49E9-84DA-55BB96277576}" srcOrd="0" destOrd="0" presId="urn:microsoft.com/office/officeart/2018/2/layout/IconVerticalSolidList"/>
    <dgm:cxn modelId="{DE966B9B-A3B5-46AB-8A45-3D0A24448C96}" type="presParOf" srcId="{C9C172A1-C3BA-49E9-84DA-55BB96277576}" destId="{75903E41-81DD-49B9-9D34-6906EA0E9485}" srcOrd="0" destOrd="0" presId="urn:microsoft.com/office/officeart/2018/2/layout/IconVerticalSolidList"/>
    <dgm:cxn modelId="{3AA2F808-9948-4CE3-9CD9-3E9BF94A401B}" type="presParOf" srcId="{C9C172A1-C3BA-49E9-84DA-55BB96277576}" destId="{915BA3EE-3949-4531-BC12-2781AE05CC9D}" srcOrd="1" destOrd="0" presId="urn:microsoft.com/office/officeart/2018/2/layout/IconVerticalSolidList"/>
    <dgm:cxn modelId="{0BEE33E9-B7C9-4F18-8284-B87016D88861}" type="presParOf" srcId="{C9C172A1-C3BA-49E9-84DA-55BB96277576}" destId="{422BD6B0-452E-4C33-BAAC-15A02D6CB151}" srcOrd="2" destOrd="0" presId="urn:microsoft.com/office/officeart/2018/2/layout/IconVerticalSolidList"/>
    <dgm:cxn modelId="{647E68DB-A190-475E-A6A1-EB6A60A90156}" type="presParOf" srcId="{C9C172A1-C3BA-49E9-84DA-55BB96277576}" destId="{90CF679E-8126-4C79-913A-98C12E76E03F}" srcOrd="3" destOrd="0" presId="urn:microsoft.com/office/officeart/2018/2/layout/IconVerticalSolidList"/>
    <dgm:cxn modelId="{BFD2C001-781B-40A6-BB95-51C52DF17B64}" type="presParOf" srcId="{7F2B4EC2-71E7-4C8C-AAC9-3B19FB973F47}" destId="{CAA64CC6-163C-4C81-938D-763A4509B338}" srcOrd="1" destOrd="0" presId="urn:microsoft.com/office/officeart/2018/2/layout/IconVerticalSolidList"/>
    <dgm:cxn modelId="{11C8AEC3-6B30-49FB-B9EA-AF6130803CCE}" type="presParOf" srcId="{7F2B4EC2-71E7-4C8C-AAC9-3B19FB973F47}" destId="{A8BC99FF-277F-4E33-B28B-43ECB9FCF21B}" srcOrd="2" destOrd="0" presId="urn:microsoft.com/office/officeart/2018/2/layout/IconVerticalSolidList"/>
    <dgm:cxn modelId="{AF6BA1B6-F16C-486A-93EF-8BFDC51599C1}" type="presParOf" srcId="{A8BC99FF-277F-4E33-B28B-43ECB9FCF21B}" destId="{AF204C76-1980-4D36-B41C-C9944AE55494}" srcOrd="0" destOrd="0" presId="urn:microsoft.com/office/officeart/2018/2/layout/IconVerticalSolidList"/>
    <dgm:cxn modelId="{A1D4E520-7D25-4FA9-9F24-4042AD90348B}" type="presParOf" srcId="{A8BC99FF-277F-4E33-B28B-43ECB9FCF21B}" destId="{202C9A67-D004-4C52-BE76-DB1417ACDF94}" srcOrd="1" destOrd="0" presId="urn:microsoft.com/office/officeart/2018/2/layout/IconVerticalSolidList"/>
    <dgm:cxn modelId="{5BA84778-5718-4B7F-ADC6-720C34881BC3}" type="presParOf" srcId="{A8BC99FF-277F-4E33-B28B-43ECB9FCF21B}" destId="{CDCBA99B-B3CE-4EF4-973E-40685E524BCD}" srcOrd="2" destOrd="0" presId="urn:microsoft.com/office/officeart/2018/2/layout/IconVerticalSolidList"/>
    <dgm:cxn modelId="{F6029750-4BA3-4A53-A32D-E6043AB946B7}" type="presParOf" srcId="{A8BC99FF-277F-4E33-B28B-43ECB9FCF21B}" destId="{BC3A6956-2FDB-4BB2-A9C6-4551CDA09BC8}" srcOrd="3" destOrd="0" presId="urn:microsoft.com/office/officeart/2018/2/layout/IconVerticalSolidList"/>
    <dgm:cxn modelId="{A7B91A0B-B45B-47DE-83DF-8BEC50179052}" type="presParOf" srcId="{7F2B4EC2-71E7-4C8C-AAC9-3B19FB973F47}" destId="{CE531C48-01B6-4546-BC7C-F5B95F94666B}" srcOrd="3" destOrd="0" presId="urn:microsoft.com/office/officeart/2018/2/layout/IconVerticalSolidList"/>
    <dgm:cxn modelId="{DE582F83-DEC5-4076-AD63-AB875569D4CA}" type="presParOf" srcId="{7F2B4EC2-71E7-4C8C-AAC9-3B19FB973F47}" destId="{14ED7DEE-A427-494E-860E-5229F21523BA}" srcOrd="4" destOrd="0" presId="urn:microsoft.com/office/officeart/2018/2/layout/IconVerticalSolidList"/>
    <dgm:cxn modelId="{BE754762-0A00-4C85-8838-C0563F419C90}" type="presParOf" srcId="{14ED7DEE-A427-494E-860E-5229F21523BA}" destId="{6B08A0DD-CC56-4E9A-A3A3-854F2B4D737D}" srcOrd="0" destOrd="0" presId="urn:microsoft.com/office/officeart/2018/2/layout/IconVerticalSolidList"/>
    <dgm:cxn modelId="{F0155462-134B-4687-B552-ECC629AD9752}" type="presParOf" srcId="{14ED7DEE-A427-494E-860E-5229F21523BA}" destId="{AF8BFA26-F463-41D5-A072-3238241F50EC}" srcOrd="1" destOrd="0" presId="urn:microsoft.com/office/officeart/2018/2/layout/IconVerticalSolidList"/>
    <dgm:cxn modelId="{668D12AE-85B3-4C27-9390-3E4E4B2272BD}" type="presParOf" srcId="{14ED7DEE-A427-494E-860E-5229F21523BA}" destId="{75E8CEC2-F186-42E4-BD97-EAE06FE8668C}" srcOrd="2" destOrd="0" presId="urn:microsoft.com/office/officeart/2018/2/layout/IconVerticalSolidList"/>
    <dgm:cxn modelId="{97272DB2-627C-48E8-AA6D-618ACE424F40}" type="presParOf" srcId="{14ED7DEE-A427-494E-860E-5229F21523BA}" destId="{2FD61ACF-D42D-40B0-BC0C-91C2153FFA4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8EB21D3-E3EA-4D3C-A2B6-5019CA8567DC}" type="doc">
      <dgm:prSet loTypeId="urn:microsoft.com/office/officeart/2018/2/layout/IconLabel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1AFD6DD4-9C0A-425F-A536-7A417A5AC7B7}">
      <dgm:prSet/>
      <dgm:spPr/>
      <dgm:t>
        <a:bodyPr/>
        <a:lstStyle/>
        <a:p>
          <a:r>
            <a:rPr lang="en-US" b="1" i="0"/>
            <a:t>Professional Growth:</a:t>
          </a:r>
          <a:r>
            <a:rPr lang="en-US" b="0" i="0"/>
            <a:t> Bridges the gap between data science and industry solutions</a:t>
          </a:r>
          <a:endParaRPr lang="en-US"/>
        </a:p>
      </dgm:t>
    </dgm:pt>
    <dgm:pt modelId="{2AEFE845-4CF8-43CF-A096-AD614CEC1549}" type="parTrans" cxnId="{7DEF064F-8981-43A0-90E1-CD06832D6AC2}">
      <dgm:prSet/>
      <dgm:spPr/>
      <dgm:t>
        <a:bodyPr/>
        <a:lstStyle/>
        <a:p>
          <a:endParaRPr lang="en-US"/>
        </a:p>
      </dgm:t>
    </dgm:pt>
    <dgm:pt modelId="{43C72307-015B-4B84-936E-455BE5587551}" type="sibTrans" cxnId="{7DEF064F-8981-43A0-90E1-CD06832D6AC2}">
      <dgm:prSet/>
      <dgm:spPr/>
      <dgm:t>
        <a:bodyPr/>
        <a:lstStyle/>
        <a:p>
          <a:endParaRPr lang="en-US"/>
        </a:p>
      </dgm:t>
    </dgm:pt>
    <dgm:pt modelId="{156D72EB-A840-47B8-B71E-7AFE4EE05712}">
      <dgm:prSet/>
      <dgm:spPr/>
      <dgm:t>
        <a:bodyPr/>
        <a:lstStyle/>
        <a:p>
          <a:r>
            <a:rPr lang="en-US" b="1" i="0"/>
            <a:t>Career Goal:</a:t>
          </a:r>
          <a:r>
            <a:rPr lang="en-US" b="0" i="0"/>
            <a:t> Aiming to transition into a Data Analytics role at </a:t>
          </a:r>
          <a:r>
            <a:rPr lang="en-US" b="1" i="0"/>
            <a:t>Boeing</a:t>
          </a:r>
          <a:endParaRPr lang="en-US"/>
        </a:p>
      </dgm:t>
    </dgm:pt>
    <dgm:pt modelId="{F7A5FA41-B4D4-41C3-B029-1E47893A1443}" type="parTrans" cxnId="{92CF967B-B353-48BE-B30A-AED1F6E7A640}">
      <dgm:prSet/>
      <dgm:spPr/>
      <dgm:t>
        <a:bodyPr/>
        <a:lstStyle/>
        <a:p>
          <a:endParaRPr lang="en-US"/>
        </a:p>
      </dgm:t>
    </dgm:pt>
    <dgm:pt modelId="{A30CA0D9-7A2A-4DA5-8FD4-AF40FDA9DB8B}" type="sibTrans" cxnId="{92CF967B-B353-48BE-B30A-AED1F6E7A640}">
      <dgm:prSet/>
      <dgm:spPr/>
      <dgm:t>
        <a:bodyPr/>
        <a:lstStyle/>
        <a:p>
          <a:endParaRPr lang="en-US"/>
        </a:p>
      </dgm:t>
    </dgm:pt>
    <dgm:pt modelId="{A252B14E-D337-465F-B720-74A360BCD7D1}">
      <dgm:prSet/>
      <dgm:spPr/>
      <dgm:t>
        <a:bodyPr/>
        <a:lstStyle/>
        <a:p>
          <a:r>
            <a:rPr lang="en-US" b="1" i="0"/>
            <a:t>Portfolio Building:</a:t>
          </a:r>
          <a:r>
            <a:rPr lang="en-US" b="0" i="0"/>
            <a:t> Developing a "career-ready" project to defend during high-level job interviews</a:t>
          </a:r>
          <a:endParaRPr lang="en-US"/>
        </a:p>
      </dgm:t>
    </dgm:pt>
    <dgm:pt modelId="{6CA5A6BE-CD5F-4E3E-83AA-7EB21C4BF99F}" type="parTrans" cxnId="{1F9F5C73-42CD-4043-824B-153792E9F342}">
      <dgm:prSet/>
      <dgm:spPr/>
      <dgm:t>
        <a:bodyPr/>
        <a:lstStyle/>
        <a:p>
          <a:endParaRPr lang="en-US"/>
        </a:p>
      </dgm:t>
    </dgm:pt>
    <dgm:pt modelId="{3585B53D-B5DE-41AB-8F92-877FE0F365DB}" type="sibTrans" cxnId="{1F9F5C73-42CD-4043-824B-153792E9F342}">
      <dgm:prSet/>
      <dgm:spPr/>
      <dgm:t>
        <a:bodyPr/>
        <a:lstStyle/>
        <a:p>
          <a:endParaRPr lang="en-US"/>
        </a:p>
      </dgm:t>
    </dgm:pt>
    <dgm:pt modelId="{E9FA5D43-2550-4BD0-8C9F-226F5FB9AC5C}" type="pres">
      <dgm:prSet presAssocID="{08EB21D3-E3EA-4D3C-A2B6-5019CA8567DC}" presName="root" presStyleCnt="0">
        <dgm:presLayoutVars>
          <dgm:dir/>
          <dgm:resizeHandles val="exact"/>
        </dgm:presLayoutVars>
      </dgm:prSet>
      <dgm:spPr/>
    </dgm:pt>
    <dgm:pt modelId="{A86EC4AD-4F90-4E33-9A46-771F01D72833}" type="pres">
      <dgm:prSet presAssocID="{1AFD6DD4-9C0A-425F-A536-7A417A5AC7B7}" presName="compNode" presStyleCnt="0"/>
      <dgm:spPr/>
    </dgm:pt>
    <dgm:pt modelId="{05C3564D-3677-4825-B877-072AF1BAB3CD}" type="pres">
      <dgm:prSet presAssocID="{1AFD6DD4-9C0A-425F-A536-7A417A5AC7B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DE882CEA-A978-4848-91B1-BA2CBDFAC310}" type="pres">
      <dgm:prSet presAssocID="{1AFD6DD4-9C0A-425F-A536-7A417A5AC7B7}" presName="spaceRect" presStyleCnt="0"/>
      <dgm:spPr/>
    </dgm:pt>
    <dgm:pt modelId="{938FBA39-AFDB-4FFB-99E1-6912163F9599}" type="pres">
      <dgm:prSet presAssocID="{1AFD6DD4-9C0A-425F-A536-7A417A5AC7B7}" presName="textRect" presStyleLbl="revTx" presStyleIdx="0" presStyleCnt="3">
        <dgm:presLayoutVars>
          <dgm:chMax val="1"/>
          <dgm:chPref val="1"/>
        </dgm:presLayoutVars>
      </dgm:prSet>
      <dgm:spPr/>
    </dgm:pt>
    <dgm:pt modelId="{09690B60-9351-4858-BD96-ED0BA1313AAF}" type="pres">
      <dgm:prSet presAssocID="{43C72307-015B-4B84-936E-455BE5587551}" presName="sibTrans" presStyleCnt="0"/>
      <dgm:spPr/>
    </dgm:pt>
    <dgm:pt modelId="{BEEAC372-954F-42A4-81E4-BF7F3FB7813A}" type="pres">
      <dgm:prSet presAssocID="{156D72EB-A840-47B8-B71E-7AFE4EE05712}" presName="compNode" presStyleCnt="0"/>
      <dgm:spPr/>
    </dgm:pt>
    <dgm:pt modelId="{0FD9FD9E-4DE3-4952-9586-830EBE21D130}" type="pres">
      <dgm:prSet presAssocID="{156D72EB-A840-47B8-B71E-7AFE4EE0571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F52F9144-37D1-479D-8E8D-C5C1C833724B}" type="pres">
      <dgm:prSet presAssocID="{156D72EB-A840-47B8-B71E-7AFE4EE05712}" presName="spaceRect" presStyleCnt="0"/>
      <dgm:spPr/>
    </dgm:pt>
    <dgm:pt modelId="{6C813B18-7FD4-4AF5-AD65-BA6166E454EE}" type="pres">
      <dgm:prSet presAssocID="{156D72EB-A840-47B8-B71E-7AFE4EE05712}" presName="textRect" presStyleLbl="revTx" presStyleIdx="1" presStyleCnt="3">
        <dgm:presLayoutVars>
          <dgm:chMax val="1"/>
          <dgm:chPref val="1"/>
        </dgm:presLayoutVars>
      </dgm:prSet>
      <dgm:spPr/>
    </dgm:pt>
    <dgm:pt modelId="{E95EE8C0-80B4-4D39-B2AA-30EC24C72A52}" type="pres">
      <dgm:prSet presAssocID="{A30CA0D9-7A2A-4DA5-8FD4-AF40FDA9DB8B}" presName="sibTrans" presStyleCnt="0"/>
      <dgm:spPr/>
    </dgm:pt>
    <dgm:pt modelId="{9E2295EA-2875-43BA-8DE9-4F6B04B22E0A}" type="pres">
      <dgm:prSet presAssocID="{A252B14E-D337-465F-B720-74A360BCD7D1}" presName="compNode" presStyleCnt="0"/>
      <dgm:spPr/>
    </dgm:pt>
    <dgm:pt modelId="{57547A0E-E734-47F7-975E-DED135CB4603}" type="pres">
      <dgm:prSet presAssocID="{A252B14E-D337-465F-B720-74A360BCD7D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efcase"/>
        </a:ext>
      </dgm:extLst>
    </dgm:pt>
    <dgm:pt modelId="{7C425B21-F880-46A4-8C92-DEBF55C2FD84}" type="pres">
      <dgm:prSet presAssocID="{A252B14E-D337-465F-B720-74A360BCD7D1}" presName="spaceRect" presStyleCnt="0"/>
      <dgm:spPr/>
    </dgm:pt>
    <dgm:pt modelId="{A97AC0DE-0E15-4097-963F-935EF4501DAC}" type="pres">
      <dgm:prSet presAssocID="{A252B14E-D337-465F-B720-74A360BCD7D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F80C11B-BA6E-4ED0-A1B0-252542BFA8B1}" type="presOf" srcId="{A252B14E-D337-465F-B720-74A360BCD7D1}" destId="{A97AC0DE-0E15-4097-963F-935EF4501DAC}" srcOrd="0" destOrd="0" presId="urn:microsoft.com/office/officeart/2018/2/layout/IconLabelList"/>
    <dgm:cxn modelId="{7DEF064F-8981-43A0-90E1-CD06832D6AC2}" srcId="{08EB21D3-E3EA-4D3C-A2B6-5019CA8567DC}" destId="{1AFD6DD4-9C0A-425F-A536-7A417A5AC7B7}" srcOrd="0" destOrd="0" parTransId="{2AEFE845-4CF8-43CF-A096-AD614CEC1549}" sibTransId="{43C72307-015B-4B84-936E-455BE5587551}"/>
    <dgm:cxn modelId="{3A9B0751-4828-470B-B90B-48B6C6138F58}" type="presOf" srcId="{156D72EB-A840-47B8-B71E-7AFE4EE05712}" destId="{6C813B18-7FD4-4AF5-AD65-BA6166E454EE}" srcOrd="0" destOrd="0" presId="urn:microsoft.com/office/officeart/2018/2/layout/IconLabelList"/>
    <dgm:cxn modelId="{1F9F5C73-42CD-4043-824B-153792E9F342}" srcId="{08EB21D3-E3EA-4D3C-A2B6-5019CA8567DC}" destId="{A252B14E-D337-465F-B720-74A360BCD7D1}" srcOrd="2" destOrd="0" parTransId="{6CA5A6BE-CD5F-4E3E-83AA-7EB21C4BF99F}" sibTransId="{3585B53D-B5DE-41AB-8F92-877FE0F365DB}"/>
    <dgm:cxn modelId="{92CF967B-B353-48BE-B30A-AED1F6E7A640}" srcId="{08EB21D3-E3EA-4D3C-A2B6-5019CA8567DC}" destId="{156D72EB-A840-47B8-B71E-7AFE4EE05712}" srcOrd="1" destOrd="0" parTransId="{F7A5FA41-B4D4-41C3-B029-1E47893A1443}" sibTransId="{A30CA0D9-7A2A-4DA5-8FD4-AF40FDA9DB8B}"/>
    <dgm:cxn modelId="{EB3FE0BE-9569-45F8-A4C9-D78E5F07739E}" type="presOf" srcId="{08EB21D3-E3EA-4D3C-A2B6-5019CA8567DC}" destId="{E9FA5D43-2550-4BD0-8C9F-226F5FB9AC5C}" srcOrd="0" destOrd="0" presId="urn:microsoft.com/office/officeart/2018/2/layout/IconLabelList"/>
    <dgm:cxn modelId="{33A63DC0-95EB-40E1-B6A6-C36267D52A2A}" type="presOf" srcId="{1AFD6DD4-9C0A-425F-A536-7A417A5AC7B7}" destId="{938FBA39-AFDB-4FFB-99E1-6912163F9599}" srcOrd="0" destOrd="0" presId="urn:microsoft.com/office/officeart/2018/2/layout/IconLabelList"/>
    <dgm:cxn modelId="{E666AD7F-3B91-40BF-80C2-FADD8196B353}" type="presParOf" srcId="{E9FA5D43-2550-4BD0-8C9F-226F5FB9AC5C}" destId="{A86EC4AD-4F90-4E33-9A46-771F01D72833}" srcOrd="0" destOrd="0" presId="urn:microsoft.com/office/officeart/2018/2/layout/IconLabelList"/>
    <dgm:cxn modelId="{16141662-3DDE-4729-96AA-153AE531D42F}" type="presParOf" srcId="{A86EC4AD-4F90-4E33-9A46-771F01D72833}" destId="{05C3564D-3677-4825-B877-072AF1BAB3CD}" srcOrd="0" destOrd="0" presId="urn:microsoft.com/office/officeart/2018/2/layout/IconLabelList"/>
    <dgm:cxn modelId="{4CD328A3-AB68-46FA-9CC0-C9DC280C38A4}" type="presParOf" srcId="{A86EC4AD-4F90-4E33-9A46-771F01D72833}" destId="{DE882CEA-A978-4848-91B1-BA2CBDFAC310}" srcOrd="1" destOrd="0" presId="urn:microsoft.com/office/officeart/2018/2/layout/IconLabelList"/>
    <dgm:cxn modelId="{19950FA2-FBE0-4703-87AA-947449B249D3}" type="presParOf" srcId="{A86EC4AD-4F90-4E33-9A46-771F01D72833}" destId="{938FBA39-AFDB-4FFB-99E1-6912163F9599}" srcOrd="2" destOrd="0" presId="urn:microsoft.com/office/officeart/2018/2/layout/IconLabelList"/>
    <dgm:cxn modelId="{6C394D07-80F5-4C20-8EA9-15899EF00EA4}" type="presParOf" srcId="{E9FA5D43-2550-4BD0-8C9F-226F5FB9AC5C}" destId="{09690B60-9351-4858-BD96-ED0BA1313AAF}" srcOrd="1" destOrd="0" presId="urn:microsoft.com/office/officeart/2018/2/layout/IconLabelList"/>
    <dgm:cxn modelId="{95297ACA-56AC-423D-B542-98704EBDE4B0}" type="presParOf" srcId="{E9FA5D43-2550-4BD0-8C9F-226F5FB9AC5C}" destId="{BEEAC372-954F-42A4-81E4-BF7F3FB7813A}" srcOrd="2" destOrd="0" presId="urn:microsoft.com/office/officeart/2018/2/layout/IconLabelList"/>
    <dgm:cxn modelId="{6EDB6C32-DEAE-4F09-99EB-8DE1549D3F1D}" type="presParOf" srcId="{BEEAC372-954F-42A4-81E4-BF7F3FB7813A}" destId="{0FD9FD9E-4DE3-4952-9586-830EBE21D130}" srcOrd="0" destOrd="0" presId="urn:microsoft.com/office/officeart/2018/2/layout/IconLabelList"/>
    <dgm:cxn modelId="{86998572-61BA-41CC-8C4F-9820148B933B}" type="presParOf" srcId="{BEEAC372-954F-42A4-81E4-BF7F3FB7813A}" destId="{F52F9144-37D1-479D-8E8D-C5C1C833724B}" srcOrd="1" destOrd="0" presId="urn:microsoft.com/office/officeart/2018/2/layout/IconLabelList"/>
    <dgm:cxn modelId="{4D3A670B-A6D7-4C3D-8AC0-B2AA1F0DB638}" type="presParOf" srcId="{BEEAC372-954F-42A4-81E4-BF7F3FB7813A}" destId="{6C813B18-7FD4-4AF5-AD65-BA6166E454EE}" srcOrd="2" destOrd="0" presId="urn:microsoft.com/office/officeart/2018/2/layout/IconLabelList"/>
    <dgm:cxn modelId="{771BFB3F-9405-4553-B859-B3D4183E812C}" type="presParOf" srcId="{E9FA5D43-2550-4BD0-8C9F-226F5FB9AC5C}" destId="{E95EE8C0-80B4-4D39-B2AA-30EC24C72A52}" srcOrd="3" destOrd="0" presId="urn:microsoft.com/office/officeart/2018/2/layout/IconLabelList"/>
    <dgm:cxn modelId="{5E1A14D3-FEAB-401F-B91E-803391157DE6}" type="presParOf" srcId="{E9FA5D43-2550-4BD0-8C9F-226F5FB9AC5C}" destId="{9E2295EA-2875-43BA-8DE9-4F6B04B22E0A}" srcOrd="4" destOrd="0" presId="urn:microsoft.com/office/officeart/2018/2/layout/IconLabelList"/>
    <dgm:cxn modelId="{686B4F68-BBC6-46C9-B909-77E21F7007BF}" type="presParOf" srcId="{9E2295EA-2875-43BA-8DE9-4F6B04B22E0A}" destId="{57547A0E-E734-47F7-975E-DED135CB4603}" srcOrd="0" destOrd="0" presId="urn:microsoft.com/office/officeart/2018/2/layout/IconLabelList"/>
    <dgm:cxn modelId="{F0A1BC35-8ECA-4B91-BD69-6E4CD922E259}" type="presParOf" srcId="{9E2295EA-2875-43BA-8DE9-4F6B04B22E0A}" destId="{7C425B21-F880-46A4-8C92-DEBF55C2FD84}" srcOrd="1" destOrd="0" presId="urn:microsoft.com/office/officeart/2018/2/layout/IconLabelList"/>
    <dgm:cxn modelId="{ED9A3685-22AF-46F1-9B51-9CBDD8F7637A}" type="presParOf" srcId="{9E2295EA-2875-43BA-8DE9-4F6B04B22E0A}" destId="{A97AC0DE-0E15-4097-963F-935EF4501DA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903E41-81DD-49B9-9D34-6906EA0E9485}">
      <dsp:nvSpPr>
        <dsp:cNvPr id="0" name=""/>
        <dsp:cNvSpPr/>
      </dsp:nvSpPr>
      <dsp:spPr>
        <a:xfrm>
          <a:off x="0" y="304"/>
          <a:ext cx="5258400" cy="7129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5BA3EE-3949-4531-BC12-2781AE05CC9D}">
      <dsp:nvSpPr>
        <dsp:cNvPr id="0" name=""/>
        <dsp:cNvSpPr/>
      </dsp:nvSpPr>
      <dsp:spPr>
        <a:xfrm>
          <a:off x="215663" y="160715"/>
          <a:ext cx="392116" cy="39211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CF679E-8126-4C79-913A-98C12E76E03F}">
      <dsp:nvSpPr>
        <dsp:cNvPr id="0" name=""/>
        <dsp:cNvSpPr/>
      </dsp:nvSpPr>
      <dsp:spPr>
        <a:xfrm>
          <a:off x="823443" y="304"/>
          <a:ext cx="4434956" cy="712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453" tIns="75453" rIns="75453" bIns="7545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/>
            <a:t>Outcome 1:</a:t>
          </a:r>
          <a:r>
            <a:rPr lang="en-US" sz="1400" b="0" i="0" kern="1200"/>
            <a:t> Applying advanced Data Analytics and Machine Learning to real-world aerospace challenges</a:t>
          </a:r>
          <a:endParaRPr lang="en-US" sz="1400" kern="1200"/>
        </a:p>
      </dsp:txBody>
      <dsp:txXfrm>
        <a:off x="823443" y="304"/>
        <a:ext cx="4434956" cy="712938"/>
      </dsp:txXfrm>
    </dsp:sp>
    <dsp:sp modelId="{AF204C76-1980-4D36-B41C-C9944AE55494}">
      <dsp:nvSpPr>
        <dsp:cNvPr id="0" name=""/>
        <dsp:cNvSpPr/>
      </dsp:nvSpPr>
      <dsp:spPr>
        <a:xfrm>
          <a:off x="0" y="891477"/>
          <a:ext cx="5258400" cy="7129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2C9A67-D004-4C52-BE76-DB1417ACDF94}">
      <dsp:nvSpPr>
        <dsp:cNvPr id="0" name=""/>
        <dsp:cNvSpPr/>
      </dsp:nvSpPr>
      <dsp:spPr>
        <a:xfrm>
          <a:off x="215663" y="1051888"/>
          <a:ext cx="392116" cy="39211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3A6956-2FDB-4BB2-A9C6-4551CDA09BC8}">
      <dsp:nvSpPr>
        <dsp:cNvPr id="0" name=""/>
        <dsp:cNvSpPr/>
      </dsp:nvSpPr>
      <dsp:spPr>
        <a:xfrm>
          <a:off x="823443" y="891477"/>
          <a:ext cx="4434956" cy="712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453" tIns="75453" rIns="75453" bIns="7545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/>
            <a:t>Outcome 2:</a:t>
          </a:r>
          <a:r>
            <a:rPr lang="en-US" sz="1400" b="0" i="0" kern="1200"/>
            <a:t> Demonstrating technical proficiency in </a:t>
          </a:r>
          <a:r>
            <a:rPr lang="en-US" sz="1400" b="1" i="0" kern="1200"/>
            <a:t>Python</a:t>
          </a:r>
          <a:r>
            <a:rPr lang="en-US" sz="1400" b="0" i="0" kern="1200"/>
            <a:t> (predictive modeling) and </a:t>
          </a:r>
          <a:r>
            <a:rPr lang="en-US" sz="1400" b="1" i="0" kern="1200"/>
            <a:t>SQL</a:t>
          </a:r>
          <a:r>
            <a:rPr lang="en-US" sz="1400" b="0" i="0" kern="1200"/>
            <a:t> (data preparation)</a:t>
          </a:r>
          <a:endParaRPr lang="en-US" sz="1400" kern="1200"/>
        </a:p>
      </dsp:txBody>
      <dsp:txXfrm>
        <a:off x="823443" y="891477"/>
        <a:ext cx="4434956" cy="712938"/>
      </dsp:txXfrm>
    </dsp:sp>
    <dsp:sp modelId="{6B08A0DD-CC56-4E9A-A3A3-854F2B4D737D}">
      <dsp:nvSpPr>
        <dsp:cNvPr id="0" name=""/>
        <dsp:cNvSpPr/>
      </dsp:nvSpPr>
      <dsp:spPr>
        <a:xfrm>
          <a:off x="0" y="1782650"/>
          <a:ext cx="5258400" cy="7129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8BFA26-F463-41D5-A072-3238241F50EC}">
      <dsp:nvSpPr>
        <dsp:cNvPr id="0" name=""/>
        <dsp:cNvSpPr/>
      </dsp:nvSpPr>
      <dsp:spPr>
        <a:xfrm>
          <a:off x="215663" y="1943062"/>
          <a:ext cx="392116" cy="39211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D61ACF-D42D-40B0-BC0C-91C2153FFA43}">
      <dsp:nvSpPr>
        <dsp:cNvPr id="0" name=""/>
        <dsp:cNvSpPr/>
      </dsp:nvSpPr>
      <dsp:spPr>
        <a:xfrm>
          <a:off x="823443" y="1782650"/>
          <a:ext cx="4434956" cy="712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453" tIns="75453" rIns="75453" bIns="7545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/>
            <a:t>Outcome 3:</a:t>
          </a:r>
          <a:r>
            <a:rPr lang="en-US" sz="1400" b="0" i="0" kern="1200"/>
            <a:t> Defending technical decisions and findings in a professional setting</a:t>
          </a:r>
          <a:endParaRPr lang="en-US" sz="1400" kern="1200"/>
        </a:p>
      </dsp:txBody>
      <dsp:txXfrm>
        <a:off x="823443" y="1782650"/>
        <a:ext cx="4434956" cy="7129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C3564D-3677-4825-B877-072AF1BAB3CD}">
      <dsp:nvSpPr>
        <dsp:cNvPr id="0" name=""/>
        <dsp:cNvSpPr/>
      </dsp:nvSpPr>
      <dsp:spPr>
        <a:xfrm>
          <a:off x="434043" y="848183"/>
          <a:ext cx="705585" cy="7055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8FBA39-AFDB-4FFB-99E1-6912163F9599}">
      <dsp:nvSpPr>
        <dsp:cNvPr id="0" name=""/>
        <dsp:cNvSpPr/>
      </dsp:nvSpPr>
      <dsp:spPr>
        <a:xfrm>
          <a:off x="2852" y="1789036"/>
          <a:ext cx="1567968" cy="62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/>
            <a:t>Professional Growth:</a:t>
          </a:r>
          <a:r>
            <a:rPr lang="en-US" sz="1100" b="0" i="0" kern="1200"/>
            <a:t> Bridges the gap between data science and industry solutions</a:t>
          </a:r>
          <a:endParaRPr lang="en-US" sz="1100" kern="1200"/>
        </a:p>
      </dsp:txBody>
      <dsp:txXfrm>
        <a:off x="2852" y="1789036"/>
        <a:ext cx="1567968" cy="627187"/>
      </dsp:txXfrm>
    </dsp:sp>
    <dsp:sp modelId="{0FD9FD9E-4DE3-4952-9586-830EBE21D130}">
      <dsp:nvSpPr>
        <dsp:cNvPr id="0" name=""/>
        <dsp:cNvSpPr/>
      </dsp:nvSpPr>
      <dsp:spPr>
        <a:xfrm>
          <a:off x="2276407" y="848183"/>
          <a:ext cx="705585" cy="7055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813B18-7FD4-4AF5-AD65-BA6166E454EE}">
      <dsp:nvSpPr>
        <dsp:cNvPr id="0" name=""/>
        <dsp:cNvSpPr/>
      </dsp:nvSpPr>
      <dsp:spPr>
        <a:xfrm>
          <a:off x="1845215" y="1789036"/>
          <a:ext cx="1567968" cy="62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/>
            <a:t>Career Goal:</a:t>
          </a:r>
          <a:r>
            <a:rPr lang="en-US" sz="1100" b="0" i="0" kern="1200"/>
            <a:t> Aiming to transition into a Data Analytics role at </a:t>
          </a:r>
          <a:r>
            <a:rPr lang="en-US" sz="1100" b="1" i="0" kern="1200"/>
            <a:t>Boeing</a:t>
          </a:r>
          <a:endParaRPr lang="en-US" sz="1100" kern="1200"/>
        </a:p>
      </dsp:txBody>
      <dsp:txXfrm>
        <a:off x="1845215" y="1789036"/>
        <a:ext cx="1567968" cy="627187"/>
      </dsp:txXfrm>
    </dsp:sp>
    <dsp:sp modelId="{57547A0E-E734-47F7-975E-DED135CB4603}">
      <dsp:nvSpPr>
        <dsp:cNvPr id="0" name=""/>
        <dsp:cNvSpPr/>
      </dsp:nvSpPr>
      <dsp:spPr>
        <a:xfrm>
          <a:off x="4118770" y="848183"/>
          <a:ext cx="705585" cy="70558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7AC0DE-0E15-4097-963F-935EF4501DAC}">
      <dsp:nvSpPr>
        <dsp:cNvPr id="0" name=""/>
        <dsp:cNvSpPr/>
      </dsp:nvSpPr>
      <dsp:spPr>
        <a:xfrm>
          <a:off x="3687578" y="1789036"/>
          <a:ext cx="1567968" cy="62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/>
            <a:t>Portfolio Building:</a:t>
          </a:r>
          <a:r>
            <a:rPr lang="en-US" sz="1100" b="0" i="0" kern="1200"/>
            <a:t> Developing a "career-ready" project to defend during high-level job interviews</a:t>
          </a:r>
          <a:endParaRPr lang="en-US" sz="1100" kern="1200"/>
        </a:p>
      </dsp:txBody>
      <dsp:txXfrm>
        <a:off x="3687578" y="1789036"/>
        <a:ext cx="1567968" cy="6271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CityU</a:t>
            </a:r>
            <a:r>
              <a:rPr lang="en-US" baseline="0" dirty="0"/>
              <a:t> logo cannot be deleted.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aseline="0" dirty="0"/>
              <a:t>Design can be modified for </a:t>
            </a:r>
            <a:r>
              <a:rPr lang="en-US" baseline="0"/>
              <a:t>your preference.</a:t>
            </a:r>
            <a:endParaRPr lang="en-US" baseline="0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examines instability in aerospace supply chains caused by reactive planning and limited supplier visibility.</a:t>
            </a:r>
          </a:p>
          <a:p>
            <a:r>
              <a:rPr lang="en-US" dirty="0"/>
              <a:t>Research showed that traditional models relying on historical averages have contributed to lead-time volatility and production delays.</a:t>
            </a:r>
          </a:p>
          <a:p>
            <a:r>
              <a:rPr lang="en-US"/>
              <a:t>My capstone proposes a predictive analytics framework that uses supplier and logistics data to forecast potential disruptions before they affect assembly operations.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443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tabLst/>
              <a:defRPr/>
            </a:pPr>
            <a:r>
              <a:rPr lang="en-US" b="1" i="0" dirty="0"/>
              <a:t>The Gap:</a:t>
            </a:r>
            <a:r>
              <a:rPr lang="en-US" b="0" i="0" dirty="0"/>
              <a:t> A mismatch between "as-is" reactive logistics and "to-be" proactive resilience</a:t>
            </a:r>
            <a:endParaRPr lang="en-US" dirty="0"/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tabLst/>
              <a:defRPr/>
            </a:pPr>
            <a:r>
              <a:rPr lang="en-US" b="1" i="0" dirty="0"/>
              <a:t>Current Issue:</a:t>
            </a:r>
            <a:r>
              <a:rPr lang="en-US" b="0" i="0" dirty="0"/>
              <a:t> Reliance on historical averages fails to account for real-time geopolitical and logistical shifts</a:t>
            </a:r>
            <a:endParaRPr lang="en-US" dirty="0"/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tabLst/>
              <a:defRPr/>
            </a:pPr>
            <a:r>
              <a:rPr lang="en-US" b="1" i="0" dirty="0"/>
              <a:t>Impact:</a:t>
            </a:r>
            <a:r>
              <a:rPr lang="en-US" b="0" i="0" dirty="0"/>
              <a:t> Lead-time volatility results in assembly line stoppages and millions in damages</a:t>
            </a:r>
            <a:endParaRPr lang="en-US" dirty="0"/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tabLst/>
              <a:defRPr/>
            </a:pPr>
            <a:r>
              <a:rPr lang="en-US" b="1" i="0" dirty="0"/>
              <a:t>Proposed Solution:</a:t>
            </a:r>
            <a:r>
              <a:rPr lang="en-US" b="0" i="0" dirty="0"/>
              <a:t> Accurate machine learning models to reduce downtime by an estimated </a:t>
            </a:r>
            <a:r>
              <a:rPr lang="en-US" b="1" i="0" dirty="0"/>
              <a:t>10%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4663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tabLst/>
              <a:defRPr/>
            </a:pPr>
            <a:r>
              <a:rPr lang="en-US" dirty="0"/>
              <a:t>This slide introduces the technical direction of the project. The goal is not just to analyze delays but to forecast risk before disruptions impact production.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618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architecture follows a modular pipeline. Each stage builds toward generating interpretable risk indicators.</a:t>
            </a:r>
          </a:p>
        </p:txBody>
      </p:sp>
    </p:spTree>
    <p:extLst>
      <p:ext uri="{BB962C8B-B14F-4D97-AF65-F5344CB8AC3E}">
        <p14:creationId xmlns:p14="http://schemas.microsoft.com/office/powerpoint/2010/main" val="22692671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Implementation is iterative. Models will be tested and refined before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413881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Databricks provides the modeling environment. Power BI converts outputs into operational dashboards. </a:t>
            </a:r>
            <a:r>
              <a:rPr lang="en-US" dirty="0" err="1"/>
              <a:t>MLflow</a:t>
            </a:r>
            <a:r>
              <a:rPr lang="en-US" dirty="0"/>
              <a:t> and Delta Lake may be used for governance and reproducibility.</a:t>
            </a:r>
          </a:p>
        </p:txBody>
      </p:sp>
    </p:spTree>
    <p:extLst>
      <p:ext uri="{BB962C8B-B14F-4D97-AF65-F5344CB8AC3E}">
        <p14:creationId xmlns:p14="http://schemas.microsoft.com/office/powerpoint/2010/main" val="313648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688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182385" y="0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4F7D0F-FE46-C945-87EB-0FD3D35652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243277"/>
            <a:ext cx="914400" cy="914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88954610"/>
      </p:ext>
    </p:extLst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5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63" name="Google Shape;63;p5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64" name="Google Shape;64;p5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65" name="Google Shape;65;p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67" name="Google Shape;67;p5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70" name="Google Shape;70;p5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71" name="Google Shape;71;p5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2" name="Google Shape;72;p5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76" name="Google Shape;76;p5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8" name="Google Shape;78;p5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▰"/>
              <a:defRPr sz="2800"/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SzPts val="2400"/>
              <a:buChar char="▻"/>
              <a:defRPr/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8F7DB91-7595-E64B-B07D-A30575B2CB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25339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644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tiff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B48145-9848-2F4E-A51E-1AF5F3EC5EA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4243277"/>
            <a:ext cx="914400" cy="9144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59" r:id="rId3"/>
  </p:sldLayoutIdLst>
  <p:transition>
    <p:fade thruBlk="1"/>
  </p:transition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kQuik559/Winter-2025-CS-497-Capstone-Project-Proposal-Enhancing-Aerospace-Supply-Chain-Resilience.gi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155576" y="1177119"/>
            <a:ext cx="7193492" cy="93020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400" dirty="0"/>
              <a:t>Enhancing Aerospace Supply Chain Resilience: A Predictive Analytics Approach to Mitigate Lead-Time Volatility</a:t>
            </a:r>
          </a:p>
        </p:txBody>
      </p:sp>
      <p:sp>
        <p:nvSpPr>
          <p:cNvPr id="4" name="AutoShape 8" descr="Image result for city university of seattle logo we are all about the finish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Google Shape;214;p13"/>
          <p:cNvSpPr txBox="1">
            <a:spLocks/>
          </p:cNvSpPr>
          <p:nvPr/>
        </p:nvSpPr>
        <p:spPr>
          <a:xfrm>
            <a:off x="12422" y="2107322"/>
            <a:ext cx="6404993" cy="1835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7620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Parmbir Singh</a:t>
            </a:r>
            <a:endParaRPr lang="en-US" dirty="0">
              <a:solidFill>
                <a:schemeClr val="bg1"/>
              </a:solidFill>
            </a:endParaRPr>
          </a:p>
          <a:p>
            <a:pPr marL="7620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Week # 4</a:t>
            </a:r>
            <a:endParaRPr lang="en-US" dirty="0">
              <a:solidFill>
                <a:schemeClr val="bg1"/>
              </a:solidFill>
            </a:endParaRPr>
          </a:p>
          <a:p>
            <a:pPr marL="7620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Course 497 Technology/Computing Capstone</a:t>
            </a:r>
          </a:p>
          <a:p>
            <a:pPr marL="7620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2026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BS in Computer Science</a:t>
            </a:r>
            <a:endParaRPr lang="en-US" dirty="0">
              <a:solidFill>
                <a:schemeClr val="bg1"/>
              </a:solidFill>
            </a:endParaRPr>
          </a:p>
          <a:p>
            <a:pPr marL="76200" indent="0" algn="ctr">
              <a:buNone/>
            </a:pPr>
            <a:r>
              <a:rPr lang="en-US" sz="1500" dirty="0">
                <a:solidFill>
                  <a:schemeClr val="bg1"/>
                </a:solidFill>
              </a:rPr>
              <a:t>School of Technology &amp; Computing (STC)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18941" y="1297222"/>
            <a:ext cx="1911792" cy="254905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9D2A3D-D013-0613-E2C5-08902924B9C2}"/>
              </a:ext>
            </a:extLst>
          </p:cNvPr>
          <p:cNvSpPr txBox="1">
            <a:spLocks/>
          </p:cNvSpPr>
          <p:nvPr/>
        </p:nvSpPr>
        <p:spPr>
          <a:xfrm>
            <a:off x="7612138" y="4278947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1</a:t>
            </a:fld>
            <a:endParaRPr lang="e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5" y="1327349"/>
            <a:ext cx="3836747" cy="3554750"/>
          </a:xfrm>
        </p:spPr>
        <p:txBody>
          <a:bodyPr/>
          <a:lstStyle/>
          <a:p>
            <a:r>
              <a:rPr lang="en-US" dirty="0"/>
              <a:t>Problem Statement</a:t>
            </a:r>
          </a:p>
          <a:p>
            <a:r>
              <a:rPr lang="en-US" dirty="0"/>
              <a:t>Motivation</a:t>
            </a:r>
          </a:p>
          <a:p>
            <a:r>
              <a:rPr lang="en-US" dirty="0"/>
              <a:t>Background</a:t>
            </a:r>
          </a:p>
          <a:p>
            <a:r>
              <a:rPr lang="en-US" dirty="0"/>
              <a:t>Related Work</a:t>
            </a:r>
          </a:p>
          <a:p>
            <a:r>
              <a:rPr lang="en-US" dirty="0"/>
              <a:t>Approach</a:t>
            </a:r>
          </a:p>
          <a:p>
            <a:r>
              <a:rPr lang="en-US" dirty="0"/>
              <a:t>Design</a:t>
            </a:r>
          </a:p>
          <a:p>
            <a:r>
              <a:rPr lang="en-US" dirty="0"/>
              <a:t>Implementation</a:t>
            </a:r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4651022" y="1327349"/>
            <a:ext cx="3836747" cy="3554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8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r>
              <a:rPr lang="en-US" dirty="0"/>
              <a:t>Data Collection</a:t>
            </a:r>
          </a:p>
          <a:p>
            <a:r>
              <a:rPr lang="en-US" dirty="0"/>
              <a:t>Data Analysis</a:t>
            </a:r>
          </a:p>
          <a:p>
            <a:r>
              <a:rPr lang="en-US" dirty="0"/>
              <a:t>Findings</a:t>
            </a:r>
          </a:p>
          <a:p>
            <a:r>
              <a:rPr lang="en-US" dirty="0"/>
              <a:t>Conclusions</a:t>
            </a:r>
          </a:p>
          <a:p>
            <a:r>
              <a:rPr lang="en-US" dirty="0"/>
              <a:t>Future Work</a:t>
            </a:r>
          </a:p>
          <a:p>
            <a:r>
              <a:rPr lang="en-US" dirty="0"/>
              <a:t>Key References</a:t>
            </a:r>
          </a:p>
          <a:p>
            <a:r>
              <a:rPr lang="en-US" dirty="0"/>
              <a:t>Q&amp;A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25647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6ACA6-337F-8A33-DFA1-73370A58A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31A40-AE77-5F43-1CA5-E043629DDF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258400" cy="7662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Abstract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6510A733-0BA2-9069-41BE-D59FC3EB75C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3</a:t>
            </a:fld>
            <a:endParaRPr lang="e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0A0362-567C-A958-9107-2737094F0BE3}"/>
              </a:ext>
            </a:extLst>
          </p:cNvPr>
          <p:cNvSpPr txBox="1">
            <a:spLocks/>
          </p:cNvSpPr>
          <p:nvPr/>
        </p:nvSpPr>
        <p:spPr>
          <a:xfrm>
            <a:off x="814275" y="99900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200" b="0" i="0" u="none" strike="noStrike" cap="none" dirty="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</a:t>
            </a:r>
            <a:r>
              <a:rPr lang="en-US" sz="2400" dirty="0"/>
              <a:t>Aerospace supply chains face lead-time volatility due to reactive planning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Limited multi-tier supplier visibility causes production instability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Literature shows outdated models are insufficient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Proposed solution: predictive analytics framework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Goal: shift from reactive response to proactive forecasting</a:t>
            </a:r>
            <a:endParaRPr lang="en-US" sz="2200" b="0" i="0" u="none" strike="noStrike" cap="none" dirty="0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F2AFDBB-D50B-13A0-0E4C-06BEAA578DBD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3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245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FA319-30F6-2FC3-A934-A12EE5B70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14DE5-914D-F92F-D6BD-10B5D849E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258400" cy="7662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Keywords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82F0C6AA-A1AB-8C1B-4764-9AE5596C90EE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4</a:t>
            </a:fld>
            <a:endParaRPr lang="e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3703C-126D-0219-E215-C5E93FA301DE}"/>
              </a:ext>
            </a:extLst>
          </p:cNvPr>
          <p:cNvSpPr txBox="1">
            <a:spLocks/>
          </p:cNvSpPr>
          <p:nvPr/>
        </p:nvSpPr>
        <p:spPr>
          <a:xfrm>
            <a:off x="814275" y="99900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200" b="0" i="0" u="none" strike="noStrike" cap="none" dirty="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</a:t>
            </a:r>
            <a:r>
              <a:rPr lang="en-US" sz="2400" dirty="0"/>
              <a:t>Aerospace Supply Chain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Predictive Analytics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Lead-Time Volatility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Machine Learning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Supply Chain Risk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Digital Supply Chain</a:t>
            </a:r>
            <a:endParaRPr lang="en-US" sz="2200" b="0" i="0" u="none" strike="noStrike" cap="none" dirty="0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1393271-0418-12DD-F27D-D5D08BC9FDB5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4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31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258400" cy="7662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/>
              <a:t>Problem Statement</a:t>
            </a:r>
            <a:endParaRPr lang="en-US" sz="4100" dirty="0"/>
          </a:p>
        </p:txBody>
      </p:sp>
      <p:sp>
        <p:nvSpPr>
          <p:cNvPr id="5" name="Slide Number Placeholder 4" hidden="1"/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5</a:t>
            </a:fld>
            <a:endParaRPr lang="en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2D5494C-4B48-A1DB-C0A8-D119F47D3E95}"/>
              </a:ext>
            </a:extLst>
          </p:cNvPr>
          <p:cNvSpPr txBox="1">
            <a:spLocks/>
          </p:cNvSpPr>
          <p:nvPr/>
        </p:nvSpPr>
        <p:spPr>
          <a:xfrm>
            <a:off x="7600415" y="4261361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spcAft>
                <a:spcPts val="600"/>
              </a:spcAft>
            </a:pPr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>
                <a:spcAft>
                  <a:spcPts val="600"/>
                </a:spcAft>
              </a:pPr>
              <a:t>5</a:t>
            </a:fld>
            <a:endParaRPr lang="en">
              <a:solidFill>
                <a:schemeClr val="bg1"/>
              </a:solidFill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BCBDF3E-05E2-6DEA-CE78-FDD2C2433A5E}"/>
              </a:ext>
            </a:extLst>
          </p:cNvPr>
          <p:cNvSpPr txBox="1">
            <a:spLocks/>
          </p:cNvSpPr>
          <p:nvPr/>
        </p:nvSpPr>
        <p:spPr>
          <a:xfrm>
            <a:off x="814275" y="905215"/>
            <a:ext cx="4930269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81000"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800" dirty="0"/>
              <a:t>Aerospace supply chains rely on reactive planning and historical averages.</a:t>
            </a:r>
          </a:p>
          <a:p>
            <a:pPr marL="457200" indent="-381000"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800" dirty="0"/>
              <a:t>Limited supplier visibility causes lead-time volatility.</a:t>
            </a:r>
          </a:p>
          <a:p>
            <a:pPr marL="457200" indent="-381000"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800" dirty="0"/>
              <a:t>Delays in minor components stall entire aircraft production.</a:t>
            </a:r>
            <a:endParaRPr lang="en-US" sz="2800" b="0" i="0" u="none" strike="noStrike" cap="none" dirty="0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3443371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2EF49-0748-2307-855F-9A5E8CA50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40532-02D0-0958-B837-69FC65C75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US" b="1" i="0" u="none" strike="noStrike" cap="none">
                <a:latin typeface="Roboto Condensed"/>
                <a:ea typeface="Roboto Condensed"/>
                <a:cs typeface="Roboto Condensed"/>
                <a:sym typeface="Roboto Condensed"/>
              </a:rPr>
              <a:t>Motivation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D12005D-D578-B267-F08D-A3E46F0D19A5}"/>
              </a:ext>
            </a:extLst>
          </p:cNvPr>
          <p:cNvSpPr txBox="1">
            <a:spLocks/>
          </p:cNvSpPr>
          <p:nvPr/>
        </p:nvSpPr>
        <p:spPr>
          <a:xfrm>
            <a:off x="814275" y="1262873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200" b="0" i="0" u="none" strike="noStrike" cap="none" dirty="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Critical Need: Minor component delays can stall the production of an entire aircraft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200" b="0" i="0" u="none" strike="noStrike" cap="none" dirty="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Academic Driver: Linear supply chain models are obsolete in today's global volatility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200" b="0" i="0" u="none" strike="noStrike" cap="none" dirty="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Business Goal: Creating a scalable framework that converts complex data into practical insights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55F6407A-D521-7108-4904-576CC34F6BB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6</a:t>
            </a:fld>
            <a:endParaRPr lang="en"/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753EC42F-2FEF-BF0F-1011-0CE87C5F202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37379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C3416-FAF6-AFFB-7361-7D35B7591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762EC-CE23-F3A9-D0BF-B23FA63591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258400" cy="7662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Background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398FB18B-A3C3-E76C-B058-82597DE8E370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7</a:t>
            </a:fld>
            <a:endParaRPr lang="e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0DB97-3C2B-DC83-6D62-87A519310BA2}"/>
              </a:ext>
            </a:extLst>
          </p:cNvPr>
          <p:cNvSpPr txBox="1">
            <a:spLocks/>
          </p:cNvSpPr>
          <p:nvPr/>
        </p:nvSpPr>
        <p:spPr>
          <a:xfrm>
            <a:off x="814275" y="99900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200" b="0" i="0" u="none" strike="noStrike" cap="none" dirty="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</a:t>
            </a:r>
            <a:r>
              <a:rPr lang="en-US" sz="2400" dirty="0"/>
              <a:t>Reviewed government, industry, and professional sources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Identified evidence of reactive supply chain practices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Found repeated reports of supplier delays and visibility gaps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Identified emerging use of predictive analytics in aerospace</a:t>
            </a:r>
            <a:endParaRPr lang="en-US" sz="2200" b="0" i="0" u="none" strike="noStrike" cap="none" dirty="0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A658873-3CC8-C4E4-534A-B74BDFD301C2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7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0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7E971-EEB4-8634-9C57-CB9F6688B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C4BA4-DC2F-3AE2-F6EA-0D6AC0C4D0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258400" cy="7662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Background - Evidence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75582989-BC33-0A49-7EF4-DDF960C22EE1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8</a:t>
            </a:fld>
            <a:endParaRPr lang="e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38649-0031-8221-3512-976787D2775C}"/>
              </a:ext>
            </a:extLst>
          </p:cNvPr>
          <p:cNvSpPr txBox="1">
            <a:spLocks/>
          </p:cNvSpPr>
          <p:nvPr/>
        </p:nvSpPr>
        <p:spPr>
          <a:xfrm>
            <a:off x="814275" y="999000"/>
            <a:ext cx="5806658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200" b="0" i="0" u="none" strike="noStrike" cap="none" dirty="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</a:t>
            </a:r>
            <a:r>
              <a:rPr lang="en-US" sz="2400" dirty="0"/>
              <a:t>GAO: limited multi-tier supplier visibility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Leeham: Boeing &amp; Airbus production slowdowns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Reuters: supplier capacity affecting output goals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Industry moving toward predictive tools (Trax, EY)</a:t>
            </a:r>
            <a:endParaRPr lang="en-US" sz="2200" b="0" i="0" u="none" strike="noStrike" cap="none" dirty="0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8968175-69ED-B8DC-262C-7AC1BA8C6898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8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3408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1602C-5CEA-7637-0EEE-836DD7E09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A7DAA-DA2A-4DAF-4CF0-973410C0B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258400" cy="7662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Related Work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A7F5389C-A57C-2651-CA1E-59A1588A40E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9</a:t>
            </a:fld>
            <a:endParaRPr lang="e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89FA2-D837-DFCE-D004-BAB7250FCADA}"/>
              </a:ext>
            </a:extLst>
          </p:cNvPr>
          <p:cNvSpPr txBox="1">
            <a:spLocks/>
          </p:cNvSpPr>
          <p:nvPr/>
        </p:nvSpPr>
        <p:spPr>
          <a:xfrm>
            <a:off x="814275" y="99900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200" b="0" i="0" u="none" strike="noStrike" cap="none" dirty="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</a:t>
            </a:r>
            <a:r>
              <a:rPr lang="en-US" sz="2400" dirty="0"/>
              <a:t>Outdated reactive aerospace supply chains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Lead-time volatility and production delays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Supplier capacity constraints across tiers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Predictive analytics as emerging solution</a:t>
            </a:r>
            <a:endParaRPr lang="en-US" sz="2400" b="0" i="0" u="none" strike="noStrike" cap="none" dirty="0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086FC16-40EA-83A1-77A8-97B881189444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9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0754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25174-9352-D5ED-C0D1-1836F1817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1A7A3-F6D0-7DB4-F90F-0118CB956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258400" cy="766200"/>
          </a:xfrm>
        </p:spPr>
        <p:txBody>
          <a:bodyPr wrap="square"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Related Word As-Is State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720FE0AB-7B49-90A9-8D83-E5509E87069B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10</a:t>
            </a:fld>
            <a:endParaRPr lang="e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B206C-BFA5-F967-7734-81C7538596F5}"/>
              </a:ext>
            </a:extLst>
          </p:cNvPr>
          <p:cNvSpPr txBox="1">
            <a:spLocks/>
          </p:cNvSpPr>
          <p:nvPr/>
        </p:nvSpPr>
        <p:spPr>
          <a:xfrm>
            <a:off x="814275" y="999000"/>
            <a:ext cx="5848992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200" b="0" i="0" u="none" strike="noStrike" cap="none" dirty="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</a:t>
            </a:r>
            <a:r>
              <a:rPr lang="en-US" sz="2400" dirty="0"/>
              <a:t>Reactive problem solving instead of proactive planning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Component shortages affecting schedules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Production ramp-ups delayed repeatedly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Airlines adjusting delivery expectations</a:t>
            </a:r>
            <a:endParaRPr lang="en-US" sz="2200" b="0" i="0" u="none" strike="noStrike" cap="none" dirty="0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5A83C98-5723-5762-C8A1-E0F3DDBCC1D7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10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447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DE335-7828-5588-1781-66D1D9966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D410F-FE94-E8F7-5D70-BAF229B33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493392" cy="766200"/>
          </a:xfrm>
        </p:spPr>
        <p:txBody>
          <a:bodyPr wrap="square"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Related Work – To-Be State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3574EB96-0E7F-A33F-64B3-1CDB0D6C0818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11</a:t>
            </a:fld>
            <a:endParaRPr lang="e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91C65-2952-E15E-B98C-A8201CEF6F37}"/>
              </a:ext>
            </a:extLst>
          </p:cNvPr>
          <p:cNvSpPr txBox="1">
            <a:spLocks/>
          </p:cNvSpPr>
          <p:nvPr/>
        </p:nvSpPr>
        <p:spPr>
          <a:xfrm>
            <a:off x="746542" y="999000"/>
            <a:ext cx="5984458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200" b="0" i="0" u="none" strike="noStrike" cap="none" dirty="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</a:t>
            </a:r>
            <a:r>
              <a:rPr lang="en-US" sz="2400" dirty="0"/>
              <a:t>Machine learning for supplier and inventory forecasting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Digital twins for production scenario modeling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Data-driven visibility across supply networks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Shift from reactive to predictive decision-making</a:t>
            </a:r>
            <a:endParaRPr lang="en-US" sz="2200" b="0" i="0" u="none" strike="noStrike" cap="none" dirty="0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BAC5122-1B36-F660-60C2-02FA2D04E294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11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4034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D2A62-0961-B2C5-551E-322A90F1B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1A70C-CC80-139A-A654-F52B2991BA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882858" cy="766200"/>
          </a:xfrm>
        </p:spPr>
        <p:txBody>
          <a:bodyPr wrap="square"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Related Work – Key Takeaway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4A0B25B0-25D6-2D0D-CEFC-0E1E0321FF99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12</a:t>
            </a:fld>
            <a:endParaRPr lang="e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F1F95-6981-F490-35AB-23291B9DFD1B}"/>
              </a:ext>
            </a:extLst>
          </p:cNvPr>
          <p:cNvSpPr txBox="1">
            <a:spLocks/>
          </p:cNvSpPr>
          <p:nvPr/>
        </p:nvSpPr>
        <p:spPr>
          <a:xfrm>
            <a:off x="814275" y="99900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Evidence shows aerospace supply chains are fragile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Root cause is lack of predictive visibility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Literature supports analytics-driven transformation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CAFBF0-9F4C-2338-2159-365203E22595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12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506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B915E-2C50-CCDD-54D2-E1EA44475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A27CB-92FD-0775-02C3-73BB148474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258400" cy="7662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Approach Overview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B22DEC09-5DAF-D36C-299D-9A1E4579026C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13</a:t>
            </a:fld>
            <a:endParaRPr lang="e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14E73-D425-7011-6D24-4BB4D42D07DF}"/>
              </a:ext>
            </a:extLst>
          </p:cNvPr>
          <p:cNvSpPr txBox="1">
            <a:spLocks/>
          </p:cNvSpPr>
          <p:nvPr/>
        </p:nvSpPr>
        <p:spPr>
          <a:xfrm>
            <a:off x="814275" y="999000"/>
            <a:ext cx="5662725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200" b="0" i="0" u="none" strike="noStrike" cap="none" dirty="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</a:t>
            </a:r>
            <a:r>
              <a:rPr lang="en-US" sz="2400" dirty="0"/>
              <a:t>Develop predictive analytics framework for supplier risk detection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Use historical lead-time data to identify volatility patterns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Apply machine learning models for disruption forecasting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Generate supplier risk scores to support planning decisions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Shift from reactive mitigation to proactive forecasting</a:t>
            </a:r>
            <a:endParaRPr lang="en-US" sz="2200" b="0" i="0" u="none" strike="noStrike" cap="none" dirty="0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EBAD5DF-6220-2A9B-BF51-84A4C8BE5805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13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816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A5013-CECB-A902-7B8B-014D9FFFB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9531D-8107-38FB-7F88-20A64E9DDC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258400" cy="7662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System Design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8172E217-68B1-0B4E-BCE5-6A6C43A2CDB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14</a:t>
            </a:fld>
            <a:endParaRPr lang="e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C376E-D656-D739-63DF-4A55357FE295}"/>
              </a:ext>
            </a:extLst>
          </p:cNvPr>
          <p:cNvSpPr txBox="1">
            <a:spLocks/>
          </p:cNvSpPr>
          <p:nvPr/>
        </p:nvSpPr>
        <p:spPr>
          <a:xfrm>
            <a:off x="814275" y="1158775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Data Ingestion</a:t>
            </a:r>
            <a:br>
              <a:rPr lang="en-US" sz="2400" dirty="0"/>
            </a:br>
            <a:r>
              <a:rPr lang="en-US" sz="2400" dirty="0"/>
              <a:t>	Supplier delivery history</a:t>
            </a:r>
            <a:br>
              <a:rPr lang="en-US" sz="2400" dirty="0"/>
            </a:br>
            <a:r>
              <a:rPr lang="en-US" sz="2400" dirty="0"/>
              <a:t>	Lead-time performance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Data Processing</a:t>
            </a:r>
            <a:br>
              <a:rPr lang="en-US" sz="2400" dirty="0"/>
            </a:br>
            <a:r>
              <a:rPr lang="en-US" sz="2400" dirty="0"/>
              <a:t>	Cleaning &amp; normalization</a:t>
            </a:r>
            <a:br>
              <a:rPr lang="en-US" sz="2400" dirty="0"/>
            </a:br>
            <a:r>
              <a:rPr lang="en-US" sz="2400" dirty="0"/>
              <a:t>	Feature engineering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Predictive Modeling</a:t>
            </a:r>
            <a:br>
              <a:rPr lang="en-US" sz="2400" dirty="0"/>
            </a:br>
            <a:r>
              <a:rPr lang="en-US" sz="2400" dirty="0"/>
              <a:t>	Baseline statistical models</a:t>
            </a:r>
            <a:br>
              <a:rPr lang="en-US" sz="2400" dirty="0"/>
            </a:br>
            <a:r>
              <a:rPr lang="en-US" sz="2400" dirty="0"/>
              <a:t>	Machine learning forecasting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Risk Output</a:t>
            </a:r>
            <a:br>
              <a:rPr lang="en-US" sz="2400" dirty="0"/>
            </a:br>
            <a:r>
              <a:rPr lang="en-US" sz="2400" dirty="0"/>
              <a:t>	Supplier risk scores</a:t>
            </a:r>
            <a:br>
              <a:rPr lang="en-US" sz="2400" dirty="0"/>
            </a:br>
            <a:r>
              <a:rPr lang="en-US" sz="2400" dirty="0"/>
              <a:t>	Lead-time volatility indicators</a:t>
            </a:r>
          </a:p>
          <a:p>
            <a:pPr marL="762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</a:pPr>
            <a:endParaRPr lang="en-US" sz="2200" b="0" i="0" u="none" strike="noStrike" cap="none" dirty="0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FB997D0-6745-3072-4326-EDC9F39F47CA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14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617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0519E-ECED-E61A-90D8-012DF4AA3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E7BC0-FD65-0783-677C-297D5D6252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258400" cy="7662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Implementation Plan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F11CB65C-7AA1-62D4-E047-204E44B74AF0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15</a:t>
            </a:fld>
            <a:endParaRPr lang="e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E7E44-4BC6-20FF-7229-A3A9B54D44E8}"/>
              </a:ext>
            </a:extLst>
          </p:cNvPr>
          <p:cNvSpPr txBox="1">
            <a:spLocks/>
          </p:cNvSpPr>
          <p:nvPr/>
        </p:nvSpPr>
        <p:spPr>
          <a:xfrm>
            <a:off x="814275" y="1261938"/>
            <a:ext cx="6306193" cy="29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dirty="0"/>
              <a:t>Phase 1</a:t>
            </a:r>
          </a:p>
          <a:p>
            <a:r>
              <a:rPr lang="en-US" sz="2400" dirty="0"/>
              <a:t>	Develop representative supplier dataset</a:t>
            </a:r>
          </a:p>
          <a:p>
            <a:r>
              <a:rPr lang="en-US" sz="2400" dirty="0"/>
              <a:t>	Perform exploratory data analysis (EDA)</a:t>
            </a:r>
          </a:p>
          <a:p>
            <a:r>
              <a:rPr lang="en-US" sz="2400" dirty="0"/>
              <a:t>Phase 2</a:t>
            </a:r>
          </a:p>
          <a:p>
            <a:r>
              <a:rPr lang="en-US" sz="2400" dirty="0"/>
              <a:t>	Build baseline forecasting models</a:t>
            </a:r>
          </a:p>
          <a:p>
            <a:r>
              <a:rPr lang="en-US" sz="2400" dirty="0"/>
              <a:t>	Evaluate predictive performance</a:t>
            </a:r>
          </a:p>
          <a:p>
            <a:r>
              <a:rPr lang="en-US" sz="2400" dirty="0"/>
              <a:t>Phase 3</a:t>
            </a:r>
          </a:p>
          <a:p>
            <a:r>
              <a:rPr lang="en-US" sz="2400" dirty="0"/>
              <a:t>	Implement ML models</a:t>
            </a:r>
          </a:p>
          <a:p>
            <a:r>
              <a:rPr lang="en-US" sz="2400" dirty="0"/>
              <a:t>	Compare accuracy &amp; refine</a:t>
            </a:r>
          </a:p>
          <a:p>
            <a:r>
              <a:rPr lang="en-US" sz="2400" dirty="0"/>
              <a:t>Phase 4</a:t>
            </a:r>
          </a:p>
          <a:p>
            <a:r>
              <a:rPr lang="en-US" sz="2400" dirty="0"/>
              <a:t>	Deploy outputs to reporting dashboard</a:t>
            </a:r>
          </a:p>
          <a:p>
            <a:pPr marL="762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</a:pPr>
            <a:endParaRPr lang="en-US" sz="2200" b="0" i="0" u="none" strike="noStrike" cap="none" dirty="0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A09EE12-80D1-A6E8-1B5C-893626CC524C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15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858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873C3-76C1-D8DB-4848-F8B4F3F79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0E03F-01E3-A60B-EFE8-033C66C08D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258400" cy="7662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Technologies Used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440E61FE-4AA7-E91C-5ABA-0ED2DC4C920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16</a:t>
            </a:fld>
            <a:endParaRPr lang="e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02F01-015D-B2F5-3FC1-783EEB307A6A}"/>
              </a:ext>
            </a:extLst>
          </p:cNvPr>
          <p:cNvSpPr txBox="1">
            <a:spLocks/>
          </p:cNvSpPr>
          <p:nvPr/>
        </p:nvSpPr>
        <p:spPr>
          <a:xfrm>
            <a:off x="814275" y="1261938"/>
            <a:ext cx="5781258" cy="2869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dirty="0"/>
              <a:t>Primary Stack</a:t>
            </a:r>
          </a:p>
          <a:p>
            <a:r>
              <a:rPr lang="en-US" sz="2400" dirty="0"/>
              <a:t>	Databricks (Python notebooks)</a:t>
            </a:r>
          </a:p>
          <a:p>
            <a:r>
              <a:rPr lang="en-US" sz="2400" dirty="0"/>
              <a:t>	Power BI (dashboard &amp; visualization)</a:t>
            </a:r>
          </a:p>
          <a:p>
            <a:r>
              <a:rPr lang="en-US" sz="2400" dirty="0"/>
              <a:t>	GitHub (version control &amp; 	documentation)</a:t>
            </a:r>
          </a:p>
          <a:p>
            <a:r>
              <a:rPr lang="en-US" sz="2400" dirty="0"/>
              <a:t>Optional Enhancements</a:t>
            </a:r>
          </a:p>
          <a:p>
            <a:r>
              <a:rPr lang="en-US" sz="2400" dirty="0"/>
              <a:t>	Delta Lake (curated datasets &amp; model 	outputs)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MLflow</a:t>
            </a:r>
            <a:r>
              <a:rPr lang="en-US" sz="2400" dirty="0"/>
              <a:t> (experiment tracking &amp; model 	evaluation)</a:t>
            </a:r>
          </a:p>
          <a:p>
            <a:pPr marL="762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</a:pPr>
            <a:endParaRPr lang="en-US" sz="2200" b="0" i="0" u="none" strike="noStrike" cap="none" dirty="0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90F0319-8C03-862A-CDF1-B03783C4BACA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16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713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7A258-AF9B-A47F-C6BD-32F213244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FE3B3-222D-F6FA-C9C2-B715060FB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258400" cy="766200"/>
          </a:xfrm>
        </p:spPr>
        <p:txBody>
          <a:bodyPr wrap="square"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Data Collection</a:t>
            </a:r>
            <a:endParaRPr lang="en-US" sz="4100" dirty="0"/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A29807D4-E8FC-0AF4-C5C2-0E3EACF0181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17</a:t>
            </a:fld>
            <a:endParaRPr lang="e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3183F-4CB5-D274-51BC-A9575FE1BA2A}"/>
              </a:ext>
            </a:extLst>
          </p:cNvPr>
          <p:cNvSpPr txBox="1">
            <a:spLocks/>
          </p:cNvSpPr>
          <p:nvPr/>
        </p:nvSpPr>
        <p:spPr>
          <a:xfrm>
            <a:off x="814275" y="1158775"/>
            <a:ext cx="5535725" cy="2989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dirty="0"/>
              <a:t>Data Sources (Simulated / Structured Sample Data)</a:t>
            </a:r>
          </a:p>
          <a:p>
            <a:r>
              <a:rPr lang="en-US" sz="2400" dirty="0"/>
              <a:t>	Supplier delivery timestamps</a:t>
            </a:r>
          </a:p>
          <a:p>
            <a:r>
              <a:rPr lang="en-US" sz="2400" dirty="0"/>
              <a:t>	Historical lead-time records</a:t>
            </a:r>
          </a:p>
          <a:p>
            <a:r>
              <a:rPr lang="en-US" sz="2400" dirty="0"/>
              <a:t>	Delay frequency indicators</a:t>
            </a:r>
          </a:p>
          <a:p>
            <a:r>
              <a:rPr lang="en-US" sz="2400" dirty="0"/>
              <a:t>	Production scheduling metrics</a:t>
            </a:r>
          </a:p>
          <a:p>
            <a:r>
              <a:rPr lang="en-US" sz="2400" dirty="0"/>
              <a:t>Goal</a:t>
            </a:r>
          </a:p>
          <a:p>
            <a:r>
              <a:rPr lang="en-US" sz="2400" dirty="0"/>
              <a:t>	Capture patterns of volatility</a:t>
            </a:r>
          </a:p>
          <a:p>
            <a:r>
              <a:rPr lang="en-US" sz="2400" dirty="0"/>
              <a:t>	Identify recurring disruption signals</a:t>
            </a:r>
          </a:p>
          <a:p>
            <a:pPr marL="762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</a:pPr>
            <a:endParaRPr lang="en-US" sz="2200" b="0" i="0" u="none" strike="noStrike" cap="none" dirty="0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87C0634-2F18-DD1C-EC3D-59875346EBE6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17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967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F53D2-A60F-E2EA-8EC7-CA4B2EA89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43134-03DC-7601-243F-90D6D15BCA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258400" cy="766200"/>
          </a:xfrm>
        </p:spPr>
        <p:txBody>
          <a:bodyPr wrap="square"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Data Analysis</a:t>
            </a:r>
            <a:endParaRPr lang="en-US" sz="4100" dirty="0"/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C944FA2F-FF01-3FF9-E814-E62E367D2FC1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18</a:t>
            </a:fld>
            <a:endParaRPr lang="e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FCE6B-7FBE-A626-3233-5717AD7C8DBC}"/>
              </a:ext>
            </a:extLst>
          </p:cNvPr>
          <p:cNvSpPr txBox="1">
            <a:spLocks/>
          </p:cNvSpPr>
          <p:nvPr/>
        </p:nvSpPr>
        <p:spPr>
          <a:xfrm>
            <a:off x="814275" y="1158775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dirty="0"/>
              <a:t>Exploratory Analysis</a:t>
            </a:r>
          </a:p>
          <a:p>
            <a:r>
              <a:rPr lang="en-US" sz="2400" dirty="0"/>
              <a:t>	Identify variance patterns</a:t>
            </a:r>
          </a:p>
          <a:p>
            <a:r>
              <a:rPr lang="en-US" sz="2400" dirty="0"/>
              <a:t>	Detect outliers in lead-time data</a:t>
            </a:r>
          </a:p>
          <a:p>
            <a:r>
              <a:rPr lang="en-US" sz="2400" dirty="0"/>
              <a:t>Model Evaluation</a:t>
            </a:r>
          </a:p>
          <a:p>
            <a:r>
              <a:rPr lang="en-US" sz="2400" dirty="0"/>
              <a:t>	RMSE / MAE (forecasting accuracy)</a:t>
            </a:r>
          </a:p>
          <a:p>
            <a:r>
              <a:rPr lang="en-US" sz="2400" dirty="0"/>
              <a:t>	Classification accuracy (risk detection)</a:t>
            </a:r>
          </a:p>
          <a:p>
            <a:r>
              <a:rPr lang="en-US" sz="2400" dirty="0"/>
              <a:t>Objective</a:t>
            </a:r>
          </a:p>
          <a:p>
            <a:r>
              <a:rPr lang="en-US" sz="2400" dirty="0"/>
              <a:t>	Compare traditional vs ML-based 	forecasting</a:t>
            </a:r>
          </a:p>
          <a:p>
            <a:pPr marL="762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</a:pPr>
            <a:endParaRPr lang="en-US" sz="2200" b="0" i="0" u="none" strike="noStrike" cap="none" dirty="0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51F2957-6F1E-5925-A8E1-DBEC1D43454B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18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8983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A9BD4-DCEA-D0A0-E802-CE90EF339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12A37-B059-70ED-8457-F42CE243F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258400" cy="766200"/>
          </a:xfrm>
        </p:spPr>
        <p:txBody>
          <a:bodyPr wrap="square"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Expected Findings</a:t>
            </a:r>
            <a:endParaRPr lang="en-US" sz="4100" dirty="0"/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0A0EB3E0-CAEB-CB19-812B-7A6A1EF64028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19</a:t>
            </a:fld>
            <a:endParaRPr lang="e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89704-7977-C06C-E045-1D0FBC95CCA5}"/>
              </a:ext>
            </a:extLst>
          </p:cNvPr>
          <p:cNvSpPr txBox="1">
            <a:spLocks/>
          </p:cNvSpPr>
          <p:nvPr/>
        </p:nvSpPr>
        <p:spPr>
          <a:xfrm>
            <a:off x="814275" y="99900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Reactive planning underestimates volatility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ML models improve forecasting accuracy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Supplier risk scoring increases planning visibility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Predictive models reduce disruption exposure</a:t>
            </a:r>
            <a:endParaRPr lang="en-US" sz="2200" b="0" i="0" u="none" strike="noStrike" cap="none" dirty="0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6BEDC78-D4C5-F497-ECB8-95695E1B93D4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19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660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07F9B-88CC-FF1F-C105-85795ED8E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63F43-343C-2F45-F550-8993031A0F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258400" cy="7662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/>
              <a:t>Alignment to Program Outcomes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9543FB4E-2B94-F782-3F34-E7F30B789CB3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20</a:t>
            </a:fld>
            <a:endParaRPr lang="en"/>
          </a:p>
        </p:txBody>
      </p:sp>
      <p:graphicFrame>
        <p:nvGraphicFramePr>
          <p:cNvPr id="7" name="Text Placeholder 2">
            <a:extLst>
              <a:ext uri="{FF2B5EF4-FFF2-40B4-BE49-F238E27FC236}">
                <a16:creationId xmlns:a16="http://schemas.microsoft.com/office/drawing/2014/main" id="{35F45950-91F0-614B-C86C-9B48EDF4DE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7469204"/>
              </p:ext>
            </p:extLst>
          </p:nvPr>
        </p:nvGraphicFramePr>
        <p:xfrm>
          <a:off x="814275" y="1349275"/>
          <a:ext cx="5258400" cy="24958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693C971-BF14-45B5-119A-839F7C0BDCE3}"/>
              </a:ext>
            </a:extLst>
          </p:cNvPr>
          <p:cNvSpPr txBox="1">
            <a:spLocks/>
          </p:cNvSpPr>
          <p:nvPr/>
        </p:nvSpPr>
        <p:spPr>
          <a:xfrm>
            <a:off x="7594554" y="4255500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20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2514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4F844-5186-8CED-1D15-06253F4CB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7A631-5438-3F29-9042-E623A0E34F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258400" cy="7662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Value to the Student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268FF998-0CCB-41E7-BF80-B1104B327129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21</a:t>
            </a:fld>
            <a:endParaRPr lang="en"/>
          </a:p>
        </p:txBody>
      </p:sp>
      <p:graphicFrame>
        <p:nvGraphicFramePr>
          <p:cNvPr id="7" name="Text Placeholder 2">
            <a:extLst>
              <a:ext uri="{FF2B5EF4-FFF2-40B4-BE49-F238E27FC236}">
                <a16:creationId xmlns:a16="http://schemas.microsoft.com/office/drawing/2014/main" id="{BF3A34A1-FBB4-52A3-B218-5F16FA49B2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4400589"/>
              </p:ext>
            </p:extLst>
          </p:nvPr>
        </p:nvGraphicFramePr>
        <p:xfrm>
          <a:off x="814275" y="1349275"/>
          <a:ext cx="52584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77D869B-98E8-E5CF-9EAD-6D93D2E97F4F}"/>
              </a:ext>
            </a:extLst>
          </p:cNvPr>
          <p:cNvSpPr txBox="1">
            <a:spLocks/>
          </p:cNvSpPr>
          <p:nvPr/>
        </p:nvSpPr>
        <p:spPr>
          <a:xfrm>
            <a:off x="7586025" y="4263566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21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50174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9AA07-676A-0D93-0CE2-0753BCB9F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BC8A6-A59A-FD0F-9A0F-FFC2C905A0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258400" cy="7662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GitHub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4BABBAFD-059D-9BD8-D035-4490CB19EE2B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22</a:t>
            </a:fld>
            <a:endParaRPr lang="e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25D48-F943-0C9F-B63B-3CD055371B6E}"/>
              </a:ext>
            </a:extLst>
          </p:cNvPr>
          <p:cNvSpPr txBox="1">
            <a:spLocks/>
          </p:cNvSpPr>
          <p:nvPr/>
        </p:nvSpPr>
        <p:spPr>
          <a:xfrm>
            <a:off x="814275" y="1158775"/>
            <a:ext cx="5662725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200" b="0" i="0" u="none" strike="noStrike" cap="none" dirty="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</a:t>
            </a:r>
            <a:r>
              <a:rPr lang="en-US" sz="2400" dirty="0"/>
              <a:t>GitHub repository initialized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README created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Repository will track implementation progress</a:t>
            </a:r>
          </a:p>
          <a:p>
            <a:pPr marL="762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</a:pPr>
            <a:r>
              <a:rPr lang="en-US" sz="2000" dirty="0"/>
              <a:t>GitHub Link:</a:t>
            </a:r>
          </a:p>
          <a:p>
            <a:pPr marL="762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</a:pPr>
            <a:r>
              <a:rPr lang="en-US" sz="2000" dirty="0">
                <a:highlight>
                  <a:srgbClr val="C0C0C0"/>
                </a:highlight>
                <a:hlinkClick r:id="rId3"/>
              </a:rPr>
              <a:t>https://github.com/AkQuik559/Winter-2025-CS-497-Capstone-Project-Proposal-Enhancing-Aerospace-Supply-Chain-Resilience.git</a:t>
            </a:r>
            <a:endParaRPr lang="en-US" sz="2000" dirty="0">
              <a:highlight>
                <a:srgbClr val="C0C0C0"/>
              </a:highlight>
            </a:endParaRPr>
          </a:p>
          <a:p>
            <a:pPr marL="762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</a:pPr>
            <a:endParaRPr lang="en-US" sz="2200" b="0" i="0" u="none" strike="noStrike" cap="none" dirty="0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D96EF4-53C0-663F-08B4-8D74465EDB91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22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26844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163A0-0E9D-8B27-D33E-52F8BDA17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DCE04-8418-280C-599D-944B403BB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258400" cy="7662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References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6F182B3A-5F95-ED2F-B6E5-BA276E8B7BF9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23</a:t>
            </a:fld>
            <a:endParaRPr lang="e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230D6-3892-E353-3FA5-0B6E2C4B121E}"/>
              </a:ext>
            </a:extLst>
          </p:cNvPr>
          <p:cNvSpPr txBox="1">
            <a:spLocks/>
          </p:cNvSpPr>
          <p:nvPr/>
        </p:nvSpPr>
        <p:spPr>
          <a:xfrm>
            <a:off x="814275" y="1158775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Bednarski et al. (2025)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Deloitte (2023-2025)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 err="1"/>
              <a:t>Douaioui</a:t>
            </a:r>
            <a:r>
              <a:rPr lang="en-US" sz="2400" dirty="0"/>
              <a:t> et al (2024)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dirty="0"/>
              <a:t>Omar (2025)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b="1" i="0" u="none" strike="noStrike" cap="none" dirty="0">
                <a:solidFill>
                  <a:schemeClr val="tx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GAO (2024)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b="1" dirty="0">
                <a:solidFill>
                  <a:schemeClr val="tx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Leeham News (2025)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b="1" dirty="0">
                <a:solidFill>
                  <a:schemeClr val="tx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McKinsey (2021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b="1" i="0" u="none" strike="noStrike" cap="none" dirty="0">
                <a:solidFill>
                  <a:schemeClr val="tx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Reuters (2, 2024)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b="1" dirty="0">
                <a:solidFill>
                  <a:schemeClr val="tx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Trax Technologies (2025)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400" b="1" i="0" u="none" strike="noStrike" cap="none" dirty="0">
                <a:solidFill>
                  <a:schemeClr val="tx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EY (2025)</a:t>
            </a:r>
          </a:p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endParaRPr lang="en-US" sz="2200" b="0" i="0" u="none" strike="noStrike" cap="none" dirty="0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712EA5E-CEC0-E62B-D8A7-2A706AB95262}"/>
              </a:ext>
            </a:extLst>
          </p:cNvPr>
          <p:cNvSpPr txBox="1">
            <a:spLocks/>
          </p:cNvSpPr>
          <p:nvPr/>
        </p:nvSpPr>
        <p:spPr>
          <a:xfrm>
            <a:off x="7586025" y="4261362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23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53352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Q&amp;A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275" y="1862668"/>
            <a:ext cx="4402663" cy="17610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731" y="1862668"/>
            <a:ext cx="1944335" cy="194433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632820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D724B-2B7C-58B1-630F-1D03D145E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0F449-4E23-F7EF-6D0F-20DBFDEBF0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75" y="392575"/>
            <a:ext cx="5258400" cy="7662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Extra Slide for later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45F8367D-99AF-7FAE-7AE0-68D399B3D0B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656513" y="4637088"/>
            <a:ext cx="1487487" cy="3143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25</a:t>
            </a:fld>
            <a:endParaRPr lang="e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C1325-1A49-CA33-A277-8C5DCB490099}"/>
              </a:ext>
            </a:extLst>
          </p:cNvPr>
          <p:cNvSpPr txBox="1">
            <a:spLocks/>
          </p:cNvSpPr>
          <p:nvPr/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81000">
              <a:lnSpc>
                <a:spcPct val="90000"/>
              </a:lnSpc>
              <a:spcBef>
                <a:spcPts val="600"/>
              </a:spcBef>
              <a:buClr>
                <a:srgbClr val="C7D3E6"/>
              </a:buClr>
              <a:buSzPts val="2400"/>
              <a:buFont typeface="Roboto Condensed Light"/>
              <a:buChar char="▰"/>
            </a:pPr>
            <a:r>
              <a:rPr lang="en-US" sz="2200" b="0" i="0" u="none" strike="noStrike" cap="none" dirty="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Extra Slide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4F79544-3A0F-9B09-8B5F-93816B83D3E6}"/>
              </a:ext>
            </a:extLst>
          </p:cNvPr>
          <p:cNvSpPr txBox="1">
            <a:spLocks/>
          </p:cNvSpPr>
          <p:nvPr/>
        </p:nvSpPr>
        <p:spPr>
          <a:xfrm>
            <a:off x="7586025" y="4249638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25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3879036"/>
      </p:ext>
    </p:extLst>
  </p:cSld>
  <p:clrMapOvr>
    <a:masterClrMapping/>
  </p:clrMapOvr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91</TotalTime>
  <Words>1083</Words>
  <Application>Microsoft Office PowerPoint</Application>
  <PresentationFormat>On-screen Show (16:9)</PresentationFormat>
  <Paragraphs>213</Paragraphs>
  <Slides>25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Arvo</vt:lpstr>
      <vt:lpstr>Roboto Condensed</vt:lpstr>
      <vt:lpstr>Roboto Condensed Light</vt:lpstr>
      <vt:lpstr>Salerio template</vt:lpstr>
      <vt:lpstr>Enhancing Aerospace Supply Chain Resilience: A Predictive Analytics Approach to Mitigate Lead-Time Volatility</vt:lpstr>
      <vt:lpstr>Agenda</vt:lpstr>
      <vt:lpstr>Abstract</vt:lpstr>
      <vt:lpstr>Keywords</vt:lpstr>
      <vt:lpstr>Problem Statement</vt:lpstr>
      <vt:lpstr>Motivation</vt:lpstr>
      <vt:lpstr>Background</vt:lpstr>
      <vt:lpstr>Background - Evidence</vt:lpstr>
      <vt:lpstr>Related Work</vt:lpstr>
      <vt:lpstr>Related Word As-Is State</vt:lpstr>
      <vt:lpstr>Related Work – To-Be State</vt:lpstr>
      <vt:lpstr>Related Work – Key Takeaway</vt:lpstr>
      <vt:lpstr>Approach Overview</vt:lpstr>
      <vt:lpstr>System Design</vt:lpstr>
      <vt:lpstr>Implementation Plan</vt:lpstr>
      <vt:lpstr>Technologies Used</vt:lpstr>
      <vt:lpstr>Data Collection</vt:lpstr>
      <vt:lpstr>Data Analysis</vt:lpstr>
      <vt:lpstr>Expected Findings</vt:lpstr>
      <vt:lpstr>Alignment to Program Outcomes</vt:lpstr>
      <vt:lpstr>Value to the Student</vt:lpstr>
      <vt:lpstr>GitHub</vt:lpstr>
      <vt:lpstr>References</vt:lpstr>
      <vt:lpstr>Q&amp;A</vt:lpstr>
      <vt:lpstr>Extra Slide for later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Karthik Dinakaran</dc:creator>
  <cp:lastModifiedBy>Parmbir Singh</cp:lastModifiedBy>
  <cp:revision>16</cp:revision>
  <dcterms:modified xsi:type="dcterms:W3CDTF">2026-02-18T06:08:38Z</dcterms:modified>
</cp:coreProperties>
</file>