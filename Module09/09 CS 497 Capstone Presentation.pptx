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26"/>
  </p:notesMasterIdLst>
  <p:sldIdLst>
    <p:sldId id="256" r:id="rId2"/>
    <p:sldId id="274" r:id="rId3"/>
    <p:sldId id="281" r:id="rId4"/>
    <p:sldId id="289" r:id="rId5"/>
    <p:sldId id="275" r:id="rId6"/>
    <p:sldId id="282" r:id="rId7"/>
    <p:sldId id="283" r:id="rId8"/>
    <p:sldId id="284" r:id="rId9"/>
    <p:sldId id="288" r:id="rId10"/>
    <p:sldId id="291" r:id="rId11"/>
    <p:sldId id="293" r:id="rId12"/>
    <p:sldId id="294" r:id="rId13"/>
    <p:sldId id="305" r:id="rId14"/>
    <p:sldId id="295" r:id="rId15"/>
    <p:sldId id="306" r:id="rId16"/>
    <p:sldId id="300" r:id="rId17"/>
    <p:sldId id="296" r:id="rId18"/>
    <p:sldId id="297" r:id="rId19"/>
    <p:sldId id="302" r:id="rId20"/>
    <p:sldId id="304" r:id="rId21"/>
    <p:sldId id="307" r:id="rId22"/>
    <p:sldId id="290" r:id="rId23"/>
    <p:sldId id="280" r:id="rId24"/>
    <p:sldId id="276"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E01282-CD5F-498D-A0A2-51ED8EE84501}" v="26" dt="2026-03-22T21:41:54.276"/>
  </p1510:revLst>
</p1510:revInfo>
</file>

<file path=ppt/tableStyles.xml><?xml version="1.0" encoding="utf-8"?>
<a:tblStyleLst xmlns:a="http://schemas.openxmlformats.org/drawingml/2006/main" def="{1FE44F72-D7B3-41EB-977B-2E401710A9A8}">
  <a:tblStyle styleId="{1FE44F72-D7B3-41EB-977B-2E401710A9A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4771" autoAdjust="0"/>
  </p:normalViewPr>
  <p:slideViewPr>
    <p:cSldViewPr snapToGrid="0">
      <p:cViewPr varScale="1">
        <p:scale>
          <a:sx n="77" d="100"/>
          <a:sy n="77" d="100"/>
        </p:scale>
        <p:origin x="264" y="58"/>
      </p:cViewPr>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mbir Singh" userId="dae4fa7f55ca21f2" providerId="LiveId" clId="{A87BCE85-0181-4B1D-9AED-5403F18560AA}"/>
    <pc:docChg chg="custSel addSld modSld">
      <pc:chgData name="Parmbir Singh" userId="dae4fa7f55ca21f2" providerId="LiveId" clId="{A87BCE85-0181-4B1D-9AED-5403F18560AA}" dt="2026-03-22T21:41:53.354" v="100" actId="20577"/>
      <pc:docMkLst>
        <pc:docMk/>
      </pc:docMkLst>
      <pc:sldChg chg="modNotesTx">
        <pc:chgData name="Parmbir Singh" userId="dae4fa7f55ca21f2" providerId="LiveId" clId="{A87BCE85-0181-4B1D-9AED-5403F18560AA}" dt="2026-03-22T21:32:55.283" v="30" actId="20577"/>
        <pc:sldMkLst>
          <pc:docMk/>
          <pc:sldMk cId="3443371739" sldId="275"/>
        </pc:sldMkLst>
      </pc:sldChg>
      <pc:sldChg chg="modNotesTx">
        <pc:chgData name="Parmbir Singh" userId="dae4fa7f55ca21f2" providerId="LiveId" clId="{A87BCE85-0181-4B1D-9AED-5403F18560AA}" dt="2026-03-22T21:41:53.354" v="100" actId="20577"/>
        <pc:sldMkLst>
          <pc:docMk/>
          <pc:sldMk cId="2863282085" sldId="276"/>
        </pc:sldMkLst>
      </pc:sldChg>
      <pc:sldChg chg="modNotesTx">
        <pc:chgData name="Parmbir Singh" userId="dae4fa7f55ca21f2" providerId="LiveId" clId="{A87BCE85-0181-4B1D-9AED-5403F18560AA}" dt="2026-03-22T21:33:22.044" v="32" actId="20577"/>
        <pc:sldMkLst>
          <pc:docMk/>
          <pc:sldMk cId="23800886" sldId="282"/>
        </pc:sldMkLst>
      </pc:sldChg>
      <pc:sldChg chg="modSp mod modNotesTx">
        <pc:chgData name="Parmbir Singh" userId="dae4fa7f55ca21f2" providerId="LiveId" clId="{A87BCE85-0181-4B1D-9AED-5403F18560AA}" dt="2026-03-22T21:33:59.837" v="38" actId="20577"/>
        <pc:sldMkLst>
          <pc:docMk/>
          <pc:sldMk cId="3123408033" sldId="283"/>
        </pc:sldMkLst>
        <pc:spChg chg="mod">
          <ac:chgData name="Parmbir Singh" userId="dae4fa7f55ca21f2" providerId="LiveId" clId="{A87BCE85-0181-4B1D-9AED-5403F18560AA}" dt="2026-03-22T21:33:40.038" v="34" actId="20577"/>
          <ac:spMkLst>
            <pc:docMk/>
            <pc:sldMk cId="3123408033" sldId="283"/>
            <ac:spMk id="2" creationId="{A1CC4BA4-DC2F-3AE2-F6EA-0D6AC0C4D0B2}"/>
          </ac:spMkLst>
        </pc:spChg>
      </pc:sldChg>
      <pc:sldChg chg="modNotesTx">
        <pc:chgData name="Parmbir Singh" userId="dae4fa7f55ca21f2" providerId="LiveId" clId="{A87BCE85-0181-4B1D-9AED-5403F18560AA}" dt="2026-03-22T21:34:40.200" v="42" actId="20577"/>
        <pc:sldMkLst>
          <pc:docMk/>
          <pc:sldMk cId="2140754153" sldId="284"/>
        </pc:sldMkLst>
      </pc:sldChg>
      <pc:sldChg chg="modNotesTx">
        <pc:chgData name="Parmbir Singh" userId="dae4fa7f55ca21f2" providerId="LiveId" clId="{A87BCE85-0181-4B1D-9AED-5403F18560AA}" dt="2026-03-22T21:35:05.326" v="47" actId="20577"/>
        <pc:sldMkLst>
          <pc:docMk/>
          <pc:sldMk cId="252816511" sldId="288"/>
        </pc:sldMkLst>
      </pc:sldChg>
      <pc:sldChg chg="modNotesTx">
        <pc:chgData name="Parmbir Singh" userId="dae4fa7f55ca21f2" providerId="LiveId" clId="{A87BCE85-0181-4B1D-9AED-5403F18560AA}" dt="2026-03-22T21:35:44.340" v="48" actId="20577"/>
        <pc:sldMkLst>
          <pc:docMk/>
          <pc:sldMk cId="4047617736" sldId="291"/>
        </pc:sldMkLst>
      </pc:sldChg>
      <pc:sldChg chg="modNotesTx">
        <pc:chgData name="Parmbir Singh" userId="dae4fa7f55ca21f2" providerId="LiveId" clId="{A87BCE85-0181-4B1D-9AED-5403F18560AA}" dt="2026-03-22T21:36:10.752" v="50" actId="20577"/>
        <pc:sldMkLst>
          <pc:docMk/>
          <pc:sldMk cId="312471395" sldId="293"/>
        </pc:sldMkLst>
      </pc:sldChg>
      <pc:sldChg chg="modNotesTx">
        <pc:chgData name="Parmbir Singh" userId="dae4fa7f55ca21f2" providerId="LiveId" clId="{A87BCE85-0181-4B1D-9AED-5403F18560AA}" dt="2026-03-22T21:36:53.682" v="53" actId="20577"/>
        <pc:sldMkLst>
          <pc:docMk/>
          <pc:sldMk cId="3606967208" sldId="294"/>
        </pc:sldMkLst>
      </pc:sldChg>
      <pc:sldChg chg="modNotesTx">
        <pc:chgData name="Parmbir Singh" userId="dae4fa7f55ca21f2" providerId="LiveId" clId="{A87BCE85-0181-4B1D-9AED-5403F18560AA}" dt="2026-03-22T21:38:11.661" v="58" actId="20577"/>
        <pc:sldMkLst>
          <pc:docMk/>
          <pc:sldMk cId="2508983303" sldId="295"/>
        </pc:sldMkLst>
      </pc:sldChg>
      <pc:sldChg chg="modNotesTx">
        <pc:chgData name="Parmbir Singh" userId="dae4fa7f55ca21f2" providerId="LiveId" clId="{A87BCE85-0181-4B1D-9AED-5403F18560AA}" dt="2026-03-22T21:39:10.602" v="62" actId="20577"/>
        <pc:sldMkLst>
          <pc:docMk/>
          <pc:sldMk cId="1925660853" sldId="296"/>
        </pc:sldMkLst>
      </pc:sldChg>
      <pc:sldChg chg="modNotesTx">
        <pc:chgData name="Parmbir Singh" userId="dae4fa7f55ca21f2" providerId="LiveId" clId="{A87BCE85-0181-4B1D-9AED-5403F18560AA}" dt="2026-03-22T21:39:40.701" v="65" actId="20577"/>
        <pc:sldMkLst>
          <pc:docMk/>
          <pc:sldMk cId="3159333230" sldId="297"/>
        </pc:sldMkLst>
      </pc:sldChg>
      <pc:sldChg chg="modNotesTx">
        <pc:chgData name="Parmbir Singh" userId="dae4fa7f55ca21f2" providerId="LiveId" clId="{A87BCE85-0181-4B1D-9AED-5403F18560AA}" dt="2026-03-22T21:38:44.576" v="60" actId="20577"/>
        <pc:sldMkLst>
          <pc:docMk/>
          <pc:sldMk cId="3636004003" sldId="300"/>
        </pc:sldMkLst>
      </pc:sldChg>
      <pc:sldChg chg="modSp mod modNotesTx">
        <pc:chgData name="Parmbir Singh" userId="dae4fa7f55ca21f2" providerId="LiveId" clId="{A87BCE85-0181-4B1D-9AED-5403F18560AA}" dt="2026-03-22T21:40:07.238" v="69" actId="20577"/>
        <pc:sldMkLst>
          <pc:docMk/>
          <pc:sldMk cId="3960619580" sldId="302"/>
        </pc:sldMkLst>
        <pc:spChg chg="mod">
          <ac:chgData name="Parmbir Singh" userId="dae4fa7f55ca21f2" providerId="LiveId" clId="{A87BCE85-0181-4B1D-9AED-5403F18560AA}" dt="2026-03-22T21:39:56.206" v="66" actId="14100"/>
          <ac:spMkLst>
            <pc:docMk/>
            <pc:sldMk cId="3960619580" sldId="302"/>
            <ac:spMk id="3" creationId="{3490DF44-8A03-E6B6-5BD2-1DB2D8DB6F6A}"/>
          </ac:spMkLst>
        </pc:spChg>
      </pc:sldChg>
      <pc:sldChg chg="modNotesTx">
        <pc:chgData name="Parmbir Singh" userId="dae4fa7f55ca21f2" providerId="LiveId" clId="{A87BCE85-0181-4B1D-9AED-5403F18560AA}" dt="2026-03-22T21:40:33.462" v="73" actId="20577"/>
        <pc:sldMkLst>
          <pc:docMk/>
          <pc:sldMk cId="2310465880" sldId="304"/>
        </pc:sldMkLst>
      </pc:sldChg>
      <pc:sldChg chg="modNotesTx">
        <pc:chgData name="Parmbir Singh" userId="dae4fa7f55ca21f2" providerId="LiveId" clId="{A87BCE85-0181-4B1D-9AED-5403F18560AA}" dt="2026-03-22T21:37:36.079" v="56" actId="20577"/>
        <pc:sldMkLst>
          <pc:docMk/>
          <pc:sldMk cId="298538659" sldId="305"/>
        </pc:sldMkLst>
      </pc:sldChg>
      <pc:sldChg chg="modSp add mod modNotesTx">
        <pc:chgData name="Parmbir Singh" userId="dae4fa7f55ca21f2" providerId="LiveId" clId="{A87BCE85-0181-4B1D-9AED-5403F18560AA}" dt="2026-03-22T21:40:56.740" v="76" actId="20577"/>
        <pc:sldMkLst>
          <pc:docMk/>
          <pc:sldMk cId="3987024812" sldId="307"/>
        </pc:sldMkLst>
        <pc:spChg chg="mod">
          <ac:chgData name="Parmbir Singh" userId="dae4fa7f55ca21f2" providerId="LiveId" clId="{A87BCE85-0181-4B1D-9AED-5403F18560AA}" dt="2026-03-22T21:30:11.308" v="12" actId="20577"/>
          <ac:spMkLst>
            <pc:docMk/>
            <pc:sldMk cId="3987024812" sldId="307"/>
            <ac:spMk id="2" creationId="{EDC8FCC1-2E0E-6B5C-DACC-FA5F21F9EFD4}"/>
          </ac:spMkLst>
        </pc:spChg>
        <pc:spChg chg="mod">
          <ac:chgData name="Parmbir Singh" userId="dae4fa7f55ca21f2" providerId="LiveId" clId="{A87BCE85-0181-4B1D-9AED-5403F18560AA}" dt="2026-03-22T21:31:10.752" v="26" actId="1076"/>
          <ac:spMkLst>
            <pc:docMk/>
            <pc:sldMk cId="3987024812" sldId="307"/>
            <ac:spMk id="3" creationId="{D2B2DD3D-6906-85EA-3F66-EBE4546D0C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Hello, my name is Parmbir Singh, and today I will be presenting my capstone project. </a:t>
            </a:r>
            <a:r>
              <a:rPr lang="en-US" i="0" dirty="0"/>
              <a:t>Enhancing Aerospace Supply Chain Resilience: A Predictive Analytics Approach to Mitigate Lead-Time Volatility.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presentation will cover the project overview, problem statement, approach, data collection, analysis, key findings, and next steps. The focus will be on the data analysis and results developed so far.</a:t>
            </a:r>
          </a:p>
        </p:txBody>
      </p:sp>
    </p:spTree>
    <p:extLst>
      <p:ext uri="{BB962C8B-B14F-4D97-AF65-F5344CB8AC3E}">
        <p14:creationId xmlns:p14="http://schemas.microsoft.com/office/powerpoint/2010/main" val="1892371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Aerospace supply chains experience instability due to reactive planning and limited visibility.</a:t>
            </a:r>
            <a:br>
              <a:rPr lang="en-US" dirty="0"/>
            </a:br>
            <a:r>
              <a:rPr lang="en-US" dirty="0"/>
              <a:t>This project develops a data analytics framework to analyze these patterns.</a:t>
            </a:r>
            <a:br>
              <a:rPr lang="en-US" dirty="0"/>
            </a:br>
            <a:r>
              <a:rPr lang="en-US" dirty="0"/>
              <a:t>The goal is to move toward predictive, proactive decision-making based on data insights.</a:t>
            </a:r>
          </a:p>
        </p:txBody>
      </p:sp>
    </p:spTree>
    <p:extLst>
      <p:ext uri="{BB962C8B-B14F-4D97-AF65-F5344CB8AC3E}">
        <p14:creationId xmlns:p14="http://schemas.microsoft.com/office/powerpoint/2010/main" val="966443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These keywords highlight the core focus areas of my project, including predictive analytics, machine learning, and supply chain risk.</a:t>
            </a:r>
          </a:p>
          <a:p>
            <a:r>
              <a:rPr lang="en-US" dirty="0"/>
              <a:t>Together, they represent the intersection of data science and aerospace operations.</a:t>
            </a:r>
          </a:p>
        </p:txBody>
      </p:sp>
    </p:spTree>
    <p:extLst>
      <p:ext uri="{BB962C8B-B14F-4D97-AF65-F5344CB8AC3E}">
        <p14:creationId xmlns:p14="http://schemas.microsoft.com/office/powerpoint/2010/main" val="319141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Aerospace supply chains rely heavily on reactive planning.</a:t>
            </a:r>
          </a:p>
          <a:p>
            <a:r>
              <a:rPr lang="en-US" dirty="0"/>
              <a:t>Limited visibility across supplier tiers leads to unpredictable delays.</a:t>
            </a:r>
          </a:p>
          <a:p>
            <a:r>
              <a:rPr lang="en-US" dirty="0"/>
              <a:t>Even small disruptions can halt entire production lines.</a:t>
            </a:r>
          </a:p>
        </p:txBody>
      </p:sp>
    </p:spTree>
    <p:extLst>
      <p:ext uri="{BB962C8B-B14F-4D97-AF65-F5344CB8AC3E}">
        <p14:creationId xmlns:p14="http://schemas.microsoft.com/office/powerpoint/2010/main" val="946466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Background research showed consistent issues with supplier delays and lack of visibility.</a:t>
            </a:r>
          </a:p>
          <a:p>
            <a:r>
              <a:rPr lang="en-US" dirty="0"/>
              <a:t>At the same time, the industry is beginning to adopt predictive analytics to improve decision-making.</a:t>
            </a:r>
          </a:p>
        </p:txBody>
      </p:sp>
    </p:spTree>
    <p:extLst>
      <p:ext uri="{BB962C8B-B14F-4D97-AF65-F5344CB8AC3E}">
        <p14:creationId xmlns:p14="http://schemas.microsoft.com/office/powerpoint/2010/main" val="1432231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Government and industry sources confirm supply chain issues.</a:t>
            </a:r>
          </a:p>
          <a:p>
            <a:r>
              <a:rPr lang="en-US" dirty="0"/>
              <a:t>Boeing and Airbus have both experienced delays due to supplier constraints.</a:t>
            </a:r>
          </a:p>
          <a:p>
            <a:r>
              <a:rPr lang="en-US" dirty="0"/>
              <a:t>This supports the need for a more proactive approach.</a:t>
            </a:r>
          </a:p>
        </p:txBody>
      </p:sp>
    </p:spTree>
    <p:extLst>
      <p:ext uri="{BB962C8B-B14F-4D97-AF65-F5344CB8AC3E}">
        <p14:creationId xmlns:p14="http://schemas.microsoft.com/office/powerpoint/2010/main" val="356666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Existing research highlights that reactive supply chains are outdated.</a:t>
            </a:r>
          </a:p>
          <a:p>
            <a:r>
              <a:rPr lang="en-US" dirty="0"/>
              <a:t>It also shows that predictive analytics is emerging as a key solution.</a:t>
            </a:r>
          </a:p>
        </p:txBody>
      </p:sp>
    </p:spTree>
    <p:extLst>
      <p:ext uri="{BB962C8B-B14F-4D97-AF65-F5344CB8AC3E}">
        <p14:creationId xmlns:p14="http://schemas.microsoft.com/office/powerpoint/2010/main" val="627786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project focuses on analyzing supply chain data to identify patterns.</a:t>
            </a:r>
          </a:p>
          <a:p>
            <a:r>
              <a:rPr lang="en-US" dirty="0"/>
              <a:t>Databricks was used for scalable data processing, and Power BI was used for visualization.</a:t>
            </a:r>
          </a:p>
          <a:p>
            <a:r>
              <a:rPr lang="en-US" dirty="0"/>
              <a:t>The goal was to create a reproducible and scalable analysis framework.</a:t>
            </a:r>
          </a:p>
        </p:txBody>
      </p:sp>
    </p:spTree>
    <p:extLst>
      <p:ext uri="{BB962C8B-B14F-4D97-AF65-F5344CB8AC3E}">
        <p14:creationId xmlns:p14="http://schemas.microsoft.com/office/powerpoint/2010/main" val="4058618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system follows a pipeline starting with data ingestion and processing.</a:t>
            </a:r>
          </a:p>
          <a:p>
            <a:r>
              <a:rPr lang="en-US" dirty="0"/>
              <a:t>It then moves into feature engineering and ends with visualization outputs such as trends and correlations.</a:t>
            </a:r>
          </a:p>
        </p:txBody>
      </p:sp>
    </p:spTree>
    <p:extLst>
      <p:ext uri="{BB962C8B-B14F-4D97-AF65-F5344CB8AC3E}">
        <p14:creationId xmlns:p14="http://schemas.microsoft.com/office/powerpoint/2010/main" val="226926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Databricks was used for data processing, Power BI for visualization, and GitHub for version control.</a:t>
            </a:r>
          </a:p>
          <a:p>
            <a:r>
              <a:rPr lang="en-US" dirty="0"/>
              <a:t>These tools support scalability and reproducibility.</a:t>
            </a:r>
          </a:p>
        </p:txBody>
      </p:sp>
    </p:spTree>
    <p:extLst>
      <p:ext uri="{BB962C8B-B14F-4D97-AF65-F5344CB8AC3E}">
        <p14:creationId xmlns:p14="http://schemas.microsoft.com/office/powerpoint/2010/main" val="313648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317500"/>
            <a:r>
              <a:rPr lang="en-US" dirty="0"/>
              <a:t>The dataset includes aerospace production, freight index, and supply chain pressure data.</a:t>
            </a:r>
          </a:p>
          <a:p>
            <a:pPr marL="457200" indent="-317500"/>
            <a:r>
              <a:rPr lang="en-US" dirty="0"/>
              <a:t>These were combined and processed into a unified dataset for analysis.</a:t>
            </a:r>
          </a:p>
        </p:txBody>
      </p:sp>
    </p:spTree>
    <p:extLst>
      <p:ext uri="{BB962C8B-B14F-4D97-AF65-F5344CB8AC3E}">
        <p14:creationId xmlns:p14="http://schemas.microsoft.com/office/powerpoint/2010/main" val="479284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89C0-CD13-4C12-8BA7-650B7537D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B51F9-3722-B63D-C123-31F6A2C6219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3F1210E-F274-281B-6FC2-5C037258CEEA}"/>
              </a:ext>
            </a:extLst>
          </p:cNvPr>
          <p:cNvSpPr>
            <a:spLocks noGrp="1"/>
          </p:cNvSpPr>
          <p:nvPr>
            <p:ph type="body" idx="1"/>
          </p:nvPr>
        </p:nvSpPr>
        <p:spPr/>
        <p:txBody>
          <a:bodyPr/>
          <a:lstStyle/>
          <a:p>
            <a:pPr marL="457200" indent="-317500"/>
            <a:r>
              <a:rPr lang="en-US" dirty="0"/>
              <a:t>Data cleaning was performed to ensure accuracy and consistency.</a:t>
            </a:r>
          </a:p>
          <a:p>
            <a:pPr marL="457200" indent="-317500"/>
            <a:r>
              <a:rPr lang="en-US" dirty="0"/>
              <a:t>This included removing missing or invalid values, standardizing formats, and aligning all variables for time-series analysis.</a:t>
            </a:r>
          </a:p>
        </p:txBody>
      </p:sp>
    </p:spTree>
    <p:extLst>
      <p:ext uri="{BB962C8B-B14F-4D97-AF65-F5344CB8AC3E}">
        <p14:creationId xmlns:p14="http://schemas.microsoft.com/office/powerpoint/2010/main" val="1019649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Time-series analysis was used to compare production and supply pressure.</a:t>
            </a:r>
          </a:p>
          <a:p>
            <a:r>
              <a:rPr lang="en-US" dirty="0"/>
              <a:t>The data shows that both variables increase together, indicating growing supply chain stress.</a:t>
            </a:r>
          </a:p>
        </p:txBody>
      </p:sp>
    </p:spTree>
    <p:extLst>
      <p:ext uri="{BB962C8B-B14F-4D97-AF65-F5344CB8AC3E}">
        <p14:creationId xmlns:p14="http://schemas.microsoft.com/office/powerpoint/2010/main" val="2388798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93907-49EE-1EF8-7AF5-F01178D4D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82104-41C3-0401-4538-AE934F6A8C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12AC4B4-9FFA-4113-6320-68C2960EDB75}"/>
              </a:ext>
            </a:extLst>
          </p:cNvPr>
          <p:cNvSpPr>
            <a:spLocks noGrp="1"/>
          </p:cNvSpPr>
          <p:nvPr>
            <p:ph type="body" idx="1"/>
          </p:nvPr>
        </p:nvSpPr>
        <p:spPr/>
        <p:txBody>
          <a:bodyPr/>
          <a:lstStyle/>
          <a:p>
            <a:r>
              <a:rPr lang="en-US" dirty="0"/>
              <a:t>Outliers were identified as values that significantly deviated from the overall trend.</a:t>
            </a:r>
          </a:p>
          <a:p>
            <a:r>
              <a:rPr lang="en-US" dirty="0"/>
              <a:t>These points were reviewed and removed when they were outside expected ranges to prevent distortion of results.</a:t>
            </a:r>
          </a:p>
        </p:txBody>
      </p:sp>
    </p:spTree>
    <p:extLst>
      <p:ext uri="{BB962C8B-B14F-4D97-AF65-F5344CB8AC3E}">
        <p14:creationId xmlns:p14="http://schemas.microsoft.com/office/powerpoint/2010/main" val="2888274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Additional features were created, including volatility measures and pressure change indicators.</a:t>
            </a:r>
          </a:p>
          <a:p>
            <a:r>
              <a:rPr lang="en-US" dirty="0"/>
              <a:t>These help capture instability patterns rather than just raw values.</a:t>
            </a:r>
          </a:p>
        </p:txBody>
      </p:sp>
    </p:spTree>
    <p:extLst>
      <p:ext uri="{BB962C8B-B14F-4D97-AF65-F5344CB8AC3E}">
        <p14:creationId xmlns:p14="http://schemas.microsoft.com/office/powerpoint/2010/main" val="1062078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data shows that production and supply pressure increase together.</a:t>
            </a:r>
          </a:p>
          <a:p>
            <a:r>
              <a:rPr lang="en-US" dirty="0"/>
              <a:t>Supply chain pressure remains elevated and fluctuates over time.</a:t>
            </a:r>
            <a:br>
              <a:rPr lang="en-US" dirty="0"/>
            </a:br>
            <a:r>
              <a:rPr lang="en-US" dirty="0"/>
              <a:t>There is a strong positive correlation between the variables.</a:t>
            </a:r>
          </a:p>
        </p:txBody>
      </p:sp>
    </p:spTree>
    <p:extLst>
      <p:ext uri="{BB962C8B-B14F-4D97-AF65-F5344CB8AC3E}">
        <p14:creationId xmlns:p14="http://schemas.microsoft.com/office/powerpoint/2010/main" val="23995183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317500"/>
            <a:r>
              <a:rPr lang="en-US" dirty="0"/>
              <a:t>Initially, I assumed disruptions were temporary and loosely related to production.</a:t>
            </a:r>
          </a:p>
          <a:p>
            <a:pPr marL="457200" indent="-317500"/>
            <a:r>
              <a:rPr lang="en-US" dirty="0"/>
              <a:t>However, the data shows the opposite — pressure is persistent and increases with production.</a:t>
            </a:r>
          </a:p>
        </p:txBody>
      </p:sp>
    </p:spTree>
    <p:extLst>
      <p:ext uri="{BB962C8B-B14F-4D97-AF65-F5344CB8AC3E}">
        <p14:creationId xmlns:p14="http://schemas.microsoft.com/office/powerpoint/2010/main" val="415240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317500"/>
            <a:r>
              <a:rPr lang="en-US" dirty="0"/>
              <a:t>These visualizations support the trends, volatility, and correlations identified in the analysis.</a:t>
            </a:r>
          </a:p>
          <a:p>
            <a:pPr marL="457200" indent="-317500"/>
            <a:r>
              <a:rPr lang="en-US" dirty="0"/>
              <a:t>They provide a clear representation of the data patterns discussed.</a:t>
            </a:r>
          </a:p>
        </p:txBody>
      </p:sp>
    </p:spTree>
    <p:extLst>
      <p:ext uri="{BB962C8B-B14F-4D97-AF65-F5344CB8AC3E}">
        <p14:creationId xmlns:p14="http://schemas.microsoft.com/office/powerpoint/2010/main" val="104220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22CA-4181-F29F-F474-63B031A2F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FC46B-938C-DDC2-8A4D-CC664A22C72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00CD958-D496-796C-34BF-7B48F39CFF34}"/>
              </a:ext>
            </a:extLst>
          </p:cNvPr>
          <p:cNvSpPr>
            <a:spLocks noGrp="1"/>
          </p:cNvSpPr>
          <p:nvPr>
            <p:ph type="body" idx="1"/>
          </p:nvPr>
        </p:nvSpPr>
        <p:spPr/>
        <p:txBody>
          <a:bodyPr/>
          <a:lstStyle/>
          <a:p>
            <a:r>
              <a:rPr lang="en-US" dirty="0"/>
              <a:t>The results show that supply chain instability is persistent and structural.</a:t>
            </a:r>
          </a:p>
          <a:p>
            <a:r>
              <a:rPr lang="en-US" dirty="0"/>
              <a:t>Increased production amplifies supply chain strain.</a:t>
            </a:r>
          </a:p>
          <a:p>
            <a:r>
              <a:rPr lang="en-US" dirty="0"/>
              <a:t>This highlights the limitations of reactive models.</a:t>
            </a:r>
          </a:p>
        </p:txBody>
      </p:sp>
    </p:spTree>
    <p:extLst>
      <p:ext uri="{BB962C8B-B14F-4D97-AF65-F5344CB8AC3E}">
        <p14:creationId xmlns:p14="http://schemas.microsoft.com/office/powerpoint/2010/main" val="2980023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084CB-2BF5-FFA2-81D6-9EB5651EB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612F5-F824-F1A5-87D5-34784849A2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07C0B27-4658-EFEB-46FA-C56B16EE5F3F}"/>
              </a:ext>
            </a:extLst>
          </p:cNvPr>
          <p:cNvSpPr>
            <a:spLocks noGrp="1"/>
          </p:cNvSpPr>
          <p:nvPr>
            <p:ph type="body" idx="1"/>
          </p:nvPr>
        </p:nvSpPr>
        <p:spPr/>
        <p:txBody>
          <a:bodyPr/>
          <a:lstStyle/>
          <a:p>
            <a:pPr marL="457200" indent="-317500"/>
            <a:r>
              <a:rPr lang="en-US" dirty="0"/>
              <a:t>Future work includes integrating real-world data, applying machine learning models, and expanding dashboards for real-time monitoring.</a:t>
            </a:r>
          </a:p>
          <a:p>
            <a:pPr marL="457200" indent="-317500"/>
            <a:r>
              <a:rPr lang="en-US" dirty="0"/>
              <a:t>This will improve predictive capabilities and practical application.</a:t>
            </a:r>
          </a:p>
        </p:txBody>
      </p:sp>
    </p:spTree>
    <p:extLst>
      <p:ext uri="{BB962C8B-B14F-4D97-AF65-F5344CB8AC3E}">
        <p14:creationId xmlns:p14="http://schemas.microsoft.com/office/powerpoint/2010/main" val="34037177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my GitHub repository where I track all project work.</a:t>
            </a:r>
          </a:p>
        </p:txBody>
      </p:sp>
    </p:spTree>
    <p:extLst>
      <p:ext uri="{BB962C8B-B14F-4D97-AF65-F5344CB8AC3E}">
        <p14:creationId xmlns:p14="http://schemas.microsoft.com/office/powerpoint/2010/main" val="6766881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These are the key academic, industry, and government sources used in this project.</a:t>
            </a:r>
          </a:p>
        </p:txBody>
      </p:sp>
    </p:spTree>
    <p:extLst>
      <p:ext uri="{BB962C8B-B14F-4D97-AF65-F5344CB8AC3E}">
        <p14:creationId xmlns:p14="http://schemas.microsoft.com/office/powerpoint/2010/main" val="2501777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Thank you for your time. </a:t>
            </a:r>
            <a:r>
              <a:rPr lang="en-US"/>
              <a:t>I’m happy to answer any questions.</a:t>
            </a:r>
            <a:endParaRPr lang="en-US" dirty="0"/>
          </a:p>
        </p:txBody>
      </p:sp>
    </p:spTree>
    <p:extLst>
      <p:ext uri="{BB962C8B-B14F-4D97-AF65-F5344CB8AC3E}">
        <p14:creationId xmlns:p14="http://schemas.microsoft.com/office/powerpoint/2010/main" val="4835319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182385" y="0"/>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3" name="Picture 2">
            <a:extLst>
              <a:ext uri="{FF2B5EF4-FFF2-40B4-BE49-F238E27FC236}">
                <a16:creationId xmlns:a16="http://schemas.microsoft.com/office/drawing/2014/main" id="{134F7D0F-FE46-C945-87EB-0FD3D356521A}"/>
              </a:ext>
            </a:extLst>
          </p:cNvPr>
          <p:cNvPicPr>
            <a:picLocks noChangeAspect="1"/>
          </p:cNvPicPr>
          <p:nvPr userDrawn="1"/>
        </p:nvPicPr>
        <p:blipFill>
          <a:blip r:embed="rId2"/>
          <a:stretch>
            <a:fillRect/>
          </a:stretch>
        </p:blipFill>
        <p:spPr>
          <a:xfrm>
            <a:off x="0" y="4243277"/>
            <a:ext cx="914400"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8954610"/>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sz="3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sz="2800"/>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Picture 21">
            <a:extLst>
              <a:ext uri="{FF2B5EF4-FFF2-40B4-BE49-F238E27FC236}">
                <a16:creationId xmlns:a16="http://schemas.microsoft.com/office/drawing/2014/main" id="{C8F7DB91-7595-E64B-B07D-A30575B2CB4C}"/>
              </a:ext>
            </a:extLst>
          </p:cNvPr>
          <p:cNvPicPr>
            <a:picLocks noChangeAspect="1"/>
          </p:cNvPicPr>
          <p:nvPr userDrawn="1"/>
        </p:nvPicPr>
        <p:blipFill>
          <a:blip r:embed="rId2"/>
          <a:stretch>
            <a:fillRect/>
          </a:stretch>
        </p:blipFill>
        <p:spPr>
          <a:xfrm>
            <a:off x="0" y="4253392"/>
            <a:ext cx="914400" cy="914400"/>
          </a:xfrm>
          <a:prstGeom prst="rect">
            <a:avLst/>
          </a:prstGeom>
        </p:spPr>
      </p:pic>
    </p:spTree>
    <p:extLst>
      <p:ext uri="{BB962C8B-B14F-4D97-AF65-F5344CB8AC3E}">
        <p14:creationId xmlns:p14="http://schemas.microsoft.com/office/powerpoint/2010/main" val="3086644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a:ea typeface="Roboto Condensed"/>
                <a:cs typeface="Roboto Condensed"/>
                <a:sym typeface="Roboto Condensed"/>
              </a:defRPr>
            </a:lvl1pPr>
            <a:lvl2pPr lvl="1" algn="r">
              <a:buNone/>
              <a:defRPr sz="1200" b="1">
                <a:solidFill>
                  <a:srgbClr val="FFFFFF"/>
                </a:solidFill>
                <a:latin typeface="Roboto Condensed"/>
                <a:ea typeface="Roboto Condensed"/>
                <a:cs typeface="Roboto Condensed"/>
                <a:sym typeface="Roboto Condensed"/>
              </a:defRPr>
            </a:lvl2pPr>
            <a:lvl3pPr lvl="2" algn="r">
              <a:buNone/>
              <a:defRPr sz="1200" b="1">
                <a:solidFill>
                  <a:srgbClr val="FFFFFF"/>
                </a:solidFill>
                <a:latin typeface="Roboto Condensed"/>
                <a:ea typeface="Roboto Condensed"/>
                <a:cs typeface="Roboto Condensed"/>
                <a:sym typeface="Roboto Condensed"/>
              </a:defRPr>
            </a:lvl3pPr>
            <a:lvl4pPr lvl="3" algn="r">
              <a:buNone/>
              <a:defRPr sz="1200" b="1">
                <a:solidFill>
                  <a:srgbClr val="FFFFFF"/>
                </a:solidFill>
                <a:latin typeface="Roboto Condensed"/>
                <a:ea typeface="Roboto Condensed"/>
                <a:cs typeface="Roboto Condensed"/>
                <a:sym typeface="Roboto Condensed"/>
              </a:defRPr>
            </a:lvl4pPr>
            <a:lvl5pPr lvl="4" algn="r">
              <a:buNone/>
              <a:defRPr sz="1200" b="1">
                <a:solidFill>
                  <a:srgbClr val="FFFFFF"/>
                </a:solidFill>
                <a:latin typeface="Roboto Condensed"/>
                <a:ea typeface="Roboto Condensed"/>
                <a:cs typeface="Roboto Condensed"/>
                <a:sym typeface="Roboto Condensed"/>
              </a:defRPr>
            </a:lvl5pPr>
            <a:lvl6pPr lvl="5" algn="r">
              <a:buNone/>
              <a:defRPr sz="1200" b="1">
                <a:solidFill>
                  <a:srgbClr val="FFFFFF"/>
                </a:solidFill>
                <a:latin typeface="Roboto Condensed"/>
                <a:ea typeface="Roboto Condensed"/>
                <a:cs typeface="Roboto Condensed"/>
                <a:sym typeface="Roboto Condensed"/>
              </a:defRPr>
            </a:lvl6pPr>
            <a:lvl7pPr lvl="6" algn="r">
              <a:buNone/>
              <a:defRPr sz="1200" b="1">
                <a:solidFill>
                  <a:srgbClr val="FFFFFF"/>
                </a:solidFill>
                <a:latin typeface="Roboto Condensed"/>
                <a:ea typeface="Roboto Condensed"/>
                <a:cs typeface="Roboto Condensed"/>
                <a:sym typeface="Roboto Condensed"/>
              </a:defRPr>
            </a:lvl7pPr>
            <a:lvl8pPr lvl="7" algn="r">
              <a:buNone/>
              <a:defRPr sz="1200" b="1">
                <a:solidFill>
                  <a:srgbClr val="FFFFFF"/>
                </a:solidFill>
                <a:latin typeface="Roboto Condensed"/>
                <a:ea typeface="Roboto Condensed"/>
                <a:cs typeface="Roboto Condensed"/>
                <a:sym typeface="Roboto Condensed"/>
              </a:defRPr>
            </a:lvl8pPr>
            <a:lvl9pPr lvl="8" algn="r">
              <a:buNone/>
              <a:defRPr sz="1200" b="1">
                <a:solidFill>
                  <a:srgbClr val="FFFFFF"/>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pic>
        <p:nvPicPr>
          <p:cNvPr id="5" name="Picture 4">
            <a:extLst>
              <a:ext uri="{FF2B5EF4-FFF2-40B4-BE49-F238E27FC236}">
                <a16:creationId xmlns:a16="http://schemas.microsoft.com/office/drawing/2014/main" id="{B9B48145-9848-2F4E-A51E-1AF5F3EC5EAD}"/>
              </a:ext>
            </a:extLst>
          </p:cNvPr>
          <p:cNvPicPr>
            <a:picLocks noChangeAspect="1"/>
          </p:cNvPicPr>
          <p:nvPr userDrawn="1"/>
        </p:nvPicPr>
        <p:blipFill>
          <a:blip r:embed="rId5"/>
          <a:stretch>
            <a:fillRect/>
          </a:stretch>
        </p:blipFill>
        <p:spPr>
          <a:xfrm>
            <a:off x="0" y="4243277"/>
            <a:ext cx="914400" cy="9144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transition>
    <p:fade thruBlk="1"/>
  </p:transition>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AkQuik559/Winter-2025-CS-497-Capstone-Project-Proposal-Enhancing-Aerospace-Supply-Chain-Resilience"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55576" y="1177119"/>
            <a:ext cx="7193492" cy="930203"/>
          </a:xfrm>
          <a:prstGeom prst="rect">
            <a:avLst/>
          </a:prstGeom>
        </p:spPr>
        <p:txBody>
          <a:bodyPr spcFirstLastPara="1" wrap="square" lIns="91425" tIns="91425" rIns="91425" bIns="91425" anchor="ctr" anchorCtr="0">
            <a:noAutofit/>
          </a:bodyPr>
          <a:lstStyle/>
          <a:p>
            <a:r>
              <a:rPr lang="en-US" sz="2400" dirty="0"/>
              <a:t>Enhancing Aerospace Supply Chain Resilience: A Predictive Analytics Approach to Mitigate Lead-Time Volatility</a:t>
            </a:r>
          </a:p>
        </p:txBody>
      </p:sp>
      <p:sp>
        <p:nvSpPr>
          <p:cNvPr id="4" name="AutoShape 8" descr="Image result for city university of seattle logo we are all about the finis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Google Shape;214;p13"/>
          <p:cNvSpPr txBox="1">
            <a:spLocks/>
          </p:cNvSpPr>
          <p:nvPr/>
        </p:nvSpPr>
        <p:spPr>
          <a:xfrm>
            <a:off x="12422" y="2107322"/>
            <a:ext cx="6404993" cy="183536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76200" indent="0" algn="ctr">
              <a:buNone/>
            </a:pPr>
            <a:r>
              <a:rPr lang="en-US" sz="1600" dirty="0">
                <a:solidFill>
                  <a:schemeClr val="bg1"/>
                </a:solidFill>
              </a:rPr>
              <a:t>Parmbir Singh</a:t>
            </a:r>
            <a:endParaRPr lang="en-US" dirty="0">
              <a:solidFill>
                <a:schemeClr val="bg1"/>
              </a:solidFill>
            </a:endParaRPr>
          </a:p>
          <a:p>
            <a:pPr marL="76200" indent="0" algn="ctr">
              <a:buNone/>
            </a:pPr>
            <a:r>
              <a:rPr lang="en-US" sz="1600" dirty="0">
                <a:solidFill>
                  <a:schemeClr val="bg1"/>
                </a:solidFill>
              </a:rPr>
              <a:t>Course 497 Technology/Computing Capstone</a:t>
            </a:r>
          </a:p>
          <a:p>
            <a:pPr marL="76200" indent="0" algn="ctr">
              <a:buNone/>
            </a:pPr>
            <a:r>
              <a:rPr lang="en-US" sz="1600" dirty="0">
                <a:solidFill>
                  <a:schemeClr val="bg1"/>
                </a:solidFill>
              </a:rPr>
              <a:t>2026</a:t>
            </a:r>
            <a:br>
              <a:rPr lang="en-US" sz="1600" dirty="0">
                <a:solidFill>
                  <a:schemeClr val="bg1"/>
                </a:solidFill>
              </a:rPr>
            </a:br>
            <a:r>
              <a:rPr lang="en-US" sz="1600" dirty="0">
                <a:solidFill>
                  <a:schemeClr val="bg1"/>
                </a:solidFill>
              </a:rPr>
              <a:t>BS in Computer Science</a:t>
            </a:r>
            <a:endParaRPr lang="en-US" dirty="0">
              <a:solidFill>
                <a:schemeClr val="bg1"/>
              </a:solidFill>
            </a:endParaRPr>
          </a:p>
          <a:p>
            <a:pPr marL="76200" indent="0" algn="ctr">
              <a:buNone/>
            </a:pPr>
            <a:r>
              <a:rPr lang="en-US" sz="1500" dirty="0">
                <a:solidFill>
                  <a:schemeClr val="bg1"/>
                </a:solidFill>
              </a:rPr>
              <a:t>School of Technology &amp; Computing (STC)</a:t>
            </a:r>
          </a:p>
        </p:txBody>
      </p:sp>
      <p:pic>
        <p:nvPicPr>
          <p:cNvPr id="15" name="Picture 14"/>
          <p:cNvPicPr>
            <a:picLocks noChangeAspect="1"/>
          </p:cNvPicPr>
          <p:nvPr/>
        </p:nvPicPr>
        <p:blipFill>
          <a:blip r:embed="rId3"/>
          <a:srcRect/>
          <a:stretch/>
        </p:blipFill>
        <p:spPr>
          <a:xfrm>
            <a:off x="6918941" y="1297222"/>
            <a:ext cx="1911792" cy="2549056"/>
          </a:xfrm>
          <a:prstGeom prst="rect">
            <a:avLst/>
          </a:prstGeom>
          <a:ln>
            <a:solidFill>
              <a:schemeClr val="accent1"/>
            </a:solidFill>
          </a:ln>
        </p:spPr>
      </p:pic>
      <p:sp>
        <p:nvSpPr>
          <p:cNvPr id="7" name="Slide Number Placeholder 5">
            <a:extLst>
              <a:ext uri="{FF2B5EF4-FFF2-40B4-BE49-F238E27FC236}">
                <a16:creationId xmlns:a16="http://schemas.microsoft.com/office/drawing/2014/main" id="{E59D2A3D-D013-0613-E2C5-08902924B9C2}"/>
              </a:ext>
            </a:extLst>
          </p:cNvPr>
          <p:cNvSpPr txBox="1">
            <a:spLocks/>
          </p:cNvSpPr>
          <p:nvPr/>
        </p:nvSpPr>
        <p:spPr>
          <a:xfrm>
            <a:off x="7612138" y="4278947"/>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a:t>
            </a:fld>
            <a:endParaRPr lang="en"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Text Placeholder 2"/>
          <p:cNvSpPr>
            <a:spLocks noGrp="1"/>
          </p:cNvSpPr>
          <p:nvPr>
            <p:ph type="body" idx="1"/>
          </p:nvPr>
        </p:nvSpPr>
        <p:spPr>
          <a:xfrm>
            <a:off x="983732" y="1397350"/>
            <a:ext cx="3836747" cy="3554750"/>
          </a:xfrm>
        </p:spPr>
        <p:txBody>
          <a:bodyPr/>
          <a:lstStyle/>
          <a:p>
            <a:r>
              <a:rPr lang="en-US" sz="2400" dirty="0"/>
              <a:t>Project Overview</a:t>
            </a:r>
          </a:p>
          <a:p>
            <a:r>
              <a:rPr lang="en-US" sz="2400" dirty="0"/>
              <a:t>Problem Statement</a:t>
            </a:r>
          </a:p>
          <a:p>
            <a:r>
              <a:rPr lang="en-US" sz="2400" dirty="0"/>
              <a:t>Approach</a:t>
            </a:r>
          </a:p>
          <a:p>
            <a:r>
              <a:rPr lang="en-US" sz="2400" dirty="0"/>
              <a:t>Data Collection</a:t>
            </a:r>
          </a:p>
        </p:txBody>
      </p:sp>
      <p:sp>
        <p:nvSpPr>
          <p:cNvPr id="5" name="Text Placeholder 2"/>
          <p:cNvSpPr txBox="1">
            <a:spLocks/>
          </p:cNvSpPr>
          <p:nvPr/>
        </p:nvSpPr>
        <p:spPr>
          <a:xfrm>
            <a:off x="4820479" y="1397349"/>
            <a:ext cx="4641573" cy="3554751"/>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8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r>
              <a:rPr lang="en-US" sz="2400" dirty="0"/>
              <a:t>Data Analysis</a:t>
            </a:r>
          </a:p>
          <a:p>
            <a:r>
              <a:rPr lang="en-US" sz="2400" dirty="0"/>
              <a:t>Key Findings</a:t>
            </a:r>
          </a:p>
          <a:p>
            <a:r>
              <a:rPr lang="en-US" sz="2400" dirty="0"/>
              <a:t>Next Steps</a:t>
            </a:r>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2425647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6ACA6-337F-8A33-DFA1-73370A58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31A40-AE77-5F43-1CA5-E043629DDF91}"/>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Abstract</a:t>
            </a:r>
          </a:p>
        </p:txBody>
      </p:sp>
      <p:sp>
        <p:nvSpPr>
          <p:cNvPr id="5" name="Slide Number Placeholder 4" hidden="1">
            <a:extLst>
              <a:ext uri="{FF2B5EF4-FFF2-40B4-BE49-F238E27FC236}">
                <a16:creationId xmlns:a16="http://schemas.microsoft.com/office/drawing/2014/main" id="{6510A733-0BA2-9069-41BE-D59FC3EB75C7}"/>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3</a:t>
            </a:fld>
            <a:endParaRPr lang="en"/>
          </a:p>
        </p:txBody>
      </p:sp>
      <p:sp>
        <p:nvSpPr>
          <p:cNvPr id="3" name="Text Placeholder 2">
            <a:extLst>
              <a:ext uri="{FF2B5EF4-FFF2-40B4-BE49-F238E27FC236}">
                <a16:creationId xmlns:a16="http://schemas.microsoft.com/office/drawing/2014/main" id="{600A0362-567C-A958-9107-2737094F0BE3}"/>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Aerospace supply chains face lead-time volatility due to reactive planning</a:t>
            </a:r>
          </a:p>
          <a:p>
            <a:pPr marL="457200" indent="-381000">
              <a:lnSpc>
                <a:spcPct val="90000"/>
              </a:lnSpc>
              <a:spcBef>
                <a:spcPts val="600"/>
              </a:spcBef>
              <a:buClr>
                <a:srgbClr val="C7D3E6"/>
              </a:buClr>
              <a:buSzPts val="2400"/>
              <a:buFont typeface="Roboto Condensed Light"/>
              <a:buChar char="▰"/>
            </a:pPr>
            <a:r>
              <a:rPr lang="en-US" sz="2400" dirty="0"/>
              <a:t>Limited multi-tier supplier visibility causes production instability</a:t>
            </a:r>
          </a:p>
          <a:p>
            <a:pPr marL="457200" indent="-381000">
              <a:lnSpc>
                <a:spcPct val="90000"/>
              </a:lnSpc>
              <a:spcBef>
                <a:spcPts val="600"/>
              </a:spcBef>
              <a:buClr>
                <a:srgbClr val="C7D3E6"/>
              </a:buClr>
              <a:buSzPts val="2400"/>
              <a:buFont typeface="Roboto Condensed Light"/>
              <a:buChar char="▰"/>
            </a:pPr>
            <a:r>
              <a:rPr lang="en-US" sz="2400" dirty="0"/>
              <a:t>Literature shows outdated models are insufficient</a:t>
            </a:r>
          </a:p>
          <a:p>
            <a:pPr marL="457200" indent="-381000">
              <a:lnSpc>
                <a:spcPct val="90000"/>
              </a:lnSpc>
              <a:spcBef>
                <a:spcPts val="600"/>
              </a:spcBef>
              <a:buClr>
                <a:srgbClr val="C7D3E6"/>
              </a:buClr>
              <a:buSzPts val="2400"/>
              <a:buFont typeface="Roboto Condensed Light"/>
              <a:buChar char="▰"/>
            </a:pPr>
            <a:r>
              <a:rPr lang="en-US" sz="2400" dirty="0"/>
              <a:t>Predictive analytics framework developed to analyze supply chain patterns</a:t>
            </a:r>
          </a:p>
          <a:p>
            <a:pPr marL="457200" indent="-381000">
              <a:lnSpc>
                <a:spcPct val="90000"/>
              </a:lnSpc>
              <a:spcBef>
                <a:spcPts val="600"/>
              </a:spcBef>
              <a:buClr>
                <a:srgbClr val="C7D3E6"/>
              </a:buClr>
              <a:buSzPts val="2400"/>
              <a:buFont typeface="Roboto Condensed Light"/>
              <a:buChar char="▰"/>
            </a:pPr>
            <a:r>
              <a:rPr lang="en-US" sz="2400" dirty="0"/>
              <a:t>Goal: shift from reactive response to proactive forecasting</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BF2AFDBB-D50B-13A0-0E4C-06BEAA578DBD}"/>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3</a:t>
            </a:fld>
            <a:endParaRPr lang="en" dirty="0">
              <a:solidFill>
                <a:schemeClr val="bg1"/>
              </a:solidFill>
            </a:endParaRPr>
          </a:p>
        </p:txBody>
      </p:sp>
    </p:spTree>
    <p:extLst>
      <p:ext uri="{BB962C8B-B14F-4D97-AF65-F5344CB8AC3E}">
        <p14:creationId xmlns:p14="http://schemas.microsoft.com/office/powerpoint/2010/main" val="115124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FA319-30F6-2FC3-A934-A12EE5B70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14DE5-914D-F92F-D6BD-10B5D849E723}"/>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Keywords</a:t>
            </a:r>
          </a:p>
        </p:txBody>
      </p:sp>
      <p:sp>
        <p:nvSpPr>
          <p:cNvPr id="5" name="Slide Number Placeholder 4" hidden="1">
            <a:extLst>
              <a:ext uri="{FF2B5EF4-FFF2-40B4-BE49-F238E27FC236}">
                <a16:creationId xmlns:a16="http://schemas.microsoft.com/office/drawing/2014/main" id="{82F0C6AA-A1AB-8C1B-4764-9AE5596C90EE}"/>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4</a:t>
            </a:fld>
            <a:endParaRPr lang="en"/>
          </a:p>
        </p:txBody>
      </p:sp>
      <p:sp>
        <p:nvSpPr>
          <p:cNvPr id="3" name="Text Placeholder 2">
            <a:extLst>
              <a:ext uri="{FF2B5EF4-FFF2-40B4-BE49-F238E27FC236}">
                <a16:creationId xmlns:a16="http://schemas.microsoft.com/office/drawing/2014/main" id="{2243703C-126D-0219-E215-C5E93FA301DE}"/>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200" b="0" i="0" u="none" strike="noStrike" cap="none" dirty="0">
                <a:solidFill>
                  <a:srgbClr val="263248"/>
                </a:solidFill>
                <a:latin typeface="Roboto Condensed Light"/>
                <a:ea typeface="Roboto Condensed Light"/>
                <a:cs typeface="Roboto Condensed Light"/>
                <a:sym typeface="Roboto Condensed Light"/>
              </a:rPr>
              <a:t> </a:t>
            </a:r>
            <a:r>
              <a:rPr lang="en-US" sz="2400" dirty="0"/>
              <a:t>Aerospace Supply Chain</a:t>
            </a:r>
          </a:p>
          <a:p>
            <a:pPr marL="457200" indent="-381000">
              <a:lnSpc>
                <a:spcPct val="90000"/>
              </a:lnSpc>
              <a:spcBef>
                <a:spcPts val="600"/>
              </a:spcBef>
              <a:buClr>
                <a:srgbClr val="C7D3E6"/>
              </a:buClr>
              <a:buSzPts val="2400"/>
              <a:buFont typeface="Roboto Condensed Light"/>
              <a:buChar char="▰"/>
            </a:pPr>
            <a:r>
              <a:rPr lang="en-US" sz="2400" dirty="0"/>
              <a:t>Predictive Analytics</a:t>
            </a:r>
          </a:p>
          <a:p>
            <a:pPr marL="457200" indent="-381000">
              <a:lnSpc>
                <a:spcPct val="90000"/>
              </a:lnSpc>
              <a:spcBef>
                <a:spcPts val="600"/>
              </a:spcBef>
              <a:buClr>
                <a:srgbClr val="C7D3E6"/>
              </a:buClr>
              <a:buSzPts val="2400"/>
              <a:buFont typeface="Roboto Condensed Light"/>
              <a:buChar char="▰"/>
            </a:pPr>
            <a:r>
              <a:rPr lang="en-US" sz="2400" dirty="0"/>
              <a:t>Lead-Time Volatility</a:t>
            </a:r>
          </a:p>
          <a:p>
            <a:pPr marL="457200" indent="-381000">
              <a:lnSpc>
                <a:spcPct val="90000"/>
              </a:lnSpc>
              <a:spcBef>
                <a:spcPts val="600"/>
              </a:spcBef>
              <a:buClr>
                <a:srgbClr val="C7D3E6"/>
              </a:buClr>
              <a:buSzPts val="2400"/>
              <a:buFont typeface="Roboto Condensed Light"/>
              <a:buChar char="▰"/>
            </a:pPr>
            <a:r>
              <a:rPr lang="en-US" sz="2400" dirty="0"/>
              <a:t>Machine Learning</a:t>
            </a:r>
          </a:p>
          <a:p>
            <a:pPr marL="457200" indent="-381000">
              <a:lnSpc>
                <a:spcPct val="90000"/>
              </a:lnSpc>
              <a:spcBef>
                <a:spcPts val="600"/>
              </a:spcBef>
              <a:buClr>
                <a:srgbClr val="C7D3E6"/>
              </a:buClr>
              <a:buSzPts val="2400"/>
              <a:buFont typeface="Roboto Condensed Light"/>
              <a:buChar char="▰"/>
            </a:pPr>
            <a:r>
              <a:rPr lang="en-US" sz="2400" dirty="0"/>
              <a:t>Supply Chain Risk</a:t>
            </a:r>
          </a:p>
          <a:p>
            <a:pPr marL="457200" indent="-381000">
              <a:lnSpc>
                <a:spcPct val="90000"/>
              </a:lnSpc>
              <a:spcBef>
                <a:spcPts val="600"/>
              </a:spcBef>
              <a:buClr>
                <a:srgbClr val="C7D3E6"/>
              </a:buClr>
              <a:buSzPts val="2400"/>
              <a:buFont typeface="Roboto Condensed Light"/>
              <a:buChar char="▰"/>
            </a:pPr>
            <a:r>
              <a:rPr lang="en-US" sz="2400" dirty="0"/>
              <a:t>Digital Supply Chain</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C1393271-0418-12DD-F27D-D5D08BC9FDB5}"/>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4</a:t>
            </a:fld>
            <a:endParaRPr lang="en" dirty="0">
              <a:solidFill>
                <a:schemeClr val="bg1"/>
              </a:solidFill>
            </a:endParaRPr>
          </a:p>
        </p:txBody>
      </p:sp>
    </p:spTree>
    <p:extLst>
      <p:ext uri="{BB962C8B-B14F-4D97-AF65-F5344CB8AC3E}">
        <p14:creationId xmlns:p14="http://schemas.microsoft.com/office/powerpoint/2010/main" val="48031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4275" y="392575"/>
            <a:ext cx="5258400" cy="766200"/>
          </a:xfrm>
        </p:spPr>
        <p:txBody>
          <a:bodyPr wrap="square" anchor="ctr">
            <a:normAutofit/>
          </a:bodyPr>
          <a:lstStyle/>
          <a:p>
            <a:pPr>
              <a:lnSpc>
                <a:spcPct val="90000"/>
              </a:lnSpc>
            </a:pPr>
            <a:r>
              <a:rPr lang="en-US" sz="4100"/>
              <a:t>Problem Statement</a:t>
            </a:r>
            <a:endParaRPr lang="en-US" sz="4100" dirty="0"/>
          </a:p>
        </p:txBody>
      </p:sp>
      <p:sp>
        <p:nvSpPr>
          <p:cNvPr id="5" name="Slide Number Placeholder 4" hidden="1"/>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5</a:t>
            </a:fld>
            <a:endParaRPr lang="en"/>
          </a:p>
        </p:txBody>
      </p:sp>
      <p:sp>
        <p:nvSpPr>
          <p:cNvPr id="3" name="Slide Number Placeholder 5">
            <a:extLst>
              <a:ext uri="{FF2B5EF4-FFF2-40B4-BE49-F238E27FC236}">
                <a16:creationId xmlns:a16="http://schemas.microsoft.com/office/drawing/2014/main" id="{62D5494C-4B48-A1DB-C0A8-D119F47D3E95}"/>
              </a:ext>
            </a:extLst>
          </p:cNvPr>
          <p:cNvSpPr txBox="1">
            <a:spLocks/>
          </p:cNvSpPr>
          <p:nvPr/>
        </p:nvSpPr>
        <p:spPr>
          <a:xfrm>
            <a:off x="7600415" y="4261361"/>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Aft>
                <a:spcPts val="600"/>
              </a:spcAft>
            </a:pPr>
            <a:fld id="{00000000-1234-1234-1234-123412341234}" type="slidenum">
              <a:rPr lang="en" smtClean="0">
                <a:solidFill>
                  <a:schemeClr val="bg1"/>
                </a:solidFill>
              </a:rPr>
              <a:pPr algn="r">
                <a:spcAft>
                  <a:spcPts val="600"/>
                </a:spcAft>
              </a:pPr>
              <a:t>5</a:t>
            </a:fld>
            <a:endParaRPr lang="en">
              <a:solidFill>
                <a:schemeClr val="bg1"/>
              </a:solidFill>
            </a:endParaRPr>
          </a:p>
        </p:txBody>
      </p:sp>
      <p:sp>
        <p:nvSpPr>
          <p:cNvPr id="4" name="Slide Number Placeholder 5">
            <a:extLst>
              <a:ext uri="{FF2B5EF4-FFF2-40B4-BE49-F238E27FC236}">
                <a16:creationId xmlns:a16="http://schemas.microsoft.com/office/drawing/2014/main" id="{FBCBDF3E-05E2-6DEA-CE78-FDD2C2433A5E}"/>
              </a:ext>
            </a:extLst>
          </p:cNvPr>
          <p:cNvSpPr txBox="1">
            <a:spLocks/>
          </p:cNvSpPr>
          <p:nvPr/>
        </p:nvSpPr>
        <p:spPr>
          <a:xfrm>
            <a:off x="814275" y="999000"/>
            <a:ext cx="4930269" cy="31455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spcBef>
                <a:spcPts val="600"/>
              </a:spcBef>
              <a:buClr>
                <a:srgbClr val="C7D3E6"/>
              </a:buClr>
              <a:buSzPts val="2400"/>
              <a:buFont typeface="Roboto Condensed Light"/>
              <a:buChar char="▰"/>
            </a:pPr>
            <a:r>
              <a:rPr lang="en-US" sz="2800" dirty="0"/>
              <a:t>Aerospace supply chains rely on reactive planning and historical averages.</a:t>
            </a:r>
          </a:p>
          <a:p>
            <a:pPr marL="457200" indent="-381000">
              <a:spcBef>
                <a:spcPts val="600"/>
              </a:spcBef>
              <a:buClr>
                <a:srgbClr val="C7D3E6"/>
              </a:buClr>
              <a:buSzPts val="2400"/>
              <a:buFont typeface="Roboto Condensed Light"/>
              <a:buChar char="▰"/>
            </a:pPr>
            <a:r>
              <a:rPr lang="en-US" sz="2800" dirty="0"/>
              <a:t>Limited supplier visibility causes lead-time volatility.</a:t>
            </a:r>
          </a:p>
          <a:p>
            <a:pPr marL="457200" indent="-381000">
              <a:spcBef>
                <a:spcPts val="600"/>
              </a:spcBef>
              <a:buClr>
                <a:srgbClr val="C7D3E6"/>
              </a:buClr>
              <a:buSzPts val="2400"/>
              <a:buFont typeface="Roboto Condensed Light"/>
              <a:buChar char="▰"/>
            </a:pPr>
            <a:r>
              <a:rPr lang="en-US" sz="2800" dirty="0"/>
              <a:t>Delays in minor components stall entire aircraft production.</a:t>
            </a:r>
            <a:endParaRPr lang="en-US" sz="2800" b="0" i="0" u="none" strike="noStrike" cap="none" dirty="0">
              <a:solidFill>
                <a:srgbClr val="263248"/>
              </a:solidFill>
              <a:latin typeface="Roboto Condensed Light"/>
              <a:ea typeface="Roboto Condensed Light"/>
              <a:cs typeface="Roboto Condensed Light"/>
              <a:sym typeface="Roboto Condensed Light"/>
            </a:endParaRPr>
          </a:p>
        </p:txBody>
      </p:sp>
    </p:spTree>
    <p:extLst>
      <p:ext uri="{BB962C8B-B14F-4D97-AF65-F5344CB8AC3E}">
        <p14:creationId xmlns:p14="http://schemas.microsoft.com/office/powerpoint/2010/main" val="3443371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C3416-FAF6-AFFB-7361-7D35B7591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762EC-CE23-F3A9-D0BF-B23FA635917F}"/>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Background</a:t>
            </a:r>
          </a:p>
        </p:txBody>
      </p:sp>
      <p:sp>
        <p:nvSpPr>
          <p:cNvPr id="5" name="Slide Number Placeholder 4" hidden="1">
            <a:extLst>
              <a:ext uri="{FF2B5EF4-FFF2-40B4-BE49-F238E27FC236}">
                <a16:creationId xmlns:a16="http://schemas.microsoft.com/office/drawing/2014/main" id="{398FB18B-A3C3-E76C-B058-82597DE8E370}"/>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6</a:t>
            </a:fld>
            <a:endParaRPr lang="en"/>
          </a:p>
        </p:txBody>
      </p:sp>
      <p:sp>
        <p:nvSpPr>
          <p:cNvPr id="3" name="Text Placeholder 2">
            <a:extLst>
              <a:ext uri="{FF2B5EF4-FFF2-40B4-BE49-F238E27FC236}">
                <a16:creationId xmlns:a16="http://schemas.microsoft.com/office/drawing/2014/main" id="{8CD0DB97-3C2B-DC83-6D62-87A519310BA2}"/>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Reviewed government, industry, and professional sources</a:t>
            </a:r>
          </a:p>
          <a:p>
            <a:pPr marL="457200" indent="-381000">
              <a:lnSpc>
                <a:spcPct val="90000"/>
              </a:lnSpc>
              <a:spcBef>
                <a:spcPts val="600"/>
              </a:spcBef>
              <a:buClr>
                <a:srgbClr val="C7D3E6"/>
              </a:buClr>
              <a:buSzPts val="2400"/>
              <a:buFont typeface="Roboto Condensed Light"/>
              <a:buChar char="▰"/>
            </a:pPr>
            <a:r>
              <a:rPr lang="en-US" sz="2400" dirty="0"/>
              <a:t>Identified evidence of reactive supply chain practices</a:t>
            </a:r>
          </a:p>
          <a:p>
            <a:pPr marL="457200" indent="-381000">
              <a:lnSpc>
                <a:spcPct val="90000"/>
              </a:lnSpc>
              <a:spcBef>
                <a:spcPts val="600"/>
              </a:spcBef>
              <a:buClr>
                <a:srgbClr val="C7D3E6"/>
              </a:buClr>
              <a:buSzPts val="2400"/>
              <a:buFont typeface="Roboto Condensed Light"/>
              <a:buChar char="▰"/>
            </a:pPr>
            <a:r>
              <a:rPr lang="en-US" sz="2400" dirty="0"/>
              <a:t>Found repeated reports of supplier delays and visibility gaps</a:t>
            </a:r>
          </a:p>
          <a:p>
            <a:pPr marL="457200" indent="-381000">
              <a:lnSpc>
                <a:spcPct val="90000"/>
              </a:lnSpc>
              <a:spcBef>
                <a:spcPts val="600"/>
              </a:spcBef>
              <a:buClr>
                <a:srgbClr val="C7D3E6"/>
              </a:buClr>
              <a:buSzPts val="2400"/>
              <a:buFont typeface="Roboto Condensed Light"/>
              <a:buChar char="▰"/>
            </a:pPr>
            <a:r>
              <a:rPr lang="en-US" sz="2400" dirty="0"/>
              <a:t>Identified emerging use of predictive analytics in aerospace</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1A658873-3CC8-C4E4-534A-B74BDFD301C2}"/>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6</a:t>
            </a:fld>
            <a:endParaRPr lang="en" dirty="0">
              <a:solidFill>
                <a:schemeClr val="bg1"/>
              </a:solidFill>
            </a:endParaRPr>
          </a:p>
        </p:txBody>
      </p:sp>
    </p:spTree>
    <p:extLst>
      <p:ext uri="{BB962C8B-B14F-4D97-AF65-F5344CB8AC3E}">
        <p14:creationId xmlns:p14="http://schemas.microsoft.com/office/powerpoint/2010/main" val="23800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7E971-EEB4-8634-9C57-CB9F6688B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C4BA4-DC2F-3AE2-F6EA-0D6AC0C4D0B2}"/>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Background Evidence</a:t>
            </a:r>
          </a:p>
        </p:txBody>
      </p:sp>
      <p:sp>
        <p:nvSpPr>
          <p:cNvPr id="5" name="Slide Number Placeholder 4" hidden="1">
            <a:extLst>
              <a:ext uri="{FF2B5EF4-FFF2-40B4-BE49-F238E27FC236}">
                <a16:creationId xmlns:a16="http://schemas.microsoft.com/office/drawing/2014/main" id="{75582989-BC33-0A49-7EF4-DDF960C22EE1}"/>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7</a:t>
            </a:fld>
            <a:endParaRPr lang="en"/>
          </a:p>
        </p:txBody>
      </p:sp>
      <p:sp>
        <p:nvSpPr>
          <p:cNvPr id="3" name="Text Placeholder 2">
            <a:extLst>
              <a:ext uri="{FF2B5EF4-FFF2-40B4-BE49-F238E27FC236}">
                <a16:creationId xmlns:a16="http://schemas.microsoft.com/office/drawing/2014/main" id="{FB438649-0031-8221-3512-976787D2775C}"/>
              </a:ext>
            </a:extLst>
          </p:cNvPr>
          <p:cNvSpPr txBox="1">
            <a:spLocks/>
          </p:cNvSpPr>
          <p:nvPr/>
        </p:nvSpPr>
        <p:spPr>
          <a:xfrm>
            <a:off x="814275" y="999000"/>
            <a:ext cx="5806658"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GAO: limited multi-tier supplier visibility</a:t>
            </a:r>
          </a:p>
          <a:p>
            <a:pPr marL="457200" indent="-381000">
              <a:lnSpc>
                <a:spcPct val="90000"/>
              </a:lnSpc>
              <a:spcBef>
                <a:spcPts val="600"/>
              </a:spcBef>
              <a:buClr>
                <a:srgbClr val="C7D3E6"/>
              </a:buClr>
              <a:buSzPts val="2400"/>
              <a:buFont typeface="Roboto Condensed Light"/>
              <a:buChar char="▰"/>
            </a:pPr>
            <a:r>
              <a:rPr lang="en-US" sz="2400" dirty="0"/>
              <a:t>Leeham: Boeing &amp; Airbus production slowdowns</a:t>
            </a:r>
          </a:p>
          <a:p>
            <a:pPr marL="457200" indent="-381000">
              <a:lnSpc>
                <a:spcPct val="90000"/>
              </a:lnSpc>
              <a:spcBef>
                <a:spcPts val="600"/>
              </a:spcBef>
              <a:buClr>
                <a:srgbClr val="C7D3E6"/>
              </a:buClr>
              <a:buSzPts val="2400"/>
              <a:buFont typeface="Roboto Condensed Light"/>
              <a:buChar char="▰"/>
            </a:pPr>
            <a:r>
              <a:rPr lang="en-US" sz="2400" dirty="0"/>
              <a:t>Reuters: supplier capacity affecting output goals</a:t>
            </a:r>
          </a:p>
          <a:p>
            <a:pPr marL="457200" indent="-381000">
              <a:lnSpc>
                <a:spcPct val="90000"/>
              </a:lnSpc>
              <a:spcBef>
                <a:spcPts val="600"/>
              </a:spcBef>
              <a:buClr>
                <a:srgbClr val="C7D3E6"/>
              </a:buClr>
              <a:buSzPts val="2400"/>
              <a:buFont typeface="Roboto Condensed Light"/>
              <a:buChar char="▰"/>
            </a:pPr>
            <a:r>
              <a:rPr lang="en-US" sz="2400" dirty="0"/>
              <a:t>Industry moving toward predictive tools (Trax, EY)</a:t>
            </a: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B8968175-69ED-B8DC-262C-7AC1BA8C6898}"/>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7</a:t>
            </a:fld>
            <a:endParaRPr lang="en" dirty="0">
              <a:solidFill>
                <a:schemeClr val="bg1"/>
              </a:solidFill>
            </a:endParaRPr>
          </a:p>
        </p:txBody>
      </p:sp>
    </p:spTree>
    <p:extLst>
      <p:ext uri="{BB962C8B-B14F-4D97-AF65-F5344CB8AC3E}">
        <p14:creationId xmlns:p14="http://schemas.microsoft.com/office/powerpoint/2010/main" val="312340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602C-5CEA-7637-0EEE-836DD7E09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A7DAA-DA2A-4DAF-4CF0-973410C0BDB7}"/>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Related Work</a:t>
            </a:r>
          </a:p>
        </p:txBody>
      </p:sp>
      <p:sp>
        <p:nvSpPr>
          <p:cNvPr id="5" name="Slide Number Placeholder 4" hidden="1">
            <a:extLst>
              <a:ext uri="{FF2B5EF4-FFF2-40B4-BE49-F238E27FC236}">
                <a16:creationId xmlns:a16="http://schemas.microsoft.com/office/drawing/2014/main" id="{A7F5389C-A57C-2651-CA1E-59A1588A40EA}"/>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8</a:t>
            </a:fld>
            <a:endParaRPr lang="en"/>
          </a:p>
        </p:txBody>
      </p:sp>
      <p:sp>
        <p:nvSpPr>
          <p:cNvPr id="3" name="Text Placeholder 2">
            <a:extLst>
              <a:ext uri="{FF2B5EF4-FFF2-40B4-BE49-F238E27FC236}">
                <a16:creationId xmlns:a16="http://schemas.microsoft.com/office/drawing/2014/main" id="{42189FA2-D837-DFCE-D004-BAB7250FCADA}"/>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latin typeface="+mj-lt"/>
              </a:rPr>
              <a:t>Outdated reactive aerospace supply chains</a:t>
            </a:r>
          </a:p>
          <a:p>
            <a:pPr marL="457200" indent="-381000">
              <a:lnSpc>
                <a:spcPct val="90000"/>
              </a:lnSpc>
              <a:spcBef>
                <a:spcPts val="600"/>
              </a:spcBef>
              <a:buClr>
                <a:srgbClr val="C7D3E6"/>
              </a:buClr>
              <a:buSzPts val="2400"/>
              <a:buFont typeface="Roboto Condensed Light"/>
              <a:buChar char="▰"/>
            </a:pPr>
            <a:r>
              <a:rPr lang="en-US" sz="2400" dirty="0">
                <a:latin typeface="+mj-lt"/>
              </a:rPr>
              <a:t>Lead-time volatility and production delays</a:t>
            </a:r>
          </a:p>
          <a:p>
            <a:pPr marL="457200" indent="-381000">
              <a:lnSpc>
                <a:spcPct val="90000"/>
              </a:lnSpc>
              <a:spcBef>
                <a:spcPts val="600"/>
              </a:spcBef>
              <a:buClr>
                <a:srgbClr val="C7D3E6"/>
              </a:buClr>
              <a:buSzPts val="2400"/>
              <a:buFont typeface="Roboto Condensed Light"/>
              <a:buChar char="▰"/>
            </a:pPr>
            <a:r>
              <a:rPr lang="en-US" sz="2400" dirty="0">
                <a:latin typeface="+mj-lt"/>
              </a:rPr>
              <a:t>Supplier capacity constraints across tiers</a:t>
            </a:r>
          </a:p>
          <a:p>
            <a:pPr marL="457200" indent="-381000">
              <a:lnSpc>
                <a:spcPct val="90000"/>
              </a:lnSpc>
              <a:spcBef>
                <a:spcPts val="600"/>
              </a:spcBef>
              <a:buClr>
                <a:srgbClr val="C7D3E6"/>
              </a:buClr>
              <a:buSzPts val="2400"/>
              <a:buFont typeface="Roboto Condensed Light"/>
              <a:buChar char="▰"/>
            </a:pPr>
            <a:r>
              <a:rPr lang="en-US" sz="2400" dirty="0">
                <a:latin typeface="+mj-lt"/>
              </a:rPr>
              <a:t>Predictive analytics as emerging solution</a:t>
            </a:r>
            <a:endParaRPr lang="en-US" sz="2400" b="0" i="0" u="none" strike="noStrike" cap="none" dirty="0">
              <a:solidFill>
                <a:srgbClr val="263248"/>
              </a:solidFill>
              <a:latin typeface="+mj-l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8086FC16-40EA-83A1-77A8-97B881189444}"/>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8</a:t>
            </a:fld>
            <a:endParaRPr lang="en" dirty="0">
              <a:solidFill>
                <a:schemeClr val="bg1"/>
              </a:solidFill>
            </a:endParaRPr>
          </a:p>
        </p:txBody>
      </p:sp>
    </p:spTree>
    <p:extLst>
      <p:ext uri="{BB962C8B-B14F-4D97-AF65-F5344CB8AC3E}">
        <p14:creationId xmlns:p14="http://schemas.microsoft.com/office/powerpoint/2010/main" val="2140754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B915E-2C50-CCDD-54D2-E1EA44475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A27CB-92FD-0775-02C3-73BB148474C9}"/>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Approach Overview</a:t>
            </a:r>
          </a:p>
        </p:txBody>
      </p:sp>
      <p:sp>
        <p:nvSpPr>
          <p:cNvPr id="5" name="Slide Number Placeholder 4" hidden="1">
            <a:extLst>
              <a:ext uri="{FF2B5EF4-FFF2-40B4-BE49-F238E27FC236}">
                <a16:creationId xmlns:a16="http://schemas.microsoft.com/office/drawing/2014/main" id="{B22DEC09-5DAF-D36C-299D-9A1E4579026C}"/>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9</a:t>
            </a:fld>
            <a:endParaRPr lang="en"/>
          </a:p>
        </p:txBody>
      </p:sp>
      <p:sp>
        <p:nvSpPr>
          <p:cNvPr id="3" name="Text Placeholder 2">
            <a:extLst>
              <a:ext uri="{FF2B5EF4-FFF2-40B4-BE49-F238E27FC236}">
                <a16:creationId xmlns:a16="http://schemas.microsoft.com/office/drawing/2014/main" id="{D9D14E73-D425-7011-6D24-4BB4D42D07DF}"/>
              </a:ext>
            </a:extLst>
          </p:cNvPr>
          <p:cNvSpPr txBox="1">
            <a:spLocks/>
          </p:cNvSpPr>
          <p:nvPr/>
        </p:nvSpPr>
        <p:spPr>
          <a:xfrm>
            <a:off x="814275" y="999000"/>
            <a:ext cx="5662725" cy="31455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Collected and cleaned multiple datasets </a:t>
            </a:r>
          </a:p>
          <a:p>
            <a:pPr marL="457200" indent="-381000">
              <a:lnSpc>
                <a:spcPct val="90000"/>
              </a:lnSpc>
              <a:spcBef>
                <a:spcPts val="600"/>
              </a:spcBef>
              <a:buClr>
                <a:srgbClr val="C7D3E6"/>
              </a:buClr>
              <a:buSzPts val="2400"/>
              <a:buFont typeface="Roboto Condensed Light"/>
              <a:buChar char="▰"/>
            </a:pPr>
            <a:r>
              <a:rPr lang="en-US" sz="2400" dirty="0"/>
              <a:t>Engineered features (volatility, pressure change) </a:t>
            </a:r>
          </a:p>
          <a:p>
            <a:pPr marL="457200" indent="-381000">
              <a:lnSpc>
                <a:spcPct val="90000"/>
              </a:lnSpc>
              <a:spcBef>
                <a:spcPts val="600"/>
              </a:spcBef>
              <a:buClr>
                <a:srgbClr val="C7D3E6"/>
              </a:buClr>
              <a:buSzPts val="2400"/>
              <a:buFont typeface="Roboto Condensed Light"/>
              <a:buChar char="▰"/>
            </a:pPr>
            <a:r>
              <a:rPr lang="en-US" sz="2400" dirty="0"/>
              <a:t>Applied time-series, volatility, and correlation analysis</a:t>
            </a:r>
          </a:p>
          <a:p>
            <a:pPr marL="457200" indent="-381000">
              <a:lnSpc>
                <a:spcPct val="90000"/>
              </a:lnSpc>
              <a:spcBef>
                <a:spcPts val="600"/>
              </a:spcBef>
              <a:buClr>
                <a:srgbClr val="C7D3E6"/>
              </a:buClr>
              <a:buSzPts val="2400"/>
              <a:buFont typeface="Roboto Condensed Light"/>
              <a:buChar char="▰"/>
            </a:pPr>
            <a:r>
              <a:rPr lang="en-US" sz="2400" dirty="0"/>
              <a:t>Used Power BI for visualization </a:t>
            </a:r>
          </a:p>
          <a:p>
            <a:pPr marL="457200" indent="-381000">
              <a:lnSpc>
                <a:spcPct val="90000"/>
              </a:lnSpc>
              <a:spcBef>
                <a:spcPts val="600"/>
              </a:spcBef>
              <a:buClr>
                <a:srgbClr val="C7D3E6"/>
              </a:buClr>
              <a:buSzPts val="2400"/>
              <a:buFont typeface="Roboto Condensed Light"/>
              <a:buChar char="▰"/>
            </a:pPr>
            <a:r>
              <a:rPr lang="en-US" sz="2400" dirty="0"/>
              <a:t>Designed approach to support reproducible analysis</a:t>
            </a:r>
          </a:p>
          <a:p>
            <a:pPr marL="457200" indent="-381000">
              <a:lnSpc>
                <a:spcPct val="90000"/>
              </a:lnSpc>
              <a:spcBef>
                <a:spcPts val="600"/>
              </a:spcBef>
              <a:buClr>
                <a:srgbClr val="C7D3E6"/>
              </a:buClr>
              <a:buSzPts val="2400"/>
              <a:buFont typeface="Roboto Condensed Light"/>
              <a:buChar char="▰"/>
            </a:pPr>
            <a:r>
              <a:rPr lang="en-US" sz="2400" dirty="0"/>
              <a:t>Technologies selected for scalability, reproducibility, and visualization clarity</a:t>
            </a:r>
          </a:p>
        </p:txBody>
      </p:sp>
      <p:sp>
        <p:nvSpPr>
          <p:cNvPr id="4" name="Slide Number Placeholder 5">
            <a:extLst>
              <a:ext uri="{FF2B5EF4-FFF2-40B4-BE49-F238E27FC236}">
                <a16:creationId xmlns:a16="http://schemas.microsoft.com/office/drawing/2014/main" id="{CEBAD5DF-6220-2A9B-BF51-84A4C8BE5805}"/>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9</a:t>
            </a:fld>
            <a:endParaRPr lang="en" dirty="0">
              <a:solidFill>
                <a:schemeClr val="bg1"/>
              </a:solidFill>
            </a:endParaRPr>
          </a:p>
        </p:txBody>
      </p:sp>
    </p:spTree>
    <p:extLst>
      <p:ext uri="{BB962C8B-B14F-4D97-AF65-F5344CB8AC3E}">
        <p14:creationId xmlns:p14="http://schemas.microsoft.com/office/powerpoint/2010/main" val="252816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5013-CECB-A902-7B8B-014D9FFFB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9531D-8107-38FB-7F88-20A64E9DDC35}"/>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System Design</a:t>
            </a:r>
          </a:p>
        </p:txBody>
      </p:sp>
      <p:sp>
        <p:nvSpPr>
          <p:cNvPr id="5" name="Slide Number Placeholder 4" hidden="1">
            <a:extLst>
              <a:ext uri="{FF2B5EF4-FFF2-40B4-BE49-F238E27FC236}">
                <a16:creationId xmlns:a16="http://schemas.microsoft.com/office/drawing/2014/main" id="{8172E217-68B1-0B4E-BCE5-6A6C43A2CDBA}"/>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10</a:t>
            </a:fld>
            <a:endParaRPr lang="en"/>
          </a:p>
        </p:txBody>
      </p:sp>
      <p:sp>
        <p:nvSpPr>
          <p:cNvPr id="4" name="Slide Number Placeholder 5">
            <a:extLst>
              <a:ext uri="{FF2B5EF4-FFF2-40B4-BE49-F238E27FC236}">
                <a16:creationId xmlns:a16="http://schemas.microsoft.com/office/drawing/2014/main" id="{1FB997D0-6745-3072-4326-EDC9F39F47CA}"/>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10</a:t>
            </a:fld>
            <a:endParaRPr lang="en" dirty="0">
              <a:solidFill>
                <a:schemeClr val="bg1"/>
              </a:solidFill>
            </a:endParaRPr>
          </a:p>
        </p:txBody>
      </p:sp>
      <p:sp>
        <p:nvSpPr>
          <p:cNvPr id="6" name="TextBox 5">
            <a:extLst>
              <a:ext uri="{FF2B5EF4-FFF2-40B4-BE49-F238E27FC236}">
                <a16:creationId xmlns:a16="http://schemas.microsoft.com/office/drawing/2014/main" id="{5E1702C1-AB29-D96C-08E3-D540357B689F}"/>
              </a:ext>
            </a:extLst>
          </p:cNvPr>
          <p:cNvSpPr txBox="1"/>
          <p:nvPr/>
        </p:nvSpPr>
        <p:spPr>
          <a:xfrm>
            <a:off x="814275" y="1105194"/>
            <a:ext cx="4576712" cy="2717667"/>
          </a:xfrm>
          <a:prstGeom prst="rect">
            <a:avLst/>
          </a:prstGeom>
          <a:noFill/>
        </p:spPr>
        <p:txBody>
          <a:bodyPr wrap="square">
            <a:spAutoFit/>
          </a:bodyPr>
          <a:lstStyle/>
          <a:p>
            <a:pPr marL="76200">
              <a:lnSpc>
                <a:spcPct val="90000"/>
              </a:lnSpc>
              <a:spcBef>
                <a:spcPts val="600"/>
              </a:spcBef>
              <a:buClr>
                <a:srgbClr val="C7D3E6"/>
              </a:buClr>
              <a:buSzPts val="2400"/>
            </a:pPr>
            <a:r>
              <a:rPr lang="en-US" sz="1200" b="1" dirty="0"/>
              <a:t>Data Ingestion</a:t>
            </a:r>
          </a:p>
          <a:p>
            <a:pPr marL="457200" indent="-381000">
              <a:lnSpc>
                <a:spcPct val="90000"/>
              </a:lnSpc>
              <a:spcBef>
                <a:spcPts val="600"/>
              </a:spcBef>
              <a:buClr>
                <a:srgbClr val="C7D3E6"/>
              </a:buClr>
              <a:buSzPts val="2400"/>
              <a:buFont typeface="Roboto Condensed Light"/>
              <a:buChar char="▰"/>
            </a:pPr>
            <a:r>
              <a:rPr lang="en-US" sz="1200" dirty="0"/>
              <a:t>Supplier delivery history</a:t>
            </a:r>
          </a:p>
          <a:p>
            <a:pPr marL="457200" indent="-381000">
              <a:lnSpc>
                <a:spcPct val="90000"/>
              </a:lnSpc>
              <a:spcBef>
                <a:spcPts val="600"/>
              </a:spcBef>
              <a:buClr>
                <a:srgbClr val="C7D3E6"/>
              </a:buClr>
              <a:buSzPts val="2400"/>
              <a:buFont typeface="Roboto Condensed Light"/>
              <a:buChar char="▰"/>
            </a:pPr>
            <a:r>
              <a:rPr lang="en-US" sz="1200" dirty="0"/>
              <a:t>Lead-time performance data</a:t>
            </a:r>
          </a:p>
          <a:p>
            <a:pPr marL="76200">
              <a:lnSpc>
                <a:spcPct val="90000"/>
              </a:lnSpc>
              <a:spcBef>
                <a:spcPts val="600"/>
              </a:spcBef>
              <a:buClr>
                <a:srgbClr val="C7D3E6"/>
              </a:buClr>
              <a:buSzPts val="2400"/>
            </a:pPr>
            <a:r>
              <a:rPr lang="en-US" sz="1200" b="1" dirty="0"/>
              <a:t>Data Processing</a:t>
            </a:r>
          </a:p>
          <a:p>
            <a:pPr marL="457200" indent="-381000">
              <a:lnSpc>
                <a:spcPct val="90000"/>
              </a:lnSpc>
              <a:spcBef>
                <a:spcPts val="600"/>
              </a:spcBef>
              <a:buClr>
                <a:srgbClr val="C7D3E6"/>
              </a:buClr>
              <a:buSzPts val="2400"/>
              <a:buFont typeface="Roboto Condensed Light"/>
              <a:buChar char="▰"/>
            </a:pPr>
            <a:r>
              <a:rPr lang="en-US" sz="1200" dirty="0"/>
              <a:t>Cleaning &amp; normalization</a:t>
            </a:r>
          </a:p>
          <a:p>
            <a:pPr marL="457200" indent="-381000">
              <a:lnSpc>
                <a:spcPct val="90000"/>
              </a:lnSpc>
              <a:spcBef>
                <a:spcPts val="600"/>
              </a:spcBef>
              <a:buClr>
                <a:srgbClr val="C7D3E6"/>
              </a:buClr>
              <a:buSzPts val="2400"/>
              <a:buFont typeface="Roboto Condensed Light"/>
              <a:buChar char="▰"/>
            </a:pPr>
            <a:r>
              <a:rPr lang="en-US" sz="1200" dirty="0"/>
              <a:t>Feature engineering</a:t>
            </a:r>
          </a:p>
          <a:p>
            <a:pPr marL="76200">
              <a:lnSpc>
                <a:spcPct val="90000"/>
              </a:lnSpc>
              <a:spcBef>
                <a:spcPts val="600"/>
              </a:spcBef>
              <a:buClr>
                <a:srgbClr val="C7D3E6"/>
              </a:buClr>
              <a:buSzPts val="2400"/>
            </a:pPr>
            <a:r>
              <a:rPr lang="en-US" sz="1200" b="1" dirty="0"/>
              <a:t>Risk Output</a:t>
            </a:r>
          </a:p>
          <a:p>
            <a:pPr marL="457200" indent="-381000">
              <a:lnSpc>
                <a:spcPct val="90000"/>
              </a:lnSpc>
              <a:spcBef>
                <a:spcPts val="600"/>
              </a:spcBef>
              <a:buClr>
                <a:srgbClr val="C7D3E6"/>
              </a:buClr>
              <a:buSzPts val="2400"/>
              <a:buFont typeface="Roboto Condensed Light"/>
              <a:buChar char="▰"/>
            </a:pPr>
            <a:r>
              <a:rPr lang="en-US" sz="1200" dirty="0"/>
              <a:t>Visualization Outputs </a:t>
            </a:r>
          </a:p>
          <a:p>
            <a:pPr marL="457200" indent="-381000">
              <a:lnSpc>
                <a:spcPct val="90000"/>
              </a:lnSpc>
              <a:spcBef>
                <a:spcPts val="600"/>
              </a:spcBef>
              <a:buClr>
                <a:srgbClr val="C7D3E6"/>
              </a:buClr>
              <a:buSzPts val="2400"/>
              <a:buFont typeface="Roboto Condensed Light"/>
              <a:buChar char="▰"/>
            </a:pPr>
            <a:r>
              <a:rPr lang="en-US" sz="1200" dirty="0"/>
              <a:t>Trend analysis </a:t>
            </a:r>
          </a:p>
          <a:p>
            <a:pPr marL="457200" indent="-381000">
              <a:lnSpc>
                <a:spcPct val="90000"/>
              </a:lnSpc>
              <a:spcBef>
                <a:spcPts val="600"/>
              </a:spcBef>
              <a:buClr>
                <a:srgbClr val="C7D3E6"/>
              </a:buClr>
              <a:buSzPts val="2400"/>
              <a:buFont typeface="Roboto Condensed Light"/>
              <a:buChar char="▰"/>
            </a:pPr>
            <a:r>
              <a:rPr lang="en-US" sz="1200" dirty="0"/>
              <a:t>Volatility indicators </a:t>
            </a:r>
          </a:p>
          <a:p>
            <a:pPr marL="457200" indent="-381000">
              <a:lnSpc>
                <a:spcPct val="90000"/>
              </a:lnSpc>
              <a:spcBef>
                <a:spcPts val="600"/>
              </a:spcBef>
              <a:buClr>
                <a:srgbClr val="C7D3E6"/>
              </a:buClr>
              <a:buSzPts val="2400"/>
              <a:buFont typeface="Roboto Condensed Light"/>
              <a:buChar char="▰"/>
            </a:pPr>
            <a:r>
              <a:rPr lang="en-US" sz="1200" dirty="0"/>
              <a:t>Correlation insights </a:t>
            </a:r>
            <a:endParaRPr lang="en-US" sz="1200" b="1" dirty="0"/>
          </a:p>
        </p:txBody>
      </p:sp>
    </p:spTree>
    <p:extLst>
      <p:ext uri="{BB962C8B-B14F-4D97-AF65-F5344CB8AC3E}">
        <p14:creationId xmlns:p14="http://schemas.microsoft.com/office/powerpoint/2010/main" val="404761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873C3-76C1-D8DB-4848-F8B4F3F79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0E03F-01E3-A60B-EFE8-033C66C08DAE}"/>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Technologies Used</a:t>
            </a:r>
          </a:p>
        </p:txBody>
      </p:sp>
      <p:sp>
        <p:nvSpPr>
          <p:cNvPr id="5" name="Slide Number Placeholder 4" hidden="1">
            <a:extLst>
              <a:ext uri="{FF2B5EF4-FFF2-40B4-BE49-F238E27FC236}">
                <a16:creationId xmlns:a16="http://schemas.microsoft.com/office/drawing/2014/main" id="{440E61FE-4AA7-E91C-5ABA-0ED2DC4C920A}"/>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11</a:t>
            </a:fld>
            <a:endParaRPr lang="en"/>
          </a:p>
        </p:txBody>
      </p:sp>
      <p:sp>
        <p:nvSpPr>
          <p:cNvPr id="4" name="Slide Number Placeholder 5">
            <a:extLst>
              <a:ext uri="{FF2B5EF4-FFF2-40B4-BE49-F238E27FC236}">
                <a16:creationId xmlns:a16="http://schemas.microsoft.com/office/drawing/2014/main" id="{D90F0319-8C03-862A-CDF1-B03783C4BACA}"/>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11</a:t>
            </a:fld>
            <a:endParaRPr lang="en" dirty="0">
              <a:solidFill>
                <a:schemeClr val="bg1"/>
              </a:solidFill>
            </a:endParaRPr>
          </a:p>
        </p:txBody>
      </p:sp>
      <p:sp>
        <p:nvSpPr>
          <p:cNvPr id="6" name="TextBox 5">
            <a:extLst>
              <a:ext uri="{FF2B5EF4-FFF2-40B4-BE49-F238E27FC236}">
                <a16:creationId xmlns:a16="http://schemas.microsoft.com/office/drawing/2014/main" id="{52A87F6C-39AC-9E0D-8676-706791A890A5}"/>
              </a:ext>
            </a:extLst>
          </p:cNvPr>
          <p:cNvSpPr txBox="1"/>
          <p:nvPr/>
        </p:nvSpPr>
        <p:spPr>
          <a:xfrm>
            <a:off x="814275" y="1460676"/>
            <a:ext cx="4576712" cy="2222147"/>
          </a:xfrm>
          <a:prstGeom prst="rect">
            <a:avLst/>
          </a:prstGeom>
          <a:noFill/>
        </p:spPr>
        <p:txBody>
          <a:bodyPr wrap="square">
            <a:spAutoFit/>
          </a:bodyPr>
          <a:lstStyle/>
          <a:p>
            <a:pPr marL="76200">
              <a:lnSpc>
                <a:spcPct val="90000"/>
              </a:lnSpc>
              <a:spcBef>
                <a:spcPts val="600"/>
              </a:spcBef>
              <a:buClr>
                <a:srgbClr val="C7D3E6"/>
              </a:buClr>
              <a:buSzPts val="2400"/>
            </a:pPr>
            <a:r>
              <a:rPr lang="en-US" sz="1800" b="1" dirty="0"/>
              <a:t>Primary Stack</a:t>
            </a:r>
          </a:p>
          <a:p>
            <a:pPr marL="457200" indent="-381000">
              <a:lnSpc>
                <a:spcPct val="90000"/>
              </a:lnSpc>
              <a:spcBef>
                <a:spcPts val="600"/>
              </a:spcBef>
              <a:buClr>
                <a:srgbClr val="C7D3E6"/>
              </a:buClr>
              <a:buSzPts val="2400"/>
              <a:buFont typeface="Roboto Condensed Light"/>
              <a:buChar char="▰"/>
            </a:pPr>
            <a:r>
              <a:rPr lang="en-US" sz="1800" dirty="0"/>
              <a:t>Databricks (Python notebooks)</a:t>
            </a:r>
          </a:p>
          <a:p>
            <a:pPr marL="76200">
              <a:lnSpc>
                <a:spcPct val="90000"/>
              </a:lnSpc>
              <a:spcBef>
                <a:spcPts val="600"/>
              </a:spcBef>
              <a:buClr>
                <a:srgbClr val="C7D3E6"/>
              </a:buClr>
              <a:buSzPts val="2400"/>
            </a:pPr>
            <a:endParaRPr lang="en-US" sz="1800" dirty="0"/>
          </a:p>
          <a:p>
            <a:pPr marL="457200" indent="-381000">
              <a:lnSpc>
                <a:spcPct val="90000"/>
              </a:lnSpc>
              <a:spcBef>
                <a:spcPts val="600"/>
              </a:spcBef>
              <a:buClr>
                <a:srgbClr val="C7D3E6"/>
              </a:buClr>
              <a:buSzPts val="2400"/>
              <a:buFont typeface="Roboto Condensed Light"/>
              <a:buChar char="▰"/>
            </a:pPr>
            <a:r>
              <a:rPr lang="en-US" sz="1800" dirty="0"/>
              <a:t>Power BI (dashboard &amp; visualization)</a:t>
            </a:r>
          </a:p>
          <a:p>
            <a:pPr marL="457200" indent="-381000">
              <a:lnSpc>
                <a:spcPct val="90000"/>
              </a:lnSpc>
              <a:spcBef>
                <a:spcPts val="600"/>
              </a:spcBef>
              <a:buClr>
                <a:srgbClr val="C7D3E6"/>
              </a:buClr>
              <a:buSzPts val="2400"/>
              <a:buFont typeface="Roboto Condensed Light"/>
              <a:buChar char="▰"/>
            </a:pPr>
            <a:endParaRPr lang="en-US" sz="1800" dirty="0"/>
          </a:p>
          <a:p>
            <a:pPr marL="457200" indent="-381000">
              <a:lnSpc>
                <a:spcPct val="90000"/>
              </a:lnSpc>
              <a:spcBef>
                <a:spcPts val="600"/>
              </a:spcBef>
              <a:buClr>
                <a:srgbClr val="C7D3E6"/>
              </a:buClr>
              <a:buSzPts val="2400"/>
              <a:buFont typeface="Roboto Condensed Light"/>
              <a:buChar char="▰"/>
            </a:pPr>
            <a:r>
              <a:rPr lang="en-US" sz="1800" dirty="0"/>
              <a:t>GitHub (version control &amp; documentation)</a:t>
            </a:r>
          </a:p>
        </p:txBody>
      </p:sp>
    </p:spTree>
    <p:extLst>
      <p:ext uri="{BB962C8B-B14F-4D97-AF65-F5344CB8AC3E}">
        <p14:creationId xmlns:p14="http://schemas.microsoft.com/office/powerpoint/2010/main" val="312471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7A258-AF9B-A47F-C6BD-32F213244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FE3B3-222D-F6FA-C9C2-B715060FB5C8}"/>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400" dirty="0"/>
              <a:t>Data Collection</a:t>
            </a:r>
            <a:endParaRPr lang="en-US" sz="4100" dirty="0"/>
          </a:p>
        </p:txBody>
      </p:sp>
      <p:sp>
        <p:nvSpPr>
          <p:cNvPr id="5" name="Slide Number Placeholder 4" hidden="1">
            <a:extLst>
              <a:ext uri="{FF2B5EF4-FFF2-40B4-BE49-F238E27FC236}">
                <a16:creationId xmlns:a16="http://schemas.microsoft.com/office/drawing/2014/main" id="{A29807D4-E8FC-0AF4-C5C2-0E3EACF0181D}"/>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12</a:t>
            </a:fld>
            <a:endParaRPr lang="en"/>
          </a:p>
        </p:txBody>
      </p:sp>
      <p:sp>
        <p:nvSpPr>
          <p:cNvPr id="4" name="Slide Number Placeholder 5">
            <a:extLst>
              <a:ext uri="{FF2B5EF4-FFF2-40B4-BE49-F238E27FC236}">
                <a16:creationId xmlns:a16="http://schemas.microsoft.com/office/drawing/2014/main" id="{887C0634-2F18-DD1C-EC3D-59875346EBE6}"/>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12</a:t>
            </a:fld>
            <a:endParaRPr lang="en" dirty="0">
              <a:solidFill>
                <a:schemeClr val="bg1"/>
              </a:solidFill>
            </a:endParaRPr>
          </a:p>
        </p:txBody>
      </p:sp>
      <p:sp>
        <p:nvSpPr>
          <p:cNvPr id="6" name="TextBox 5">
            <a:extLst>
              <a:ext uri="{FF2B5EF4-FFF2-40B4-BE49-F238E27FC236}">
                <a16:creationId xmlns:a16="http://schemas.microsoft.com/office/drawing/2014/main" id="{8A5C9102-CCA9-2BD0-5416-0816F7F92932}"/>
              </a:ext>
            </a:extLst>
          </p:cNvPr>
          <p:cNvSpPr txBox="1"/>
          <p:nvPr/>
        </p:nvSpPr>
        <p:spPr>
          <a:xfrm>
            <a:off x="814275" y="1134433"/>
            <a:ext cx="4576712" cy="2548390"/>
          </a:xfrm>
          <a:prstGeom prst="rect">
            <a:avLst/>
          </a:prstGeom>
          <a:noFill/>
        </p:spPr>
        <p:txBody>
          <a:bodyPr wrap="square">
            <a:spAutoFit/>
          </a:bodyPr>
          <a:lstStyle/>
          <a:p>
            <a:pPr marL="76200">
              <a:lnSpc>
                <a:spcPct val="90000"/>
              </a:lnSpc>
              <a:spcBef>
                <a:spcPts val="600"/>
              </a:spcBef>
              <a:buClr>
                <a:srgbClr val="C7D3E6"/>
              </a:buClr>
              <a:buSzPts val="2400"/>
            </a:pPr>
            <a:r>
              <a:rPr lang="en-US" sz="1800" b="1" dirty="0"/>
              <a:t>Data Source (Simulated / Structured Sample Data)</a:t>
            </a:r>
          </a:p>
          <a:p>
            <a:pPr marL="457200" lvl="1" indent="-381000">
              <a:lnSpc>
                <a:spcPct val="90000"/>
              </a:lnSpc>
              <a:spcBef>
                <a:spcPts val="600"/>
              </a:spcBef>
              <a:buClr>
                <a:srgbClr val="C7D3E6"/>
              </a:buClr>
              <a:buSzPts val="2400"/>
              <a:buFont typeface="Roboto Condensed Light"/>
              <a:buChar char="▰"/>
            </a:pPr>
            <a:r>
              <a:rPr lang="en-US" sz="1800" dirty="0"/>
              <a:t>Aerospace Production Index </a:t>
            </a:r>
          </a:p>
          <a:p>
            <a:pPr marL="457200" lvl="1" indent="-381000">
              <a:lnSpc>
                <a:spcPct val="90000"/>
              </a:lnSpc>
              <a:spcBef>
                <a:spcPts val="600"/>
              </a:spcBef>
              <a:buClr>
                <a:srgbClr val="C7D3E6"/>
              </a:buClr>
              <a:buSzPts val="2400"/>
              <a:buFont typeface="Roboto Condensed Light"/>
              <a:buChar char="▰"/>
            </a:pPr>
            <a:r>
              <a:rPr lang="en-US" sz="1800" dirty="0"/>
              <a:t>Freight Index </a:t>
            </a:r>
          </a:p>
          <a:p>
            <a:pPr marL="457200" lvl="1" indent="-381000">
              <a:lnSpc>
                <a:spcPct val="90000"/>
              </a:lnSpc>
              <a:spcBef>
                <a:spcPts val="600"/>
              </a:spcBef>
              <a:buClr>
                <a:srgbClr val="C7D3E6"/>
              </a:buClr>
              <a:buSzPts val="2400"/>
              <a:buFont typeface="Roboto Condensed Light"/>
              <a:buChar char="▰"/>
            </a:pPr>
            <a:r>
              <a:rPr lang="en-US" sz="1800" dirty="0"/>
              <a:t>Supply Chain Pressure Index</a:t>
            </a:r>
          </a:p>
          <a:p>
            <a:pPr marL="457200" lvl="1" indent="-381000">
              <a:lnSpc>
                <a:spcPct val="90000"/>
              </a:lnSpc>
              <a:spcBef>
                <a:spcPts val="600"/>
              </a:spcBef>
              <a:buClr>
                <a:srgbClr val="C7D3E6"/>
              </a:buClr>
              <a:buSzPts val="2400"/>
              <a:buFont typeface="Roboto Condensed Light"/>
              <a:buChar char="▰"/>
            </a:pPr>
            <a:r>
              <a:rPr lang="en-US" sz="1800" dirty="0"/>
              <a:t>Combined into unified dataset</a:t>
            </a:r>
          </a:p>
          <a:p>
            <a:pPr marL="457200" lvl="1" indent="-381000">
              <a:lnSpc>
                <a:spcPct val="90000"/>
              </a:lnSpc>
              <a:spcBef>
                <a:spcPts val="600"/>
              </a:spcBef>
              <a:buClr>
                <a:srgbClr val="C7D3E6"/>
              </a:buClr>
              <a:buSzPts val="2400"/>
              <a:buFont typeface="Roboto Condensed Light"/>
              <a:buChar char="▰"/>
            </a:pPr>
            <a:r>
              <a:rPr lang="en-US" sz="1800" dirty="0"/>
              <a:t>Processed in Databricks </a:t>
            </a:r>
          </a:p>
          <a:p>
            <a:pPr marL="457200" lvl="1" indent="-381000">
              <a:lnSpc>
                <a:spcPct val="90000"/>
              </a:lnSpc>
              <a:spcBef>
                <a:spcPts val="600"/>
              </a:spcBef>
              <a:buClr>
                <a:srgbClr val="C7D3E6"/>
              </a:buClr>
              <a:buSzPts val="2400"/>
              <a:buFont typeface="Roboto Condensed Light"/>
              <a:buChar char="▰"/>
            </a:pPr>
            <a:r>
              <a:rPr lang="en-US" sz="1800" dirty="0"/>
              <a:t>Exported to Power BI </a:t>
            </a:r>
          </a:p>
        </p:txBody>
      </p:sp>
    </p:spTree>
    <p:extLst>
      <p:ext uri="{BB962C8B-B14F-4D97-AF65-F5344CB8AC3E}">
        <p14:creationId xmlns:p14="http://schemas.microsoft.com/office/powerpoint/2010/main" val="3606967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7CD29-DEE9-2DE9-738B-F4FBE4C71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BF501-A035-8974-E576-C5C18E22B6E0}"/>
              </a:ext>
            </a:extLst>
          </p:cNvPr>
          <p:cNvSpPr>
            <a:spLocks noGrp="1"/>
          </p:cNvSpPr>
          <p:nvPr>
            <p:ph type="ctrTitle"/>
          </p:nvPr>
        </p:nvSpPr>
        <p:spPr>
          <a:xfrm>
            <a:off x="814274" y="392575"/>
            <a:ext cx="6386625" cy="766200"/>
          </a:xfrm>
        </p:spPr>
        <p:txBody>
          <a:bodyPr wrap="square" anchor="ctr">
            <a:normAutofit fontScale="90000"/>
          </a:bodyPr>
          <a:lstStyle/>
          <a:p>
            <a:pPr>
              <a:lnSpc>
                <a:spcPct val="90000"/>
              </a:lnSpc>
            </a:pPr>
            <a:r>
              <a:rPr lang="en-US" sz="4400" dirty="0"/>
              <a:t>Data Cleaning &amp; Preparation</a:t>
            </a:r>
            <a:endParaRPr lang="en-US" sz="4100" dirty="0"/>
          </a:p>
        </p:txBody>
      </p:sp>
      <p:sp>
        <p:nvSpPr>
          <p:cNvPr id="5" name="Slide Number Placeholder 4" hidden="1">
            <a:extLst>
              <a:ext uri="{FF2B5EF4-FFF2-40B4-BE49-F238E27FC236}">
                <a16:creationId xmlns:a16="http://schemas.microsoft.com/office/drawing/2014/main" id="{C32588D9-0F76-CED8-9F1D-DBF0BBE45F41}"/>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13</a:t>
            </a:fld>
            <a:endParaRPr lang="en"/>
          </a:p>
        </p:txBody>
      </p:sp>
      <p:sp>
        <p:nvSpPr>
          <p:cNvPr id="4" name="Slide Number Placeholder 5">
            <a:extLst>
              <a:ext uri="{FF2B5EF4-FFF2-40B4-BE49-F238E27FC236}">
                <a16:creationId xmlns:a16="http://schemas.microsoft.com/office/drawing/2014/main" id="{53A29983-6DD1-DD42-0503-BF3F30763137}"/>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13</a:t>
            </a:fld>
            <a:endParaRPr lang="en" dirty="0">
              <a:solidFill>
                <a:schemeClr val="bg1"/>
              </a:solidFill>
            </a:endParaRPr>
          </a:p>
        </p:txBody>
      </p:sp>
      <p:sp>
        <p:nvSpPr>
          <p:cNvPr id="6" name="TextBox 5">
            <a:extLst>
              <a:ext uri="{FF2B5EF4-FFF2-40B4-BE49-F238E27FC236}">
                <a16:creationId xmlns:a16="http://schemas.microsoft.com/office/drawing/2014/main" id="{1DDB7911-40C1-A911-AE65-EE297D2EF03D}"/>
              </a:ext>
            </a:extLst>
          </p:cNvPr>
          <p:cNvSpPr txBox="1"/>
          <p:nvPr/>
        </p:nvSpPr>
        <p:spPr>
          <a:xfrm>
            <a:off x="814274" y="1499148"/>
            <a:ext cx="5167425" cy="2145203"/>
          </a:xfrm>
          <a:prstGeom prst="rect">
            <a:avLst/>
          </a:prstGeom>
          <a:noFill/>
        </p:spPr>
        <p:txBody>
          <a:bodyPr wrap="square">
            <a:spAutoFit/>
          </a:bodyPr>
          <a:lstStyle/>
          <a:p>
            <a:pPr marL="457200" lvl="1" indent="-381000">
              <a:lnSpc>
                <a:spcPct val="90000"/>
              </a:lnSpc>
              <a:spcBef>
                <a:spcPts val="600"/>
              </a:spcBef>
              <a:buClr>
                <a:srgbClr val="C7D3E6"/>
              </a:buClr>
              <a:buSzPts val="2400"/>
              <a:buFont typeface="Roboto Condensed Light"/>
              <a:buChar char="▰"/>
            </a:pPr>
            <a:r>
              <a:rPr lang="en-US" sz="1800" dirty="0"/>
              <a:t>Removed missing and invalid values </a:t>
            </a:r>
          </a:p>
          <a:p>
            <a:pPr marL="457200" lvl="1" indent="-381000">
              <a:lnSpc>
                <a:spcPct val="90000"/>
              </a:lnSpc>
              <a:spcBef>
                <a:spcPts val="600"/>
              </a:spcBef>
              <a:buClr>
                <a:srgbClr val="C7D3E6"/>
              </a:buClr>
              <a:buSzPts val="2400"/>
              <a:buFont typeface="Roboto Condensed Light"/>
              <a:buChar char="▰"/>
            </a:pPr>
            <a:r>
              <a:rPr lang="en-US" sz="1800" dirty="0"/>
              <a:t>Standardized date formats and numeric fields </a:t>
            </a:r>
          </a:p>
          <a:p>
            <a:pPr marL="457200" lvl="1" indent="-381000">
              <a:lnSpc>
                <a:spcPct val="90000"/>
              </a:lnSpc>
              <a:spcBef>
                <a:spcPts val="600"/>
              </a:spcBef>
              <a:buClr>
                <a:srgbClr val="C7D3E6"/>
              </a:buClr>
              <a:buSzPts val="2400"/>
              <a:buFont typeface="Roboto Condensed Light"/>
              <a:buChar char="▰"/>
            </a:pPr>
            <a:r>
              <a:rPr lang="en-US" sz="1800" dirty="0"/>
              <a:t>Converted all variables to consistent scale </a:t>
            </a:r>
          </a:p>
          <a:p>
            <a:pPr marL="457200" lvl="1" indent="-381000">
              <a:lnSpc>
                <a:spcPct val="90000"/>
              </a:lnSpc>
              <a:spcBef>
                <a:spcPts val="600"/>
              </a:spcBef>
              <a:buClr>
                <a:srgbClr val="C7D3E6"/>
              </a:buClr>
              <a:buSzPts val="2400"/>
              <a:buFont typeface="Roboto Condensed Light"/>
              <a:buChar char="▰"/>
            </a:pPr>
            <a:r>
              <a:rPr lang="en-US" sz="1800" dirty="0"/>
              <a:t>Checked for duplicates and removed inconsistencies </a:t>
            </a:r>
          </a:p>
          <a:p>
            <a:pPr marL="457200" lvl="1" indent="-381000">
              <a:lnSpc>
                <a:spcPct val="90000"/>
              </a:lnSpc>
              <a:spcBef>
                <a:spcPts val="600"/>
              </a:spcBef>
              <a:buClr>
                <a:srgbClr val="C7D3E6"/>
              </a:buClr>
              <a:buSzPts val="2400"/>
              <a:buFont typeface="Roboto Condensed Light"/>
              <a:buChar char="▰"/>
            </a:pPr>
            <a:r>
              <a:rPr lang="en-US" sz="1800" dirty="0"/>
              <a:t>Prepared dataset for time-series alignment </a:t>
            </a:r>
          </a:p>
        </p:txBody>
      </p:sp>
    </p:spTree>
    <p:extLst>
      <p:ext uri="{BB962C8B-B14F-4D97-AF65-F5344CB8AC3E}">
        <p14:creationId xmlns:p14="http://schemas.microsoft.com/office/powerpoint/2010/main" val="298538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F53D2-A60F-E2EA-8EC7-CA4B2EA89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43134-03DC-7601-243F-90D6D15BCAB0}"/>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400" dirty="0"/>
              <a:t>Data Analysis</a:t>
            </a:r>
            <a:endParaRPr lang="en-US" sz="4100" dirty="0"/>
          </a:p>
        </p:txBody>
      </p:sp>
      <p:sp>
        <p:nvSpPr>
          <p:cNvPr id="5" name="Slide Number Placeholder 4" hidden="1">
            <a:extLst>
              <a:ext uri="{FF2B5EF4-FFF2-40B4-BE49-F238E27FC236}">
                <a16:creationId xmlns:a16="http://schemas.microsoft.com/office/drawing/2014/main" id="{C944FA2F-FF01-3FF9-E814-E62E367D2FC1}"/>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14</a:t>
            </a:fld>
            <a:endParaRPr lang="en"/>
          </a:p>
        </p:txBody>
      </p:sp>
      <p:sp>
        <p:nvSpPr>
          <p:cNvPr id="4" name="Slide Number Placeholder 5">
            <a:extLst>
              <a:ext uri="{FF2B5EF4-FFF2-40B4-BE49-F238E27FC236}">
                <a16:creationId xmlns:a16="http://schemas.microsoft.com/office/drawing/2014/main" id="{E51F2957-6F1E-5925-A8E1-DBEC1D43454B}"/>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14</a:t>
            </a:fld>
            <a:endParaRPr lang="en" dirty="0">
              <a:solidFill>
                <a:schemeClr val="bg1"/>
              </a:solidFill>
            </a:endParaRPr>
          </a:p>
        </p:txBody>
      </p:sp>
      <p:sp>
        <p:nvSpPr>
          <p:cNvPr id="6" name="TextBox 5">
            <a:extLst>
              <a:ext uri="{FF2B5EF4-FFF2-40B4-BE49-F238E27FC236}">
                <a16:creationId xmlns:a16="http://schemas.microsoft.com/office/drawing/2014/main" id="{F343F508-0FC4-DC88-B454-C270A02FF37C}"/>
              </a:ext>
            </a:extLst>
          </p:cNvPr>
          <p:cNvSpPr txBox="1"/>
          <p:nvPr/>
        </p:nvSpPr>
        <p:spPr>
          <a:xfrm>
            <a:off x="814275" y="1202144"/>
            <a:ext cx="4576712" cy="2262158"/>
          </a:xfrm>
          <a:prstGeom prst="rect">
            <a:avLst/>
          </a:prstGeom>
          <a:noFill/>
        </p:spPr>
        <p:txBody>
          <a:bodyPr wrap="square">
            <a:spAutoFit/>
          </a:bodyPr>
          <a:lstStyle/>
          <a:p>
            <a:pPr marL="457200" indent="-381000">
              <a:lnSpc>
                <a:spcPct val="90000"/>
              </a:lnSpc>
              <a:spcBef>
                <a:spcPts val="600"/>
              </a:spcBef>
              <a:buClr>
                <a:srgbClr val="C7D3E6"/>
              </a:buClr>
              <a:buSzPts val="2400"/>
              <a:buFont typeface="Roboto Condensed Light"/>
              <a:buChar char="▰"/>
            </a:pPr>
            <a:r>
              <a:rPr lang="en-US" sz="2000" dirty="0"/>
              <a:t>Production vs Supply Pressure over time</a:t>
            </a:r>
          </a:p>
          <a:p>
            <a:pPr marL="457200" indent="-381000">
              <a:lnSpc>
                <a:spcPct val="90000"/>
              </a:lnSpc>
              <a:spcBef>
                <a:spcPts val="600"/>
              </a:spcBef>
              <a:buClr>
                <a:srgbClr val="C7D3E6"/>
              </a:buClr>
              <a:buSzPts val="2400"/>
              <a:buFont typeface="Roboto Condensed Light"/>
              <a:buChar char="▰"/>
            </a:pPr>
            <a:r>
              <a:rPr lang="en-US" sz="2000" dirty="0"/>
              <a:t>Both variables increase together </a:t>
            </a:r>
          </a:p>
          <a:p>
            <a:pPr marL="457200" indent="-381000">
              <a:lnSpc>
                <a:spcPct val="90000"/>
              </a:lnSpc>
              <a:spcBef>
                <a:spcPts val="600"/>
              </a:spcBef>
              <a:buClr>
                <a:srgbClr val="C7D3E6"/>
              </a:buClr>
              <a:buSzPts val="2400"/>
              <a:buFont typeface="Roboto Condensed Light"/>
              <a:buChar char="▰"/>
            </a:pPr>
            <a:r>
              <a:rPr lang="en-US" sz="2000" dirty="0"/>
              <a:t>Indicates sustained supply chain stress</a:t>
            </a:r>
          </a:p>
          <a:p>
            <a:pPr marL="457200" indent="-381000">
              <a:lnSpc>
                <a:spcPct val="90000"/>
              </a:lnSpc>
              <a:spcBef>
                <a:spcPts val="600"/>
              </a:spcBef>
              <a:buClr>
                <a:srgbClr val="C7D3E6"/>
              </a:buClr>
              <a:buSzPts val="2400"/>
              <a:buFont typeface="Roboto Condensed Light"/>
              <a:buChar char="▰"/>
            </a:pPr>
            <a:r>
              <a:rPr lang="en-US" sz="2000" dirty="0"/>
              <a:t>Analysis performed using cleaned and validated dataset</a:t>
            </a:r>
          </a:p>
        </p:txBody>
      </p:sp>
    </p:spTree>
    <p:extLst>
      <p:ext uri="{BB962C8B-B14F-4D97-AF65-F5344CB8AC3E}">
        <p14:creationId xmlns:p14="http://schemas.microsoft.com/office/powerpoint/2010/main" val="2508983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D909-DB45-67CD-6D71-53F006516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CECC0-8B6C-4EC4-46BC-FAB8F6485D64}"/>
              </a:ext>
            </a:extLst>
          </p:cNvPr>
          <p:cNvSpPr>
            <a:spLocks noGrp="1"/>
          </p:cNvSpPr>
          <p:nvPr>
            <p:ph type="ctrTitle"/>
          </p:nvPr>
        </p:nvSpPr>
        <p:spPr>
          <a:xfrm>
            <a:off x="814274" y="392575"/>
            <a:ext cx="6577125" cy="766200"/>
          </a:xfrm>
        </p:spPr>
        <p:txBody>
          <a:bodyPr wrap="square" anchor="ctr">
            <a:normAutofit fontScale="90000"/>
          </a:bodyPr>
          <a:lstStyle/>
          <a:p>
            <a:pPr>
              <a:lnSpc>
                <a:spcPct val="90000"/>
              </a:lnSpc>
            </a:pPr>
            <a:r>
              <a:rPr lang="en-US" sz="4400" dirty="0"/>
              <a:t>Outlier Handling &amp; Thresholds</a:t>
            </a:r>
            <a:endParaRPr lang="en-US" sz="4100" dirty="0"/>
          </a:p>
        </p:txBody>
      </p:sp>
      <p:sp>
        <p:nvSpPr>
          <p:cNvPr id="5" name="Slide Number Placeholder 4" hidden="1">
            <a:extLst>
              <a:ext uri="{FF2B5EF4-FFF2-40B4-BE49-F238E27FC236}">
                <a16:creationId xmlns:a16="http://schemas.microsoft.com/office/drawing/2014/main" id="{7A1C38B6-3602-49BD-06D7-A7B15C1EF5BB}"/>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15</a:t>
            </a:fld>
            <a:endParaRPr lang="en"/>
          </a:p>
        </p:txBody>
      </p:sp>
      <p:sp>
        <p:nvSpPr>
          <p:cNvPr id="4" name="Slide Number Placeholder 5">
            <a:extLst>
              <a:ext uri="{FF2B5EF4-FFF2-40B4-BE49-F238E27FC236}">
                <a16:creationId xmlns:a16="http://schemas.microsoft.com/office/drawing/2014/main" id="{48ECC85F-2B9E-0525-254A-35A8BC9F9BDD}"/>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15</a:t>
            </a:fld>
            <a:endParaRPr lang="en" dirty="0">
              <a:solidFill>
                <a:schemeClr val="bg1"/>
              </a:solidFill>
            </a:endParaRPr>
          </a:p>
        </p:txBody>
      </p:sp>
      <p:sp>
        <p:nvSpPr>
          <p:cNvPr id="6" name="TextBox 5">
            <a:extLst>
              <a:ext uri="{FF2B5EF4-FFF2-40B4-BE49-F238E27FC236}">
                <a16:creationId xmlns:a16="http://schemas.microsoft.com/office/drawing/2014/main" id="{B66F2D5C-08EF-A703-8E5D-A9C868805609}"/>
              </a:ext>
            </a:extLst>
          </p:cNvPr>
          <p:cNvSpPr txBox="1"/>
          <p:nvPr/>
        </p:nvSpPr>
        <p:spPr>
          <a:xfrm>
            <a:off x="814274" y="1125200"/>
            <a:ext cx="4748325" cy="2893100"/>
          </a:xfrm>
          <a:prstGeom prst="rect">
            <a:avLst/>
          </a:prstGeom>
          <a:noFill/>
        </p:spPr>
        <p:txBody>
          <a:bodyPr wrap="square">
            <a:spAutoFit/>
          </a:bodyPr>
          <a:lstStyle/>
          <a:p>
            <a:pPr marL="457200" indent="-381000">
              <a:lnSpc>
                <a:spcPct val="90000"/>
              </a:lnSpc>
              <a:spcBef>
                <a:spcPts val="600"/>
              </a:spcBef>
              <a:buClr>
                <a:srgbClr val="C7D3E6"/>
              </a:buClr>
              <a:buSzPts val="2400"/>
              <a:buFont typeface="Roboto Condensed Light"/>
              <a:buChar char="▰"/>
            </a:pPr>
            <a:r>
              <a:rPr lang="en-US" sz="1800" dirty="0"/>
              <a:t>Outliers identified using trend and distribution analysis</a:t>
            </a:r>
          </a:p>
          <a:p>
            <a:pPr marL="457200" indent="-381000">
              <a:lnSpc>
                <a:spcPct val="90000"/>
              </a:lnSpc>
              <a:spcBef>
                <a:spcPts val="600"/>
              </a:spcBef>
              <a:buClr>
                <a:srgbClr val="C7D3E6"/>
              </a:buClr>
              <a:buSzPts val="2400"/>
              <a:buFont typeface="Roboto Condensed Light"/>
              <a:buChar char="▰"/>
            </a:pPr>
            <a:r>
              <a:rPr lang="en-US" sz="1800" dirty="0"/>
              <a:t>Extreme spikes outside normal trend were reviewed </a:t>
            </a:r>
          </a:p>
          <a:p>
            <a:pPr marL="457200" indent="-381000">
              <a:lnSpc>
                <a:spcPct val="90000"/>
              </a:lnSpc>
              <a:spcBef>
                <a:spcPts val="600"/>
              </a:spcBef>
              <a:buClr>
                <a:srgbClr val="C7D3E6"/>
              </a:buClr>
              <a:buSzPts val="2400"/>
              <a:buFont typeface="Roboto Condensed Light"/>
              <a:buChar char="▰"/>
            </a:pPr>
            <a:r>
              <a:rPr lang="en-US" sz="1800" dirty="0"/>
              <a:t>Values outside expected range were removed</a:t>
            </a:r>
          </a:p>
          <a:p>
            <a:pPr marL="457200" indent="-381000">
              <a:lnSpc>
                <a:spcPct val="90000"/>
              </a:lnSpc>
              <a:spcBef>
                <a:spcPts val="600"/>
              </a:spcBef>
              <a:buClr>
                <a:srgbClr val="C7D3E6"/>
              </a:buClr>
              <a:buSzPts val="2400"/>
              <a:buFont typeface="Roboto Condensed Light"/>
              <a:buChar char="▰"/>
            </a:pPr>
            <a:r>
              <a:rPr lang="en-US" sz="1800" dirty="0"/>
              <a:t>Threshold based on deviation from overall trend </a:t>
            </a:r>
          </a:p>
          <a:p>
            <a:pPr marL="457200" indent="-381000">
              <a:lnSpc>
                <a:spcPct val="90000"/>
              </a:lnSpc>
              <a:spcBef>
                <a:spcPts val="600"/>
              </a:spcBef>
              <a:buClr>
                <a:srgbClr val="C7D3E6"/>
              </a:buClr>
              <a:buSzPts val="2400"/>
              <a:buFont typeface="Roboto Condensed Light"/>
              <a:buChar char="▰"/>
            </a:pPr>
            <a:r>
              <a:rPr lang="en-US" sz="1800" dirty="0"/>
              <a:t>Ensured outliers did not distort analysis results </a:t>
            </a:r>
          </a:p>
        </p:txBody>
      </p:sp>
    </p:spTree>
    <p:extLst>
      <p:ext uri="{BB962C8B-B14F-4D97-AF65-F5344CB8AC3E}">
        <p14:creationId xmlns:p14="http://schemas.microsoft.com/office/powerpoint/2010/main" val="364712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A13BE-A410-81EA-A476-630E53B21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A14FF-90DC-CD6D-13F7-7ABF44033691}"/>
              </a:ext>
            </a:extLst>
          </p:cNvPr>
          <p:cNvSpPr>
            <a:spLocks noGrp="1"/>
          </p:cNvSpPr>
          <p:nvPr>
            <p:ph type="ctrTitle"/>
          </p:nvPr>
        </p:nvSpPr>
        <p:spPr>
          <a:xfrm>
            <a:off x="814275" y="392575"/>
            <a:ext cx="7070268" cy="766200"/>
          </a:xfrm>
        </p:spPr>
        <p:txBody>
          <a:bodyPr wrap="square" anchor="ctr">
            <a:normAutofit fontScale="90000"/>
          </a:bodyPr>
          <a:lstStyle/>
          <a:p>
            <a:pPr>
              <a:lnSpc>
                <a:spcPct val="90000"/>
              </a:lnSpc>
            </a:pPr>
            <a:r>
              <a:rPr lang="en-US" sz="4400" dirty="0"/>
              <a:t>Feature Engineering</a:t>
            </a:r>
            <a:endParaRPr lang="en-US" sz="4100" dirty="0"/>
          </a:p>
        </p:txBody>
      </p:sp>
      <p:sp>
        <p:nvSpPr>
          <p:cNvPr id="5" name="Slide Number Placeholder 4" hidden="1">
            <a:extLst>
              <a:ext uri="{FF2B5EF4-FFF2-40B4-BE49-F238E27FC236}">
                <a16:creationId xmlns:a16="http://schemas.microsoft.com/office/drawing/2014/main" id="{67687BB5-5C40-3E9C-1B84-785F6B60AEA1}"/>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16</a:t>
            </a:fld>
            <a:endParaRPr lang="en"/>
          </a:p>
        </p:txBody>
      </p:sp>
      <p:sp>
        <p:nvSpPr>
          <p:cNvPr id="4" name="Slide Number Placeholder 5">
            <a:extLst>
              <a:ext uri="{FF2B5EF4-FFF2-40B4-BE49-F238E27FC236}">
                <a16:creationId xmlns:a16="http://schemas.microsoft.com/office/drawing/2014/main" id="{F0C211D6-049B-99E7-DDE0-C6A55600AB25}"/>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16</a:t>
            </a:fld>
            <a:endParaRPr lang="en" dirty="0">
              <a:solidFill>
                <a:schemeClr val="bg1"/>
              </a:solidFill>
            </a:endParaRPr>
          </a:p>
        </p:txBody>
      </p:sp>
      <p:sp>
        <p:nvSpPr>
          <p:cNvPr id="10" name="TextBox 9">
            <a:extLst>
              <a:ext uri="{FF2B5EF4-FFF2-40B4-BE49-F238E27FC236}">
                <a16:creationId xmlns:a16="http://schemas.microsoft.com/office/drawing/2014/main" id="{F063E2A1-D2E5-8DBD-3603-E363C0EC1882}"/>
              </a:ext>
            </a:extLst>
          </p:cNvPr>
          <p:cNvSpPr txBox="1"/>
          <p:nvPr/>
        </p:nvSpPr>
        <p:spPr>
          <a:xfrm>
            <a:off x="814275" y="1259083"/>
            <a:ext cx="6020158" cy="1209562"/>
          </a:xfrm>
          <a:prstGeom prst="rect">
            <a:avLst/>
          </a:prstGeom>
          <a:noFill/>
        </p:spPr>
        <p:txBody>
          <a:bodyPr wrap="square">
            <a:spAutoFit/>
          </a:bodyPr>
          <a:lstStyle/>
          <a:p>
            <a:pPr marL="76200">
              <a:lnSpc>
                <a:spcPct val="90000"/>
              </a:lnSpc>
              <a:spcBef>
                <a:spcPts val="600"/>
              </a:spcBef>
              <a:buClr>
                <a:srgbClr val="C7D3E6"/>
              </a:buClr>
              <a:buSzPts val="2400"/>
            </a:pPr>
            <a:r>
              <a:rPr lang="en-US" sz="1600" b="1" dirty="0"/>
              <a:t>Additional analytical indicators created:</a:t>
            </a:r>
          </a:p>
          <a:p>
            <a:pPr marL="457200" indent="-381000">
              <a:lnSpc>
                <a:spcPct val="90000"/>
              </a:lnSpc>
              <a:spcBef>
                <a:spcPts val="600"/>
              </a:spcBef>
              <a:buClr>
                <a:srgbClr val="C7D3E6"/>
              </a:buClr>
              <a:buSzPts val="2400"/>
              <a:buFont typeface="Roboto Condensed Light"/>
              <a:buChar char="▰"/>
            </a:pPr>
            <a:r>
              <a:rPr lang="en-US" sz="1600" dirty="0"/>
              <a:t>Created volatility measures </a:t>
            </a:r>
          </a:p>
          <a:p>
            <a:pPr marL="457200" indent="-381000">
              <a:lnSpc>
                <a:spcPct val="90000"/>
              </a:lnSpc>
              <a:spcBef>
                <a:spcPts val="600"/>
              </a:spcBef>
              <a:buClr>
                <a:srgbClr val="C7D3E6"/>
              </a:buClr>
              <a:buSzPts val="2400"/>
              <a:buFont typeface="Roboto Condensed Light"/>
              <a:buChar char="▰"/>
            </a:pPr>
            <a:r>
              <a:rPr lang="en-US" sz="1600" dirty="0"/>
              <a:t>Added pressure change feature </a:t>
            </a:r>
          </a:p>
          <a:p>
            <a:pPr marL="457200" indent="-381000">
              <a:lnSpc>
                <a:spcPct val="90000"/>
              </a:lnSpc>
              <a:spcBef>
                <a:spcPts val="600"/>
              </a:spcBef>
              <a:buClr>
                <a:srgbClr val="C7D3E6"/>
              </a:buClr>
              <a:buSzPts val="2400"/>
              <a:buFont typeface="Roboto Condensed Light"/>
              <a:buChar char="▰"/>
            </a:pPr>
            <a:r>
              <a:rPr lang="en-US" sz="1600" dirty="0"/>
              <a:t>Captures instability patterns </a:t>
            </a:r>
          </a:p>
        </p:txBody>
      </p:sp>
    </p:spTree>
    <p:extLst>
      <p:ext uri="{BB962C8B-B14F-4D97-AF65-F5344CB8AC3E}">
        <p14:creationId xmlns:p14="http://schemas.microsoft.com/office/powerpoint/2010/main" val="3636004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A9BD4-DCEA-D0A0-E802-CE90EF339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12A37-B059-70ED-8457-F42CE243F02D}"/>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400" dirty="0"/>
              <a:t>Key Findings</a:t>
            </a:r>
            <a:endParaRPr lang="en-US" sz="4100" dirty="0"/>
          </a:p>
        </p:txBody>
      </p:sp>
      <p:sp>
        <p:nvSpPr>
          <p:cNvPr id="5" name="Slide Number Placeholder 4" hidden="1">
            <a:extLst>
              <a:ext uri="{FF2B5EF4-FFF2-40B4-BE49-F238E27FC236}">
                <a16:creationId xmlns:a16="http://schemas.microsoft.com/office/drawing/2014/main" id="{0A0EB3E0-CAEB-CB19-812B-7A6A1EF64028}"/>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17</a:t>
            </a:fld>
            <a:endParaRPr lang="en"/>
          </a:p>
        </p:txBody>
      </p:sp>
      <p:sp>
        <p:nvSpPr>
          <p:cNvPr id="3" name="Text Placeholder 2">
            <a:extLst>
              <a:ext uri="{FF2B5EF4-FFF2-40B4-BE49-F238E27FC236}">
                <a16:creationId xmlns:a16="http://schemas.microsoft.com/office/drawing/2014/main" id="{1BD89704-7977-C06C-E045-1D0FBC95CCA5}"/>
              </a:ext>
            </a:extLst>
          </p:cNvPr>
          <p:cNvSpPr txBox="1">
            <a:spLocks/>
          </p:cNvSpPr>
          <p:nvPr/>
        </p:nvSpPr>
        <p:spPr>
          <a:xfrm>
            <a:off x="814275" y="999000"/>
            <a:ext cx="6132600" cy="31455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t>Production and supply pressure increase together   </a:t>
            </a:r>
          </a:p>
          <a:p>
            <a:pPr marL="457200" indent="-381000">
              <a:lnSpc>
                <a:spcPct val="90000"/>
              </a:lnSpc>
              <a:spcBef>
                <a:spcPts val="600"/>
              </a:spcBef>
              <a:buClr>
                <a:srgbClr val="C7D3E6"/>
              </a:buClr>
              <a:buSzPts val="2400"/>
              <a:buFont typeface="Roboto Condensed Light"/>
              <a:buChar char="▰"/>
            </a:pPr>
            <a:r>
              <a:rPr lang="en-US" sz="2400" dirty="0"/>
              <a:t>Supply chain pressure remains elevated over time</a:t>
            </a:r>
          </a:p>
          <a:p>
            <a:pPr marL="457200" indent="-381000">
              <a:lnSpc>
                <a:spcPct val="90000"/>
              </a:lnSpc>
              <a:spcBef>
                <a:spcPts val="600"/>
              </a:spcBef>
              <a:buClr>
                <a:srgbClr val="C7D3E6"/>
              </a:buClr>
              <a:buSzPts val="2400"/>
              <a:buFont typeface="Roboto Condensed Light"/>
              <a:buChar char="▰"/>
            </a:pPr>
            <a:r>
              <a:rPr lang="en-US" sz="2400" dirty="0"/>
              <a:t>Continuous fluctuations observed in pressure levels</a:t>
            </a:r>
          </a:p>
          <a:p>
            <a:pPr marL="457200" indent="-381000">
              <a:lnSpc>
                <a:spcPct val="90000"/>
              </a:lnSpc>
              <a:spcBef>
                <a:spcPts val="600"/>
              </a:spcBef>
              <a:buClr>
                <a:srgbClr val="C7D3E6"/>
              </a:buClr>
              <a:buSzPts val="2400"/>
              <a:buFont typeface="Roboto Condensed Light"/>
              <a:buChar char="▰"/>
            </a:pPr>
            <a:r>
              <a:rPr lang="en-US" sz="2400" dirty="0"/>
              <a:t>Strong positive correlation between variables</a:t>
            </a:r>
          </a:p>
        </p:txBody>
      </p:sp>
      <p:sp>
        <p:nvSpPr>
          <p:cNvPr id="4" name="Slide Number Placeholder 5">
            <a:extLst>
              <a:ext uri="{FF2B5EF4-FFF2-40B4-BE49-F238E27FC236}">
                <a16:creationId xmlns:a16="http://schemas.microsoft.com/office/drawing/2014/main" id="{E6BEDC78-D4C5-F497-ECB8-95695E1B93D4}"/>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17</a:t>
            </a:fld>
            <a:endParaRPr lang="en" dirty="0">
              <a:solidFill>
                <a:schemeClr val="bg1"/>
              </a:solidFill>
            </a:endParaRPr>
          </a:p>
        </p:txBody>
      </p:sp>
    </p:spTree>
    <p:extLst>
      <p:ext uri="{BB962C8B-B14F-4D97-AF65-F5344CB8AC3E}">
        <p14:creationId xmlns:p14="http://schemas.microsoft.com/office/powerpoint/2010/main" val="1925660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724B-2B7C-58B1-630F-1D03D145E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0F449-4E23-F7EF-6D0F-20DBFDEBF0CA}"/>
              </a:ext>
            </a:extLst>
          </p:cNvPr>
          <p:cNvSpPr>
            <a:spLocks noGrp="1"/>
          </p:cNvSpPr>
          <p:nvPr>
            <p:ph type="ctrTitle"/>
          </p:nvPr>
        </p:nvSpPr>
        <p:spPr>
          <a:xfrm>
            <a:off x="814275" y="392575"/>
            <a:ext cx="5258400" cy="766200"/>
          </a:xfrm>
        </p:spPr>
        <p:txBody>
          <a:bodyPr wrap="square" anchor="ctr">
            <a:normAutofit fontScale="90000"/>
          </a:bodyPr>
          <a:lstStyle/>
          <a:p>
            <a:pPr>
              <a:lnSpc>
                <a:spcPct val="90000"/>
              </a:lnSpc>
            </a:pPr>
            <a:r>
              <a:rPr lang="en-US" sz="4400" dirty="0"/>
              <a:t>Hypothesis vs Reality</a:t>
            </a:r>
            <a:endParaRPr lang="en-US" sz="4100" dirty="0"/>
          </a:p>
        </p:txBody>
      </p:sp>
      <p:sp>
        <p:nvSpPr>
          <p:cNvPr id="5" name="Slide Number Placeholder 4" hidden="1">
            <a:extLst>
              <a:ext uri="{FF2B5EF4-FFF2-40B4-BE49-F238E27FC236}">
                <a16:creationId xmlns:a16="http://schemas.microsoft.com/office/drawing/2014/main" id="{45F8367D-99AF-7FAE-7AE0-68D399B3D0BD}"/>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18</a:t>
            </a:fld>
            <a:endParaRPr lang="en"/>
          </a:p>
        </p:txBody>
      </p:sp>
      <p:sp>
        <p:nvSpPr>
          <p:cNvPr id="3" name="Text Placeholder 2">
            <a:extLst>
              <a:ext uri="{FF2B5EF4-FFF2-40B4-BE49-F238E27FC236}">
                <a16:creationId xmlns:a16="http://schemas.microsoft.com/office/drawing/2014/main" id="{36AC1325-1A49-CA33-A277-8C5DCB490099}"/>
              </a:ext>
            </a:extLst>
          </p:cNvPr>
          <p:cNvSpPr txBox="1">
            <a:spLocks/>
          </p:cNvSpPr>
          <p:nvPr/>
        </p:nvSpPr>
        <p:spPr>
          <a:xfrm>
            <a:off x="814275" y="1213929"/>
            <a:ext cx="6132600" cy="271564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6200">
              <a:lnSpc>
                <a:spcPct val="90000"/>
              </a:lnSpc>
              <a:spcBef>
                <a:spcPts val="600"/>
              </a:spcBef>
              <a:buClr>
                <a:srgbClr val="C7D3E6"/>
              </a:buClr>
              <a:buSzPts val="2400"/>
            </a:pPr>
            <a:r>
              <a:rPr lang="en-US" sz="1600" b="1" i="0" u="none" strike="noStrike" cap="none" dirty="0">
                <a:solidFill>
                  <a:schemeClr val="tx1"/>
                </a:solidFill>
                <a:latin typeface="+mj-lt"/>
                <a:ea typeface="Roboto Condensed Light"/>
                <a:cs typeface="Roboto Condensed Light"/>
                <a:sym typeface="Roboto Condensed Light"/>
              </a:rPr>
              <a:t>Initial Assumptions</a:t>
            </a:r>
          </a:p>
          <a:p>
            <a:pPr marL="457200" indent="-381000">
              <a:lnSpc>
                <a:spcPct val="90000"/>
              </a:lnSpc>
              <a:spcBef>
                <a:spcPts val="600"/>
              </a:spcBef>
              <a:buClr>
                <a:srgbClr val="C7D3E6"/>
              </a:buClr>
              <a:buSzPts val="2400"/>
              <a:buFont typeface="Roboto Condensed Light"/>
              <a:buChar char="▰"/>
            </a:pPr>
            <a:r>
              <a:rPr lang="en-US" sz="1600" b="0" i="0" u="none" strike="noStrike" cap="none" dirty="0">
                <a:solidFill>
                  <a:srgbClr val="263248"/>
                </a:solidFill>
                <a:latin typeface="+mj-lt"/>
                <a:ea typeface="Roboto Condensed Light"/>
                <a:cs typeface="Roboto Condensed Light"/>
                <a:sym typeface="Roboto Condensed Light"/>
              </a:rPr>
              <a:t> </a:t>
            </a:r>
            <a:r>
              <a:rPr lang="en-US" sz="1600" dirty="0">
                <a:latin typeface="+mj-lt"/>
              </a:rPr>
              <a:t>Production and supply pressure are loosely related</a:t>
            </a:r>
            <a:endParaRPr lang="en-US" sz="1600" b="0" i="0" u="none" strike="noStrike" cap="none" dirty="0">
              <a:solidFill>
                <a:srgbClr val="263248"/>
              </a:solidFill>
              <a:latin typeface="+mj-lt"/>
              <a:ea typeface="Roboto Condensed Light"/>
              <a:cs typeface="Roboto Condensed Light"/>
              <a:sym typeface="Roboto Condensed Light"/>
            </a:endParaRPr>
          </a:p>
          <a:p>
            <a:pPr marL="457200" indent="-381000">
              <a:lnSpc>
                <a:spcPct val="90000"/>
              </a:lnSpc>
              <a:spcBef>
                <a:spcPts val="600"/>
              </a:spcBef>
              <a:buClr>
                <a:srgbClr val="C7D3E6"/>
              </a:buClr>
              <a:buSzPts val="2400"/>
              <a:buFont typeface="Roboto Condensed Light"/>
              <a:buChar char="▰"/>
            </a:pPr>
            <a:r>
              <a:rPr lang="en-US" sz="1600" dirty="0">
                <a:latin typeface="+mj-lt"/>
              </a:rPr>
              <a:t>Supply chain disruptions are temporary and event-driven</a:t>
            </a:r>
          </a:p>
          <a:p>
            <a:pPr marL="457200" indent="-381000">
              <a:lnSpc>
                <a:spcPct val="90000"/>
              </a:lnSpc>
              <a:spcBef>
                <a:spcPts val="600"/>
              </a:spcBef>
              <a:buClr>
                <a:srgbClr val="C7D3E6"/>
              </a:buClr>
              <a:buSzPts val="2400"/>
              <a:buFont typeface="Roboto Condensed Light"/>
              <a:buChar char="▰"/>
            </a:pPr>
            <a:r>
              <a:rPr lang="en-US" sz="1600" dirty="0">
                <a:latin typeface="+mj-lt"/>
              </a:rPr>
              <a:t>Increased production should stabilize supply chains</a:t>
            </a:r>
          </a:p>
          <a:p>
            <a:pPr marL="76200">
              <a:lnSpc>
                <a:spcPct val="90000"/>
              </a:lnSpc>
              <a:spcBef>
                <a:spcPts val="600"/>
              </a:spcBef>
              <a:buClr>
                <a:srgbClr val="C7D3E6"/>
              </a:buClr>
              <a:buSzPts val="2400"/>
            </a:pPr>
            <a:r>
              <a:rPr lang="en-US" sz="1600" b="1" dirty="0">
                <a:latin typeface="+mj-lt"/>
              </a:rPr>
              <a:t>What the Data Showed</a:t>
            </a:r>
          </a:p>
          <a:p>
            <a:pPr marL="457200" indent="-381000">
              <a:lnSpc>
                <a:spcPct val="90000"/>
              </a:lnSpc>
              <a:spcBef>
                <a:spcPts val="600"/>
              </a:spcBef>
              <a:buClr>
                <a:srgbClr val="C7D3E6"/>
              </a:buClr>
              <a:buSzPts val="2400"/>
              <a:buFont typeface="Roboto Condensed Light"/>
              <a:buChar char="▰"/>
            </a:pPr>
            <a:r>
              <a:rPr lang="en-US" sz="1600" dirty="0">
                <a:latin typeface="+mj-lt"/>
              </a:rPr>
              <a:t>Supply chain pressure is persistent, not temporary</a:t>
            </a:r>
          </a:p>
          <a:p>
            <a:pPr marL="457200" indent="-381000">
              <a:lnSpc>
                <a:spcPct val="90000"/>
              </a:lnSpc>
              <a:spcBef>
                <a:spcPts val="600"/>
              </a:spcBef>
              <a:buClr>
                <a:srgbClr val="C7D3E6"/>
              </a:buClr>
              <a:buSzPts val="2400"/>
              <a:buFont typeface="Roboto Condensed Light"/>
              <a:buChar char="▰"/>
            </a:pPr>
            <a:r>
              <a:rPr lang="en-US" sz="1600" dirty="0">
                <a:latin typeface="+mj-lt"/>
              </a:rPr>
              <a:t>Strong positive correlation between production and supply pressure</a:t>
            </a:r>
          </a:p>
          <a:p>
            <a:pPr marL="457200" indent="-381000">
              <a:lnSpc>
                <a:spcPct val="90000"/>
              </a:lnSpc>
              <a:spcBef>
                <a:spcPts val="600"/>
              </a:spcBef>
              <a:buClr>
                <a:srgbClr val="C7D3E6"/>
              </a:buClr>
              <a:buSzPts val="2400"/>
              <a:buFont typeface="Roboto Condensed Light"/>
              <a:buChar char="▰"/>
            </a:pPr>
            <a:r>
              <a:rPr lang="en-US" sz="1600" dirty="0">
                <a:latin typeface="+mj-lt"/>
              </a:rPr>
              <a:t>Increased production amplifies supply chain strain</a:t>
            </a:r>
          </a:p>
          <a:p>
            <a:pPr marL="457200" indent="-381000">
              <a:lnSpc>
                <a:spcPct val="90000"/>
              </a:lnSpc>
              <a:spcBef>
                <a:spcPts val="600"/>
              </a:spcBef>
              <a:buClr>
                <a:srgbClr val="C7D3E6"/>
              </a:buClr>
              <a:buSzPts val="2400"/>
              <a:buFont typeface="Roboto Condensed Light"/>
              <a:buChar char="▰"/>
            </a:pPr>
            <a:r>
              <a:rPr lang="en-US" sz="1600" dirty="0">
                <a:latin typeface="+mj-lt"/>
              </a:rPr>
              <a:t>Volatility is ongoing, not isolated</a:t>
            </a:r>
            <a:endParaRPr lang="en-US" sz="1600" b="0" i="0" u="none" strike="noStrike" cap="none" dirty="0">
              <a:solidFill>
                <a:srgbClr val="263248"/>
              </a:solidFill>
              <a:latin typeface="+mj-l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34F79544-3A0F-9B09-8B5F-93816B83D3E6}"/>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18</a:t>
            </a:fld>
            <a:endParaRPr lang="en" dirty="0">
              <a:solidFill>
                <a:schemeClr val="bg1"/>
              </a:solidFill>
            </a:endParaRPr>
          </a:p>
        </p:txBody>
      </p:sp>
    </p:spTree>
    <p:extLst>
      <p:ext uri="{BB962C8B-B14F-4D97-AF65-F5344CB8AC3E}">
        <p14:creationId xmlns:p14="http://schemas.microsoft.com/office/powerpoint/2010/main" val="3159333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F9FD3-3D1F-F2D2-5008-FBE802788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ECD0F-7992-D841-0F1B-1F3C3CEFE94B}"/>
              </a:ext>
            </a:extLst>
          </p:cNvPr>
          <p:cNvSpPr>
            <a:spLocks noGrp="1"/>
          </p:cNvSpPr>
          <p:nvPr>
            <p:ph type="ctrTitle"/>
          </p:nvPr>
        </p:nvSpPr>
        <p:spPr>
          <a:xfrm>
            <a:off x="814274" y="392575"/>
            <a:ext cx="6284109" cy="766200"/>
          </a:xfrm>
        </p:spPr>
        <p:txBody>
          <a:bodyPr wrap="square" anchor="ctr">
            <a:normAutofit fontScale="90000"/>
          </a:bodyPr>
          <a:lstStyle/>
          <a:p>
            <a:pPr>
              <a:lnSpc>
                <a:spcPct val="90000"/>
              </a:lnSpc>
            </a:pPr>
            <a:r>
              <a:rPr lang="en-US" sz="4100" dirty="0"/>
              <a:t>Data Visualizations &amp; Analysis</a:t>
            </a:r>
          </a:p>
        </p:txBody>
      </p:sp>
      <p:sp>
        <p:nvSpPr>
          <p:cNvPr id="5" name="Slide Number Placeholder 4" hidden="1">
            <a:extLst>
              <a:ext uri="{FF2B5EF4-FFF2-40B4-BE49-F238E27FC236}">
                <a16:creationId xmlns:a16="http://schemas.microsoft.com/office/drawing/2014/main" id="{C392F33D-13E4-EE05-8391-D15BA04A9F29}"/>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19</a:t>
            </a:fld>
            <a:endParaRPr lang="en"/>
          </a:p>
        </p:txBody>
      </p:sp>
      <p:sp>
        <p:nvSpPr>
          <p:cNvPr id="4" name="Slide Number Placeholder 5">
            <a:extLst>
              <a:ext uri="{FF2B5EF4-FFF2-40B4-BE49-F238E27FC236}">
                <a16:creationId xmlns:a16="http://schemas.microsoft.com/office/drawing/2014/main" id="{29A412D8-AA38-D561-5A5B-70BE923F2ACF}"/>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19</a:t>
            </a:fld>
            <a:endParaRPr lang="en" dirty="0">
              <a:solidFill>
                <a:schemeClr val="bg1"/>
              </a:solidFill>
            </a:endParaRPr>
          </a:p>
        </p:txBody>
      </p:sp>
      <p:sp>
        <p:nvSpPr>
          <p:cNvPr id="3" name="TextBox 2">
            <a:extLst>
              <a:ext uri="{FF2B5EF4-FFF2-40B4-BE49-F238E27FC236}">
                <a16:creationId xmlns:a16="http://schemas.microsoft.com/office/drawing/2014/main" id="{3490DF44-8A03-E6B6-5BD2-1DB2D8DB6F6A}"/>
              </a:ext>
            </a:extLst>
          </p:cNvPr>
          <p:cNvSpPr txBox="1"/>
          <p:nvPr/>
        </p:nvSpPr>
        <p:spPr>
          <a:xfrm>
            <a:off x="814274" y="1394550"/>
            <a:ext cx="5000117" cy="535531"/>
          </a:xfrm>
          <a:prstGeom prst="rect">
            <a:avLst/>
          </a:prstGeom>
          <a:noFill/>
        </p:spPr>
        <p:txBody>
          <a:bodyPr wrap="square">
            <a:spAutoFit/>
          </a:bodyPr>
          <a:lstStyle/>
          <a:p>
            <a:pPr marL="457200" indent="-381000">
              <a:lnSpc>
                <a:spcPct val="90000"/>
              </a:lnSpc>
              <a:spcBef>
                <a:spcPts val="600"/>
              </a:spcBef>
              <a:buClr>
                <a:srgbClr val="C7D3E6"/>
              </a:buClr>
              <a:buSzPts val="2400"/>
              <a:buFont typeface="Roboto Condensed Light"/>
              <a:buChar char="▰"/>
            </a:pPr>
            <a:r>
              <a:rPr lang="en-US" sz="1600" dirty="0"/>
              <a:t>Visualizations highlight trends, volatility, and correlation patterns </a:t>
            </a:r>
          </a:p>
        </p:txBody>
      </p:sp>
    </p:spTree>
    <p:extLst>
      <p:ext uri="{BB962C8B-B14F-4D97-AF65-F5344CB8AC3E}">
        <p14:creationId xmlns:p14="http://schemas.microsoft.com/office/powerpoint/2010/main" val="3960619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3A426-CE23-B981-08E4-4876CD5C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EB264-CE3E-0630-7955-FF532DF3F1E2}"/>
              </a:ext>
            </a:extLst>
          </p:cNvPr>
          <p:cNvSpPr>
            <a:spLocks noGrp="1"/>
          </p:cNvSpPr>
          <p:nvPr>
            <p:ph type="ctrTitle"/>
          </p:nvPr>
        </p:nvSpPr>
        <p:spPr>
          <a:xfrm>
            <a:off x="814275" y="392575"/>
            <a:ext cx="5805186" cy="766200"/>
          </a:xfrm>
        </p:spPr>
        <p:txBody>
          <a:bodyPr wrap="square" anchor="ctr">
            <a:normAutofit fontScale="90000"/>
          </a:bodyPr>
          <a:lstStyle/>
          <a:p>
            <a:pPr>
              <a:lnSpc>
                <a:spcPct val="90000"/>
              </a:lnSpc>
            </a:pPr>
            <a:r>
              <a:rPr lang="en-US" sz="4400" dirty="0"/>
              <a:t>Conclusion</a:t>
            </a:r>
            <a:endParaRPr lang="en-US" sz="4100" dirty="0"/>
          </a:p>
        </p:txBody>
      </p:sp>
      <p:sp>
        <p:nvSpPr>
          <p:cNvPr id="5" name="Slide Number Placeholder 4" hidden="1">
            <a:extLst>
              <a:ext uri="{FF2B5EF4-FFF2-40B4-BE49-F238E27FC236}">
                <a16:creationId xmlns:a16="http://schemas.microsoft.com/office/drawing/2014/main" id="{8B16F3AD-AC18-365A-B07B-FC51038F8AF9}"/>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20</a:t>
            </a:fld>
            <a:endParaRPr lang="en"/>
          </a:p>
        </p:txBody>
      </p:sp>
      <p:sp>
        <p:nvSpPr>
          <p:cNvPr id="3" name="Text Placeholder 2">
            <a:extLst>
              <a:ext uri="{FF2B5EF4-FFF2-40B4-BE49-F238E27FC236}">
                <a16:creationId xmlns:a16="http://schemas.microsoft.com/office/drawing/2014/main" id="{64682875-E0DB-F88B-6083-A161F7F33251}"/>
              </a:ext>
            </a:extLst>
          </p:cNvPr>
          <p:cNvSpPr txBox="1">
            <a:spLocks/>
          </p:cNvSpPr>
          <p:nvPr/>
        </p:nvSpPr>
        <p:spPr>
          <a:xfrm>
            <a:off x="814275" y="1213929"/>
            <a:ext cx="6132600" cy="271564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000" dirty="0"/>
              <a:t>Results indicate supply chain instability is persistent</a:t>
            </a:r>
          </a:p>
          <a:p>
            <a:pPr marL="457200" indent="-381000">
              <a:lnSpc>
                <a:spcPct val="90000"/>
              </a:lnSpc>
              <a:spcBef>
                <a:spcPts val="600"/>
              </a:spcBef>
              <a:buClr>
                <a:srgbClr val="C7D3E6"/>
              </a:buClr>
              <a:buSzPts val="2400"/>
              <a:buFont typeface="Roboto Condensed Light"/>
              <a:buChar char="▰"/>
            </a:pPr>
            <a:r>
              <a:rPr lang="en-US" sz="2000" dirty="0"/>
              <a:t>Increased production amplifies supply chain strain</a:t>
            </a:r>
          </a:p>
          <a:p>
            <a:pPr marL="457200" indent="-381000">
              <a:lnSpc>
                <a:spcPct val="90000"/>
              </a:lnSpc>
              <a:spcBef>
                <a:spcPts val="600"/>
              </a:spcBef>
              <a:buClr>
                <a:srgbClr val="C7D3E6"/>
              </a:buClr>
              <a:buSzPts val="2400"/>
              <a:buFont typeface="Roboto Condensed Light"/>
              <a:buChar char="▰"/>
            </a:pPr>
            <a:r>
              <a:rPr lang="en-US" sz="2000" dirty="0"/>
              <a:t>Volatility suggests structural system challenges</a:t>
            </a:r>
          </a:p>
          <a:p>
            <a:pPr marL="457200" indent="-381000">
              <a:lnSpc>
                <a:spcPct val="90000"/>
              </a:lnSpc>
              <a:spcBef>
                <a:spcPts val="600"/>
              </a:spcBef>
              <a:buClr>
                <a:srgbClr val="C7D3E6"/>
              </a:buClr>
              <a:buSzPts val="2400"/>
              <a:buFont typeface="Roboto Condensed Light"/>
              <a:buChar char="▰"/>
            </a:pPr>
            <a:r>
              <a:rPr lang="en-US" sz="2000" dirty="0"/>
              <a:t>Reactive models are insufficient for current conditions</a:t>
            </a:r>
          </a:p>
        </p:txBody>
      </p:sp>
      <p:sp>
        <p:nvSpPr>
          <p:cNvPr id="4" name="Slide Number Placeholder 5">
            <a:extLst>
              <a:ext uri="{FF2B5EF4-FFF2-40B4-BE49-F238E27FC236}">
                <a16:creationId xmlns:a16="http://schemas.microsoft.com/office/drawing/2014/main" id="{DC4578A6-9D58-AB29-F347-F0A288047B36}"/>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20</a:t>
            </a:fld>
            <a:endParaRPr lang="en" dirty="0">
              <a:solidFill>
                <a:schemeClr val="bg1"/>
              </a:solidFill>
            </a:endParaRPr>
          </a:p>
        </p:txBody>
      </p:sp>
    </p:spTree>
    <p:extLst>
      <p:ext uri="{BB962C8B-B14F-4D97-AF65-F5344CB8AC3E}">
        <p14:creationId xmlns:p14="http://schemas.microsoft.com/office/powerpoint/2010/main" val="2310465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3A73A-D31A-4BA8-FE41-18C35B52D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8FCC1-2E0E-6B5C-DACC-FA5F21F9EFD4}"/>
              </a:ext>
            </a:extLst>
          </p:cNvPr>
          <p:cNvSpPr>
            <a:spLocks noGrp="1"/>
          </p:cNvSpPr>
          <p:nvPr>
            <p:ph type="ctrTitle"/>
          </p:nvPr>
        </p:nvSpPr>
        <p:spPr>
          <a:xfrm>
            <a:off x="814274" y="392575"/>
            <a:ext cx="6284109" cy="766200"/>
          </a:xfrm>
        </p:spPr>
        <p:txBody>
          <a:bodyPr wrap="square" anchor="ctr">
            <a:normAutofit/>
          </a:bodyPr>
          <a:lstStyle/>
          <a:p>
            <a:pPr>
              <a:lnSpc>
                <a:spcPct val="90000"/>
              </a:lnSpc>
            </a:pPr>
            <a:r>
              <a:rPr lang="en-US" sz="4100" dirty="0"/>
              <a:t>Future Work</a:t>
            </a:r>
          </a:p>
        </p:txBody>
      </p:sp>
      <p:sp>
        <p:nvSpPr>
          <p:cNvPr id="5" name="Slide Number Placeholder 4" hidden="1">
            <a:extLst>
              <a:ext uri="{FF2B5EF4-FFF2-40B4-BE49-F238E27FC236}">
                <a16:creationId xmlns:a16="http://schemas.microsoft.com/office/drawing/2014/main" id="{CF75CA72-AF73-BC31-139F-7A354C7B828E}"/>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21</a:t>
            </a:fld>
            <a:endParaRPr lang="en"/>
          </a:p>
        </p:txBody>
      </p:sp>
      <p:sp>
        <p:nvSpPr>
          <p:cNvPr id="4" name="Slide Number Placeholder 5">
            <a:extLst>
              <a:ext uri="{FF2B5EF4-FFF2-40B4-BE49-F238E27FC236}">
                <a16:creationId xmlns:a16="http://schemas.microsoft.com/office/drawing/2014/main" id="{D6EC4E6F-8FF1-7FCF-2E87-51F6D824D0F9}"/>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21</a:t>
            </a:fld>
            <a:endParaRPr lang="en" dirty="0">
              <a:solidFill>
                <a:schemeClr val="bg1"/>
              </a:solidFill>
            </a:endParaRPr>
          </a:p>
        </p:txBody>
      </p:sp>
      <p:sp>
        <p:nvSpPr>
          <p:cNvPr id="3" name="TextBox 2">
            <a:extLst>
              <a:ext uri="{FF2B5EF4-FFF2-40B4-BE49-F238E27FC236}">
                <a16:creationId xmlns:a16="http://schemas.microsoft.com/office/drawing/2014/main" id="{D2B2DD3D-6906-85EA-3F66-EBE4546D0C5D}"/>
              </a:ext>
            </a:extLst>
          </p:cNvPr>
          <p:cNvSpPr txBox="1"/>
          <p:nvPr/>
        </p:nvSpPr>
        <p:spPr>
          <a:xfrm>
            <a:off x="814274" y="1817697"/>
            <a:ext cx="6020158" cy="1508105"/>
          </a:xfrm>
          <a:prstGeom prst="rect">
            <a:avLst/>
          </a:prstGeom>
          <a:noFill/>
        </p:spPr>
        <p:txBody>
          <a:bodyPr wrap="square">
            <a:spAutoFit/>
          </a:bodyPr>
          <a:lstStyle/>
          <a:p>
            <a:pPr marL="457200" indent="-381000">
              <a:lnSpc>
                <a:spcPct val="90000"/>
              </a:lnSpc>
              <a:spcBef>
                <a:spcPts val="600"/>
              </a:spcBef>
              <a:buClr>
                <a:srgbClr val="C7D3E6"/>
              </a:buClr>
              <a:buSzPts val="2400"/>
              <a:buFont typeface="Roboto Condensed Light"/>
              <a:buChar char="▰"/>
            </a:pPr>
            <a:r>
              <a:rPr lang="en-US" sz="1600" dirty="0"/>
              <a:t>Integrate real-world aerospace datasets </a:t>
            </a:r>
          </a:p>
          <a:p>
            <a:pPr marL="457200" indent="-381000">
              <a:lnSpc>
                <a:spcPct val="90000"/>
              </a:lnSpc>
              <a:spcBef>
                <a:spcPts val="600"/>
              </a:spcBef>
              <a:buClr>
                <a:srgbClr val="C7D3E6"/>
              </a:buClr>
              <a:buSzPts val="2400"/>
              <a:buFont typeface="Roboto Condensed Light"/>
              <a:buChar char="▰"/>
            </a:pPr>
            <a:r>
              <a:rPr lang="en-US" sz="1600" dirty="0"/>
              <a:t>Apply machine learning forecasting models </a:t>
            </a:r>
          </a:p>
          <a:p>
            <a:pPr marL="457200" indent="-381000">
              <a:lnSpc>
                <a:spcPct val="90000"/>
              </a:lnSpc>
              <a:spcBef>
                <a:spcPts val="600"/>
              </a:spcBef>
              <a:buClr>
                <a:srgbClr val="C7D3E6"/>
              </a:buClr>
              <a:buSzPts val="2400"/>
              <a:buFont typeface="Roboto Condensed Light"/>
              <a:buChar char="▰"/>
            </a:pPr>
            <a:r>
              <a:rPr lang="en-US" sz="1600" dirty="0"/>
              <a:t>Develop supplier-level risk scoring</a:t>
            </a:r>
          </a:p>
          <a:p>
            <a:pPr marL="457200" indent="-381000">
              <a:lnSpc>
                <a:spcPct val="90000"/>
              </a:lnSpc>
              <a:spcBef>
                <a:spcPts val="600"/>
              </a:spcBef>
              <a:buClr>
                <a:srgbClr val="C7D3E6"/>
              </a:buClr>
              <a:buSzPts val="2400"/>
              <a:buFont typeface="Roboto Condensed Light"/>
              <a:buChar char="▰"/>
            </a:pPr>
            <a:r>
              <a:rPr lang="en-US" sz="1600" dirty="0"/>
              <a:t>Expand dashboards for real-time monitoring </a:t>
            </a:r>
          </a:p>
          <a:p>
            <a:pPr marL="457200" indent="-381000">
              <a:lnSpc>
                <a:spcPct val="90000"/>
              </a:lnSpc>
              <a:spcBef>
                <a:spcPts val="600"/>
              </a:spcBef>
              <a:buClr>
                <a:srgbClr val="C7D3E6"/>
              </a:buClr>
              <a:buSzPts val="2400"/>
              <a:buFont typeface="Roboto Condensed Light"/>
              <a:buChar char="▰"/>
            </a:pPr>
            <a:r>
              <a:rPr lang="en-US" sz="1600" dirty="0"/>
              <a:t>Improve model reproducibility and validation </a:t>
            </a:r>
          </a:p>
        </p:txBody>
      </p:sp>
    </p:spTree>
    <p:extLst>
      <p:ext uri="{BB962C8B-B14F-4D97-AF65-F5344CB8AC3E}">
        <p14:creationId xmlns:p14="http://schemas.microsoft.com/office/powerpoint/2010/main" val="3987024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9AA07-676A-0D93-0CE2-0753BCB9F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BC8A6-A59A-FD0F-9A0F-FFC2C905A0F9}"/>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GitHub</a:t>
            </a:r>
          </a:p>
        </p:txBody>
      </p:sp>
      <p:sp>
        <p:nvSpPr>
          <p:cNvPr id="5" name="Slide Number Placeholder 4" hidden="1">
            <a:extLst>
              <a:ext uri="{FF2B5EF4-FFF2-40B4-BE49-F238E27FC236}">
                <a16:creationId xmlns:a16="http://schemas.microsoft.com/office/drawing/2014/main" id="{4BABBAFD-059D-9BD8-D035-4490CB19EE2B}"/>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22</a:t>
            </a:fld>
            <a:endParaRPr lang="en"/>
          </a:p>
        </p:txBody>
      </p:sp>
      <p:sp>
        <p:nvSpPr>
          <p:cNvPr id="4" name="Slide Number Placeholder 5">
            <a:extLst>
              <a:ext uri="{FF2B5EF4-FFF2-40B4-BE49-F238E27FC236}">
                <a16:creationId xmlns:a16="http://schemas.microsoft.com/office/drawing/2014/main" id="{B3D96EF4-53C0-663F-08B4-8D74465EDB91}"/>
              </a:ext>
            </a:extLst>
          </p:cNvPr>
          <p:cNvSpPr txBox="1">
            <a:spLocks/>
          </p:cNvSpPr>
          <p:nvPr/>
        </p:nvSpPr>
        <p:spPr>
          <a:xfrm>
            <a:off x="7586025" y="4249638"/>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22</a:t>
            </a:fld>
            <a:endParaRPr lang="en" dirty="0">
              <a:solidFill>
                <a:schemeClr val="bg1"/>
              </a:solidFill>
            </a:endParaRPr>
          </a:p>
        </p:txBody>
      </p:sp>
      <p:sp>
        <p:nvSpPr>
          <p:cNvPr id="6" name="TextBox 5">
            <a:extLst>
              <a:ext uri="{FF2B5EF4-FFF2-40B4-BE49-F238E27FC236}">
                <a16:creationId xmlns:a16="http://schemas.microsoft.com/office/drawing/2014/main" id="{FC031895-7006-9F9A-096A-54C7D37F967E}"/>
              </a:ext>
            </a:extLst>
          </p:cNvPr>
          <p:cNvSpPr txBox="1"/>
          <p:nvPr/>
        </p:nvSpPr>
        <p:spPr>
          <a:xfrm>
            <a:off x="814275" y="1211377"/>
            <a:ext cx="4576712" cy="1415772"/>
          </a:xfrm>
          <a:prstGeom prst="rect">
            <a:avLst/>
          </a:prstGeom>
          <a:noFill/>
        </p:spPr>
        <p:txBody>
          <a:bodyPr wrap="square">
            <a:spAutoFit/>
          </a:bodyPr>
          <a:lstStyle/>
          <a:p>
            <a:pPr marL="76200">
              <a:lnSpc>
                <a:spcPct val="90000"/>
              </a:lnSpc>
              <a:spcBef>
                <a:spcPts val="600"/>
              </a:spcBef>
              <a:buClr>
                <a:srgbClr val="C7D3E6"/>
              </a:buClr>
              <a:buSzPts val="2400"/>
            </a:pPr>
            <a:r>
              <a:rPr lang="en-US" sz="1800" b="1" dirty="0"/>
              <a:t>GitHub Repository:</a:t>
            </a:r>
          </a:p>
          <a:p>
            <a:pPr marL="457200" indent="-381000">
              <a:lnSpc>
                <a:spcPct val="90000"/>
              </a:lnSpc>
              <a:spcBef>
                <a:spcPts val="600"/>
              </a:spcBef>
              <a:buClr>
                <a:srgbClr val="C7D3E6"/>
              </a:buClr>
              <a:buSzPts val="2400"/>
              <a:buFont typeface="Roboto Condensed Light"/>
              <a:buChar char="▰"/>
            </a:pPr>
            <a:r>
              <a:rPr lang="en-US" sz="1800" b="1" dirty="0">
                <a:solidFill>
                  <a:schemeClr val="accent2"/>
                </a:solidFill>
                <a:ea typeface="Roboto Condensed Light"/>
                <a:cs typeface="Roboto Condensed Light"/>
                <a:sym typeface="Roboto Condensed Light"/>
                <a:hlinkClick r:id="rId3">
                  <a:extLst>
                    <a:ext uri="{A12FA001-AC4F-418D-AE19-62706E023703}">
                      <ahyp:hlinkClr xmlns:ahyp="http://schemas.microsoft.com/office/drawing/2018/hyperlinkcolor" val="tx"/>
                    </a:ext>
                  </a:extLst>
                </a:hlinkClick>
              </a:rPr>
              <a:t>https://github.com/AkQuik559/Winter-2025-CS-497-Capstone-Project-Proposal-Enhancing-Aerospace-Supply-Chain-Resilience</a:t>
            </a:r>
            <a:endParaRPr lang="en-US" sz="1800" dirty="0">
              <a:solidFill>
                <a:schemeClr val="accent2"/>
              </a:solidFill>
            </a:endParaRPr>
          </a:p>
        </p:txBody>
      </p:sp>
      <p:pic>
        <p:nvPicPr>
          <p:cNvPr id="9" name="Picture 8">
            <a:extLst>
              <a:ext uri="{FF2B5EF4-FFF2-40B4-BE49-F238E27FC236}">
                <a16:creationId xmlns:a16="http://schemas.microsoft.com/office/drawing/2014/main" id="{D0BFAEDC-3A7D-5FB8-7ACB-D0E858BA79BD}"/>
              </a:ext>
            </a:extLst>
          </p:cNvPr>
          <p:cNvPicPr>
            <a:picLocks noChangeAspect="1"/>
          </p:cNvPicPr>
          <p:nvPr/>
        </p:nvPicPr>
        <p:blipFill>
          <a:blip r:embed="rId4"/>
          <a:stretch>
            <a:fillRect/>
          </a:stretch>
        </p:blipFill>
        <p:spPr>
          <a:xfrm>
            <a:off x="4665123" y="3165922"/>
            <a:ext cx="913869" cy="766200"/>
          </a:xfrm>
          <a:prstGeom prst="rect">
            <a:avLst/>
          </a:prstGeom>
        </p:spPr>
      </p:pic>
    </p:spTree>
    <p:extLst>
      <p:ext uri="{BB962C8B-B14F-4D97-AF65-F5344CB8AC3E}">
        <p14:creationId xmlns:p14="http://schemas.microsoft.com/office/powerpoint/2010/main" val="3932684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63A0-0E9D-8B27-D33E-52F8BDA17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DCE04-8418-280C-599D-944B403BB356}"/>
              </a:ext>
            </a:extLst>
          </p:cNvPr>
          <p:cNvSpPr>
            <a:spLocks noGrp="1"/>
          </p:cNvSpPr>
          <p:nvPr>
            <p:ph type="ctrTitle"/>
          </p:nvPr>
        </p:nvSpPr>
        <p:spPr>
          <a:xfrm>
            <a:off x="814275" y="392575"/>
            <a:ext cx="5258400" cy="766200"/>
          </a:xfrm>
        </p:spPr>
        <p:txBody>
          <a:bodyPr wrap="square" anchor="ctr">
            <a:normAutofit/>
          </a:bodyPr>
          <a:lstStyle/>
          <a:p>
            <a:pPr>
              <a:lnSpc>
                <a:spcPct val="90000"/>
              </a:lnSpc>
            </a:pPr>
            <a:r>
              <a:rPr lang="en-US" sz="4100" dirty="0"/>
              <a:t>References</a:t>
            </a:r>
          </a:p>
        </p:txBody>
      </p:sp>
      <p:sp>
        <p:nvSpPr>
          <p:cNvPr id="5" name="Slide Number Placeholder 4" hidden="1">
            <a:extLst>
              <a:ext uri="{FF2B5EF4-FFF2-40B4-BE49-F238E27FC236}">
                <a16:creationId xmlns:a16="http://schemas.microsoft.com/office/drawing/2014/main" id="{6F182B3A-5F95-ED2F-B6E5-BA276E8B7BF9}"/>
              </a:ext>
            </a:extLst>
          </p:cNvPr>
          <p:cNvSpPr>
            <a:spLocks noGrp="1"/>
          </p:cNvSpPr>
          <p:nvPr>
            <p:ph type="sldNum" idx="4294967295"/>
          </p:nvPr>
        </p:nvSpPr>
        <p:spPr>
          <a:xfrm>
            <a:off x="7656513" y="4637088"/>
            <a:ext cx="1487487" cy="314325"/>
          </a:xfrm>
        </p:spPr>
        <p:txBody>
          <a:bodyPr/>
          <a:lstStyle/>
          <a:p>
            <a:pPr marL="0" lvl="0" indent="0" algn="r" rtl="0">
              <a:spcBef>
                <a:spcPts val="0"/>
              </a:spcBef>
              <a:spcAft>
                <a:spcPts val="600"/>
              </a:spcAft>
              <a:buNone/>
            </a:pPr>
            <a:fld id="{00000000-1234-1234-1234-123412341234}" type="slidenum">
              <a:rPr lang="en" smtClean="0"/>
              <a:pPr marL="0" lvl="0" indent="0" algn="r" rtl="0">
                <a:spcBef>
                  <a:spcPts val="0"/>
                </a:spcBef>
                <a:spcAft>
                  <a:spcPts val="600"/>
                </a:spcAft>
                <a:buNone/>
              </a:pPr>
              <a:t>23</a:t>
            </a:fld>
            <a:endParaRPr lang="en"/>
          </a:p>
        </p:txBody>
      </p:sp>
      <p:sp>
        <p:nvSpPr>
          <p:cNvPr id="3" name="Text Placeholder 2">
            <a:extLst>
              <a:ext uri="{FF2B5EF4-FFF2-40B4-BE49-F238E27FC236}">
                <a16:creationId xmlns:a16="http://schemas.microsoft.com/office/drawing/2014/main" id="{007230D6-3892-E353-3FA5-0B6E2C4B121E}"/>
              </a:ext>
            </a:extLst>
          </p:cNvPr>
          <p:cNvSpPr txBox="1">
            <a:spLocks/>
          </p:cNvSpPr>
          <p:nvPr/>
        </p:nvSpPr>
        <p:spPr>
          <a:xfrm>
            <a:off x="814275" y="1158775"/>
            <a:ext cx="6132600" cy="3145500"/>
          </a:xfrm>
          <a:prstGeom prst="rect">
            <a:avLst/>
          </a:prstGeom>
          <a:noFill/>
          <a:ln>
            <a:noFill/>
          </a:ln>
        </p:spPr>
        <p:txBody>
          <a:bodyPr spcFirstLastPara="1" wrap="square" lIns="91425" tIns="91425" rIns="91425" bIns="91425" anchor="ctr"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rPr>
              <a:t>Bednarski et al. (2025)</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rPr>
              <a:t>Deloitte (2023)</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rPr>
              <a:t>Deloitte (2025)</a:t>
            </a:r>
            <a:endParaRPr lang="en-US" sz="2400" dirty="0">
              <a:solidFill>
                <a:schemeClr val="tx1"/>
              </a:solidFill>
              <a:latin typeface="+mj-lt"/>
            </a:endParaRPr>
          </a:p>
          <a:p>
            <a:pPr marL="457200" indent="-381000">
              <a:lnSpc>
                <a:spcPct val="90000"/>
              </a:lnSpc>
              <a:spcBef>
                <a:spcPts val="600"/>
              </a:spcBef>
              <a:buClr>
                <a:srgbClr val="C7D3E6"/>
              </a:buClr>
              <a:buSzPts val="2400"/>
              <a:buFont typeface="Roboto Condensed Light"/>
              <a:buChar char="▰"/>
            </a:pPr>
            <a:r>
              <a:rPr lang="en-US" sz="2400" dirty="0" err="1">
                <a:solidFill>
                  <a:schemeClr val="tx1"/>
                </a:solidFill>
                <a:latin typeface="+mj-lt"/>
              </a:rPr>
              <a:t>Douaioui</a:t>
            </a:r>
            <a:r>
              <a:rPr lang="en-US" sz="2400" dirty="0">
                <a:solidFill>
                  <a:schemeClr val="tx1"/>
                </a:solidFill>
                <a:latin typeface="+mj-lt"/>
              </a:rPr>
              <a:t> et al (2024)</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rPr>
              <a:t>Omar (2025)</a:t>
            </a:r>
          </a:p>
          <a:p>
            <a:pPr marL="457200" indent="-381000">
              <a:lnSpc>
                <a:spcPct val="90000"/>
              </a:lnSpc>
              <a:spcBef>
                <a:spcPts val="600"/>
              </a:spcBef>
              <a:buClr>
                <a:srgbClr val="C7D3E6"/>
              </a:buClr>
              <a:buSzPts val="2400"/>
              <a:buFont typeface="Roboto Condensed Light"/>
              <a:buChar char="▰"/>
            </a:pPr>
            <a:r>
              <a:rPr lang="en-US" sz="2400" i="0" u="none" strike="noStrike" cap="none" dirty="0">
                <a:solidFill>
                  <a:schemeClr val="tx1"/>
                </a:solidFill>
                <a:latin typeface="+mj-lt"/>
                <a:ea typeface="Roboto Condensed Light"/>
                <a:cs typeface="Roboto Condensed Light"/>
                <a:sym typeface="Roboto Condensed Light"/>
              </a:rPr>
              <a:t>GAO (2024)</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ea typeface="Roboto Condensed Light"/>
                <a:cs typeface="Roboto Condensed Light"/>
                <a:sym typeface="Roboto Condensed Light"/>
              </a:rPr>
              <a:t>Leeham News (2025)</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ea typeface="Roboto Condensed Light"/>
                <a:cs typeface="Roboto Condensed Light"/>
                <a:sym typeface="Roboto Condensed Light"/>
              </a:rPr>
              <a:t>McKinsey (2021)</a:t>
            </a:r>
          </a:p>
          <a:p>
            <a:pPr marL="457200" indent="-381000">
              <a:lnSpc>
                <a:spcPct val="90000"/>
              </a:lnSpc>
              <a:spcBef>
                <a:spcPts val="600"/>
              </a:spcBef>
              <a:buClr>
                <a:srgbClr val="C7D3E6"/>
              </a:buClr>
              <a:buSzPts val="2400"/>
              <a:buFont typeface="Roboto Condensed Light"/>
              <a:buChar char="▰"/>
            </a:pPr>
            <a:r>
              <a:rPr lang="en-US" sz="2400" i="0" u="none" strike="noStrike" cap="none" dirty="0">
                <a:solidFill>
                  <a:schemeClr val="tx1"/>
                </a:solidFill>
                <a:latin typeface="+mj-lt"/>
                <a:ea typeface="Roboto Condensed Light"/>
                <a:cs typeface="Roboto Condensed Light"/>
                <a:sym typeface="Roboto Condensed Light"/>
              </a:rPr>
              <a:t>Reuters (2, 2024)</a:t>
            </a:r>
          </a:p>
          <a:p>
            <a:pPr marL="457200" indent="-381000">
              <a:lnSpc>
                <a:spcPct val="90000"/>
              </a:lnSpc>
              <a:spcBef>
                <a:spcPts val="600"/>
              </a:spcBef>
              <a:buClr>
                <a:srgbClr val="C7D3E6"/>
              </a:buClr>
              <a:buSzPts val="2400"/>
              <a:buFont typeface="Roboto Condensed Light"/>
              <a:buChar char="▰"/>
            </a:pPr>
            <a:r>
              <a:rPr lang="en-US" sz="2400" dirty="0">
                <a:solidFill>
                  <a:schemeClr val="tx1"/>
                </a:solidFill>
                <a:latin typeface="+mj-lt"/>
                <a:ea typeface="Roboto Condensed Light"/>
                <a:cs typeface="Roboto Condensed Light"/>
                <a:sym typeface="Roboto Condensed Light"/>
              </a:rPr>
              <a:t>Trax Technologies (2025)</a:t>
            </a:r>
          </a:p>
          <a:p>
            <a:pPr marL="457200" indent="-381000">
              <a:lnSpc>
                <a:spcPct val="90000"/>
              </a:lnSpc>
              <a:spcBef>
                <a:spcPts val="600"/>
              </a:spcBef>
              <a:buClr>
                <a:srgbClr val="C7D3E6"/>
              </a:buClr>
              <a:buSzPts val="2400"/>
              <a:buFont typeface="Roboto Condensed Light"/>
              <a:buChar char="▰"/>
            </a:pPr>
            <a:r>
              <a:rPr lang="en-US" sz="2400" i="0" u="none" strike="noStrike" cap="none" dirty="0">
                <a:solidFill>
                  <a:schemeClr val="tx1"/>
                </a:solidFill>
                <a:latin typeface="+mj-lt"/>
                <a:ea typeface="Roboto Condensed Light"/>
                <a:cs typeface="Roboto Condensed Light"/>
                <a:sym typeface="Roboto Condensed Light"/>
              </a:rPr>
              <a:t>EY (2025)</a:t>
            </a:r>
          </a:p>
          <a:p>
            <a:pPr marL="457200" indent="-381000">
              <a:lnSpc>
                <a:spcPct val="90000"/>
              </a:lnSpc>
              <a:spcBef>
                <a:spcPts val="600"/>
              </a:spcBef>
              <a:buClr>
                <a:srgbClr val="C7D3E6"/>
              </a:buClr>
              <a:buSzPts val="2400"/>
              <a:buFont typeface="Roboto Condensed Light"/>
              <a:buChar char="▰"/>
            </a:pPr>
            <a:endParaRPr lang="en-US" sz="2200" b="0" i="0" u="none" strike="noStrike" cap="none" dirty="0">
              <a:solidFill>
                <a:srgbClr val="263248"/>
              </a:solidFill>
              <a:latin typeface="Roboto Condensed Light"/>
              <a:ea typeface="Roboto Condensed Light"/>
              <a:cs typeface="Roboto Condensed Light"/>
              <a:sym typeface="Roboto Condensed Light"/>
            </a:endParaRPr>
          </a:p>
        </p:txBody>
      </p:sp>
      <p:sp>
        <p:nvSpPr>
          <p:cNvPr id="4" name="Slide Number Placeholder 5">
            <a:extLst>
              <a:ext uri="{FF2B5EF4-FFF2-40B4-BE49-F238E27FC236}">
                <a16:creationId xmlns:a16="http://schemas.microsoft.com/office/drawing/2014/main" id="{8712EA5E-CEC0-E62B-D8A7-2A706AB95262}"/>
              </a:ext>
            </a:extLst>
          </p:cNvPr>
          <p:cNvSpPr txBox="1">
            <a:spLocks/>
          </p:cNvSpPr>
          <p:nvPr/>
        </p:nvSpPr>
        <p:spPr>
          <a:xfrm>
            <a:off x="7586025" y="4261362"/>
            <a:ext cx="1487400" cy="315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mtClean="0">
                <a:solidFill>
                  <a:schemeClr val="bg1"/>
                </a:solidFill>
              </a:rPr>
              <a:pPr algn="r"/>
              <a:t>23</a:t>
            </a:fld>
            <a:endParaRPr lang="en" dirty="0">
              <a:solidFill>
                <a:schemeClr val="bg1"/>
              </a:solidFill>
            </a:endParaRPr>
          </a:p>
        </p:txBody>
      </p:sp>
    </p:spTree>
    <p:extLst>
      <p:ext uri="{BB962C8B-B14F-4D97-AF65-F5344CB8AC3E}">
        <p14:creationId xmlns:p14="http://schemas.microsoft.com/office/powerpoint/2010/main" val="1185335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Q&amp;A</a:t>
            </a:r>
          </a:p>
        </p:txBody>
      </p:sp>
      <p:pic>
        <p:nvPicPr>
          <p:cNvPr id="5" name="Picture 4"/>
          <p:cNvPicPr>
            <a:picLocks noChangeAspect="1"/>
          </p:cNvPicPr>
          <p:nvPr/>
        </p:nvPicPr>
        <p:blipFill>
          <a:blip r:embed="rId3"/>
          <a:stretch>
            <a:fillRect/>
          </a:stretch>
        </p:blipFill>
        <p:spPr>
          <a:xfrm>
            <a:off x="814275" y="1862668"/>
            <a:ext cx="4402663" cy="1761065"/>
          </a:xfrm>
          <a:prstGeom prst="rect">
            <a:avLst/>
          </a:prstGeom>
        </p:spPr>
      </p:pic>
      <p:pic>
        <p:nvPicPr>
          <p:cNvPr id="6" name="Picture 5"/>
          <p:cNvPicPr>
            <a:picLocks noChangeAspect="1"/>
          </p:cNvPicPr>
          <p:nvPr/>
        </p:nvPicPr>
        <p:blipFill>
          <a:blip r:embed="rId4"/>
          <a:stretch>
            <a:fillRect/>
          </a:stretch>
        </p:blipFill>
        <p:spPr>
          <a:xfrm>
            <a:off x="5912731" y="1862668"/>
            <a:ext cx="1944335" cy="1944335"/>
          </a:xfrm>
          <a:prstGeom prst="rect">
            <a:avLst/>
          </a:prstGeom>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2863282085"/>
      </p:ext>
    </p:extLst>
  </p:cSld>
  <p:clrMapOvr>
    <a:masterClrMapping/>
  </p:clrMapOvr>
</p:sld>
</file>

<file path=ppt/theme/theme1.xml><?xml version="1.0" encoding="utf-8"?>
<a:theme xmlns:a="http://schemas.openxmlformats.org/drawingml/2006/main"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916</TotalTime>
  <Words>1400</Words>
  <Application>Microsoft Office PowerPoint</Application>
  <PresentationFormat>On-screen Show (16:9)</PresentationFormat>
  <Paragraphs>236</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Arvo</vt:lpstr>
      <vt:lpstr>Roboto Condensed</vt:lpstr>
      <vt:lpstr>Roboto Condensed Light</vt:lpstr>
      <vt:lpstr>Salerio template</vt:lpstr>
      <vt:lpstr>Enhancing Aerospace Supply Chain Resilience: A Predictive Analytics Approach to Mitigate Lead-Time Volatility</vt:lpstr>
      <vt:lpstr>Agenda</vt:lpstr>
      <vt:lpstr>Abstract</vt:lpstr>
      <vt:lpstr>Keywords</vt:lpstr>
      <vt:lpstr>Problem Statement</vt:lpstr>
      <vt:lpstr>Background</vt:lpstr>
      <vt:lpstr>Background Evidence</vt:lpstr>
      <vt:lpstr>Related Work</vt:lpstr>
      <vt:lpstr>Approach Overview</vt:lpstr>
      <vt:lpstr>System Design</vt:lpstr>
      <vt:lpstr>Technologies Used</vt:lpstr>
      <vt:lpstr>Data Collection</vt:lpstr>
      <vt:lpstr>Data Cleaning &amp; Preparation</vt:lpstr>
      <vt:lpstr>Data Analysis</vt:lpstr>
      <vt:lpstr>Outlier Handling &amp; Thresholds</vt:lpstr>
      <vt:lpstr>Feature Engineering</vt:lpstr>
      <vt:lpstr>Key Findings</vt:lpstr>
      <vt:lpstr>Hypothesis vs Reality</vt:lpstr>
      <vt:lpstr>Data Visualizations &amp; Analysis</vt:lpstr>
      <vt:lpstr>Conclusion</vt:lpstr>
      <vt:lpstr>Future Work</vt:lpstr>
      <vt:lpstr>GitHub</vt:lpstr>
      <vt:lpstr>References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Karthik Dinakaran</dc:creator>
  <cp:lastModifiedBy>Parmbir Singh</cp:lastModifiedBy>
  <cp:revision>20</cp:revision>
  <dcterms:modified xsi:type="dcterms:W3CDTF">2026-03-22T21:42:00Z</dcterms:modified>
</cp:coreProperties>
</file>