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webextensions/webextension1.xml" ContentType="application/vnd.ms-office.webextension+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56" r:id="rId2"/>
    <p:sldId id="274" r:id="rId3"/>
    <p:sldId id="281" r:id="rId4"/>
    <p:sldId id="289" r:id="rId5"/>
    <p:sldId id="275" r:id="rId6"/>
    <p:sldId id="277" r:id="rId7"/>
    <p:sldId id="282" r:id="rId8"/>
    <p:sldId id="283" r:id="rId9"/>
    <p:sldId id="284" r:id="rId10"/>
    <p:sldId id="285" r:id="rId11"/>
    <p:sldId id="286" r:id="rId12"/>
    <p:sldId id="287" r:id="rId13"/>
    <p:sldId id="288" r:id="rId14"/>
    <p:sldId id="291" r:id="rId15"/>
    <p:sldId id="292" r:id="rId16"/>
    <p:sldId id="293" r:id="rId17"/>
    <p:sldId id="294" r:id="rId18"/>
    <p:sldId id="295" r:id="rId19"/>
    <p:sldId id="298" r:id="rId20"/>
    <p:sldId id="299" r:id="rId21"/>
    <p:sldId id="301" r:id="rId22"/>
    <p:sldId id="300" r:id="rId23"/>
    <p:sldId id="296" r:id="rId24"/>
    <p:sldId id="302" r:id="rId25"/>
    <p:sldId id="290" r:id="rId26"/>
    <p:sldId id="280" r:id="rId27"/>
    <p:sldId id="276" r:id="rId28"/>
    <p:sldId id="297"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A1B7B0-2472-4192-9CB0-7E0D86F916D0}" v="86" dt="2026-03-19T00:34:40.810"/>
  </p1510:revLst>
</p1510:revInfo>
</file>

<file path=ppt/tableStyles.xml><?xml version="1.0" encoding="utf-8"?>
<a:tblStyleLst xmlns:a="http://schemas.openxmlformats.org/drawingml/2006/main" def="{1FE44F72-D7B3-41EB-977B-2E401710A9A8}">
  <a:tblStyle styleId="{1FE44F72-D7B3-41EB-977B-2E401710A9A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723" autoAdjust="0"/>
  </p:normalViewPr>
  <p:slideViewPr>
    <p:cSldViewPr snapToGrid="0">
      <p:cViewPr varScale="1">
        <p:scale>
          <a:sx n="81" d="100"/>
          <a:sy n="81" d="100"/>
        </p:scale>
        <p:origin x="211" y="58"/>
      </p:cViewPr>
      <p:guideLst/>
    </p:cSldViewPr>
  </p:slideViewPr>
  <p:notesTextViewPr>
    <p:cViewPr>
      <p:scale>
        <a:sx n="3" d="2"/>
        <a:sy n="3" d="2"/>
      </p:scale>
      <p:origin x="0" y="-1493"/>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mbir Singh" userId="dae4fa7f55ca21f2" providerId="LiveId" clId="{A87BCE85-0181-4B1D-9AED-5403F18560AA}"/>
    <pc:docChg chg="undo redo custSel addSld delSld modSld">
      <pc:chgData name="Parmbir Singh" userId="dae4fa7f55ca21f2" providerId="LiveId" clId="{A87BCE85-0181-4B1D-9AED-5403F18560AA}" dt="2026-03-19T00:34:39.993" v="1493" actId="20577"/>
      <pc:docMkLst>
        <pc:docMk/>
      </pc:docMkLst>
      <pc:sldChg chg="modSp mod">
        <pc:chgData name="Parmbir Singh" userId="dae4fa7f55ca21f2" providerId="LiveId" clId="{A87BCE85-0181-4B1D-9AED-5403F18560AA}" dt="2026-03-18T23:24:26.718" v="40" actId="20577"/>
        <pc:sldMkLst>
          <pc:docMk/>
          <pc:sldMk cId="0" sldId="256"/>
        </pc:sldMkLst>
        <pc:spChg chg="mod">
          <ac:chgData name="Parmbir Singh" userId="dae4fa7f55ca21f2" providerId="LiveId" clId="{A87BCE85-0181-4B1D-9AED-5403F18560AA}" dt="2026-03-18T23:24:26.718" v="40" actId="20577"/>
          <ac:spMkLst>
            <pc:docMk/>
            <pc:sldMk cId="0" sldId="256"/>
            <ac:spMk id="14" creationId="{00000000-0000-0000-0000-000000000000}"/>
          </ac:spMkLst>
        </pc:spChg>
      </pc:sldChg>
      <pc:sldChg chg="modSp mod">
        <pc:chgData name="Parmbir Singh" userId="dae4fa7f55ca21f2" providerId="LiveId" clId="{A87BCE85-0181-4B1D-9AED-5403F18560AA}" dt="2026-03-19T00:24:45.114" v="1423" actId="1076"/>
        <pc:sldMkLst>
          <pc:docMk/>
          <pc:sldMk cId="3443371739" sldId="275"/>
        </pc:sldMkLst>
        <pc:spChg chg="mod">
          <ac:chgData name="Parmbir Singh" userId="dae4fa7f55ca21f2" providerId="LiveId" clId="{A87BCE85-0181-4B1D-9AED-5403F18560AA}" dt="2026-03-19T00:24:45.114" v="1423" actId="1076"/>
          <ac:spMkLst>
            <pc:docMk/>
            <pc:sldMk cId="3443371739" sldId="275"/>
            <ac:spMk id="4" creationId="{FBCBDF3E-05E2-6DEA-CE78-FDD2C2433A5E}"/>
          </ac:spMkLst>
        </pc:spChg>
      </pc:sldChg>
      <pc:sldChg chg="modSp mod">
        <pc:chgData name="Parmbir Singh" userId="dae4fa7f55ca21f2" providerId="LiveId" clId="{A87BCE85-0181-4B1D-9AED-5403F18560AA}" dt="2026-03-19T00:24:32.263" v="1422" actId="20577"/>
        <pc:sldMkLst>
          <pc:docMk/>
          <pc:sldMk cId="3037379971" sldId="277"/>
        </pc:sldMkLst>
        <pc:spChg chg="mod">
          <ac:chgData name="Parmbir Singh" userId="dae4fa7f55ca21f2" providerId="LiveId" clId="{A87BCE85-0181-4B1D-9AED-5403F18560AA}" dt="2026-03-19T00:24:32.263" v="1422" actId="20577"/>
          <ac:spMkLst>
            <pc:docMk/>
            <pc:sldMk cId="3037379971" sldId="277"/>
            <ac:spMk id="8" creationId="{7D12005D-D578-B267-F08D-A3E46F0D19A5}"/>
          </ac:spMkLst>
        </pc:spChg>
      </pc:sldChg>
      <pc:sldChg chg="del">
        <pc:chgData name="Parmbir Singh" userId="dae4fa7f55ca21f2" providerId="LiveId" clId="{A87BCE85-0181-4B1D-9AED-5403F18560AA}" dt="2026-03-18T23:26:36.429" v="42" actId="47"/>
        <pc:sldMkLst>
          <pc:docMk/>
          <pc:sldMk cId="1364251412" sldId="278"/>
        </pc:sldMkLst>
      </pc:sldChg>
      <pc:sldChg chg="del">
        <pc:chgData name="Parmbir Singh" userId="dae4fa7f55ca21f2" providerId="LiveId" clId="{A87BCE85-0181-4B1D-9AED-5403F18560AA}" dt="2026-03-18T23:26:36.429" v="42" actId="47"/>
        <pc:sldMkLst>
          <pc:docMk/>
          <pc:sldMk cId="965017445" sldId="279"/>
        </pc:sldMkLst>
      </pc:sldChg>
      <pc:sldChg chg="modSp mod">
        <pc:chgData name="Parmbir Singh" userId="dae4fa7f55ca21f2" providerId="LiveId" clId="{A87BCE85-0181-4B1D-9AED-5403F18560AA}" dt="2026-03-19T00:17:34.744" v="1407" actId="113"/>
        <pc:sldMkLst>
          <pc:docMk/>
          <pc:sldMk cId="1185335225" sldId="280"/>
        </pc:sldMkLst>
        <pc:spChg chg="mod">
          <ac:chgData name="Parmbir Singh" userId="dae4fa7f55ca21f2" providerId="LiveId" clId="{A87BCE85-0181-4B1D-9AED-5403F18560AA}" dt="2026-03-19T00:17:34.744" v="1407" actId="113"/>
          <ac:spMkLst>
            <pc:docMk/>
            <pc:sldMk cId="1185335225" sldId="280"/>
            <ac:spMk id="3" creationId="{007230D6-3892-E353-3FA5-0B6E2C4B121E}"/>
          </ac:spMkLst>
        </pc:spChg>
      </pc:sldChg>
      <pc:sldChg chg="modSp mod">
        <pc:chgData name="Parmbir Singh" userId="dae4fa7f55ca21f2" providerId="LiveId" clId="{A87BCE85-0181-4B1D-9AED-5403F18560AA}" dt="2026-03-19T00:25:46.099" v="1426" actId="20577"/>
        <pc:sldMkLst>
          <pc:docMk/>
          <pc:sldMk cId="1151245012" sldId="281"/>
        </pc:sldMkLst>
        <pc:spChg chg="mod">
          <ac:chgData name="Parmbir Singh" userId="dae4fa7f55ca21f2" providerId="LiveId" clId="{A87BCE85-0181-4B1D-9AED-5403F18560AA}" dt="2026-03-19T00:25:46.099" v="1426" actId="20577"/>
          <ac:spMkLst>
            <pc:docMk/>
            <pc:sldMk cId="1151245012" sldId="281"/>
            <ac:spMk id="3" creationId="{600A0362-567C-A958-9107-2737094F0BE3}"/>
          </ac:spMkLst>
        </pc:spChg>
      </pc:sldChg>
      <pc:sldChg chg="modSp mod">
        <pc:chgData name="Parmbir Singh" userId="dae4fa7f55ca21f2" providerId="LiveId" clId="{A87BCE85-0181-4B1D-9AED-5403F18560AA}" dt="2026-03-19T00:24:19.262" v="1420" actId="20577"/>
        <pc:sldMkLst>
          <pc:docMk/>
          <pc:sldMk cId="23800886" sldId="282"/>
        </pc:sldMkLst>
        <pc:spChg chg="mod">
          <ac:chgData name="Parmbir Singh" userId="dae4fa7f55ca21f2" providerId="LiveId" clId="{A87BCE85-0181-4B1D-9AED-5403F18560AA}" dt="2026-03-19T00:24:19.262" v="1420" actId="20577"/>
          <ac:spMkLst>
            <pc:docMk/>
            <pc:sldMk cId="23800886" sldId="282"/>
            <ac:spMk id="3" creationId="{8CD0DB97-3C2B-DC83-6D62-87A519310BA2}"/>
          </ac:spMkLst>
        </pc:spChg>
      </pc:sldChg>
      <pc:sldChg chg="modSp mod">
        <pc:chgData name="Parmbir Singh" userId="dae4fa7f55ca21f2" providerId="LiveId" clId="{A87BCE85-0181-4B1D-9AED-5403F18560AA}" dt="2026-03-19T00:24:06.976" v="1419" actId="20577"/>
        <pc:sldMkLst>
          <pc:docMk/>
          <pc:sldMk cId="3123408033" sldId="283"/>
        </pc:sldMkLst>
        <pc:spChg chg="mod">
          <ac:chgData name="Parmbir Singh" userId="dae4fa7f55ca21f2" providerId="LiveId" clId="{A87BCE85-0181-4B1D-9AED-5403F18560AA}" dt="2026-03-19T00:24:06.976" v="1419" actId="20577"/>
          <ac:spMkLst>
            <pc:docMk/>
            <pc:sldMk cId="3123408033" sldId="283"/>
            <ac:spMk id="3" creationId="{FB438649-0031-8221-3512-976787D2775C}"/>
          </ac:spMkLst>
        </pc:spChg>
      </pc:sldChg>
      <pc:sldChg chg="modSp mod">
        <pc:chgData name="Parmbir Singh" userId="dae4fa7f55ca21f2" providerId="LiveId" clId="{A87BCE85-0181-4B1D-9AED-5403F18560AA}" dt="2026-03-19T00:23:46.055" v="1418" actId="20577"/>
        <pc:sldMkLst>
          <pc:docMk/>
          <pc:sldMk cId="2140754153" sldId="284"/>
        </pc:sldMkLst>
        <pc:spChg chg="mod">
          <ac:chgData name="Parmbir Singh" userId="dae4fa7f55ca21f2" providerId="LiveId" clId="{A87BCE85-0181-4B1D-9AED-5403F18560AA}" dt="2026-03-19T00:23:46.055" v="1418" actId="20577"/>
          <ac:spMkLst>
            <pc:docMk/>
            <pc:sldMk cId="2140754153" sldId="284"/>
            <ac:spMk id="3" creationId="{42189FA2-D837-DFCE-D004-BAB7250FCADA}"/>
          </ac:spMkLst>
        </pc:spChg>
      </pc:sldChg>
      <pc:sldChg chg="modSp mod">
        <pc:chgData name="Parmbir Singh" userId="dae4fa7f55ca21f2" providerId="LiveId" clId="{A87BCE85-0181-4B1D-9AED-5403F18560AA}" dt="2026-03-19T00:22:50.543" v="1416" actId="20577"/>
        <pc:sldMkLst>
          <pc:docMk/>
          <pc:sldMk cId="2902506300" sldId="287"/>
        </pc:sldMkLst>
        <pc:spChg chg="mod">
          <ac:chgData name="Parmbir Singh" userId="dae4fa7f55ca21f2" providerId="LiveId" clId="{A87BCE85-0181-4B1D-9AED-5403F18560AA}" dt="2026-03-19T00:22:50.543" v="1416" actId="20577"/>
          <ac:spMkLst>
            <pc:docMk/>
            <pc:sldMk cId="2902506300" sldId="287"/>
            <ac:spMk id="3" creationId="{BBDF1F95-6981-F490-35AB-23291B9DFD1B}"/>
          </ac:spMkLst>
        </pc:spChg>
      </pc:sldChg>
      <pc:sldChg chg="addSp delSp modSp mod">
        <pc:chgData name="Parmbir Singh" userId="dae4fa7f55ca21f2" providerId="LiveId" clId="{A87BCE85-0181-4B1D-9AED-5403F18560AA}" dt="2026-03-19T00:17:30.064" v="1406" actId="1076"/>
        <pc:sldMkLst>
          <pc:docMk/>
          <pc:sldMk cId="3932684486" sldId="290"/>
        </pc:sldMkLst>
        <pc:spChg chg="del mod">
          <ac:chgData name="Parmbir Singh" userId="dae4fa7f55ca21f2" providerId="LiveId" clId="{A87BCE85-0181-4B1D-9AED-5403F18560AA}" dt="2026-03-19T00:17:24.213" v="1405" actId="478"/>
          <ac:spMkLst>
            <pc:docMk/>
            <pc:sldMk cId="3932684486" sldId="290"/>
            <ac:spMk id="3" creationId="{FA025D48-F943-0C9F-B63B-3CD055371B6E}"/>
          </ac:spMkLst>
        </pc:spChg>
        <pc:spChg chg="add mod">
          <ac:chgData name="Parmbir Singh" userId="dae4fa7f55ca21f2" providerId="LiveId" clId="{A87BCE85-0181-4B1D-9AED-5403F18560AA}" dt="2026-03-19T00:17:30.064" v="1406" actId="1076"/>
          <ac:spMkLst>
            <pc:docMk/>
            <pc:sldMk cId="3932684486" sldId="290"/>
            <ac:spMk id="6" creationId="{FC031895-7006-9F9A-096A-54C7D37F967E}"/>
          </ac:spMkLst>
        </pc:spChg>
      </pc:sldChg>
      <pc:sldChg chg="addSp delSp modSp mod">
        <pc:chgData name="Parmbir Singh" userId="dae4fa7f55ca21f2" providerId="LiveId" clId="{A87BCE85-0181-4B1D-9AED-5403F18560AA}" dt="2026-03-19T00:12:01.867" v="1318" actId="1076"/>
        <pc:sldMkLst>
          <pc:docMk/>
          <pc:sldMk cId="4047617736" sldId="291"/>
        </pc:sldMkLst>
        <pc:spChg chg="del">
          <ac:chgData name="Parmbir Singh" userId="dae4fa7f55ca21f2" providerId="LiveId" clId="{A87BCE85-0181-4B1D-9AED-5403F18560AA}" dt="2026-03-19T00:11:22.909" v="1312" actId="478"/>
          <ac:spMkLst>
            <pc:docMk/>
            <pc:sldMk cId="4047617736" sldId="291"/>
            <ac:spMk id="3" creationId="{582C376E-D656-D739-63DF-4A55357FE295}"/>
          </ac:spMkLst>
        </pc:spChg>
        <pc:spChg chg="add mod">
          <ac:chgData name="Parmbir Singh" userId="dae4fa7f55ca21f2" providerId="LiveId" clId="{A87BCE85-0181-4B1D-9AED-5403F18560AA}" dt="2026-03-19T00:12:01.867" v="1318" actId="1076"/>
          <ac:spMkLst>
            <pc:docMk/>
            <pc:sldMk cId="4047617736" sldId="291"/>
            <ac:spMk id="6" creationId="{5E1702C1-AB29-D96C-08E3-D540357B689F}"/>
          </ac:spMkLst>
        </pc:spChg>
      </pc:sldChg>
      <pc:sldChg chg="addSp delSp modSp mod">
        <pc:chgData name="Parmbir Singh" userId="dae4fa7f55ca21f2" providerId="LiveId" clId="{A87BCE85-0181-4B1D-9AED-5403F18560AA}" dt="2026-03-19T00:08:11.004" v="1106" actId="1076"/>
        <pc:sldMkLst>
          <pc:docMk/>
          <pc:sldMk cId="1307858629" sldId="292"/>
        </pc:sldMkLst>
        <pc:spChg chg="del">
          <ac:chgData name="Parmbir Singh" userId="dae4fa7f55ca21f2" providerId="LiveId" clId="{A87BCE85-0181-4B1D-9AED-5403F18560AA}" dt="2026-03-19T00:07:16.773" v="1097" actId="478"/>
          <ac:spMkLst>
            <pc:docMk/>
            <pc:sldMk cId="1307858629" sldId="292"/>
            <ac:spMk id="3" creationId="{2A6E7E44-4BC6-20FF-7229-A3A9B54D44E8}"/>
          </ac:spMkLst>
        </pc:spChg>
        <pc:spChg chg="add mod">
          <ac:chgData name="Parmbir Singh" userId="dae4fa7f55ca21f2" providerId="LiveId" clId="{A87BCE85-0181-4B1D-9AED-5403F18560AA}" dt="2026-03-19T00:08:11.004" v="1106" actId="1076"/>
          <ac:spMkLst>
            <pc:docMk/>
            <pc:sldMk cId="1307858629" sldId="292"/>
            <ac:spMk id="6" creationId="{ABA88D81-F674-7581-81A5-4FC5C14B8047}"/>
          </ac:spMkLst>
        </pc:spChg>
      </pc:sldChg>
      <pc:sldChg chg="addSp delSp modSp mod">
        <pc:chgData name="Parmbir Singh" userId="dae4fa7f55ca21f2" providerId="LiveId" clId="{A87BCE85-0181-4B1D-9AED-5403F18560AA}" dt="2026-03-19T00:03:31.169" v="945" actId="1076"/>
        <pc:sldMkLst>
          <pc:docMk/>
          <pc:sldMk cId="312471395" sldId="293"/>
        </pc:sldMkLst>
        <pc:spChg chg="del">
          <ac:chgData name="Parmbir Singh" userId="dae4fa7f55ca21f2" providerId="LiveId" clId="{A87BCE85-0181-4B1D-9AED-5403F18560AA}" dt="2026-03-19T00:02:14.737" v="928" actId="478"/>
          <ac:spMkLst>
            <pc:docMk/>
            <pc:sldMk cId="312471395" sldId="293"/>
            <ac:spMk id="3" creationId="{18A02F01-015D-B2F5-3FC1-783EEB307A6A}"/>
          </ac:spMkLst>
        </pc:spChg>
        <pc:spChg chg="add mod">
          <ac:chgData name="Parmbir Singh" userId="dae4fa7f55ca21f2" providerId="LiveId" clId="{A87BCE85-0181-4B1D-9AED-5403F18560AA}" dt="2026-03-19T00:03:31.169" v="945" actId="1076"/>
          <ac:spMkLst>
            <pc:docMk/>
            <pc:sldMk cId="312471395" sldId="293"/>
            <ac:spMk id="6" creationId="{52A87F6C-39AC-9E0D-8676-706791A890A5}"/>
          </ac:spMkLst>
        </pc:spChg>
      </pc:sldChg>
      <pc:sldChg chg="addSp delSp modSp mod">
        <pc:chgData name="Parmbir Singh" userId="dae4fa7f55ca21f2" providerId="LiveId" clId="{A87BCE85-0181-4B1D-9AED-5403F18560AA}" dt="2026-03-19T00:18:23.661" v="1414" actId="113"/>
        <pc:sldMkLst>
          <pc:docMk/>
          <pc:sldMk cId="3606967208" sldId="294"/>
        </pc:sldMkLst>
        <pc:spChg chg="del mod">
          <ac:chgData name="Parmbir Singh" userId="dae4fa7f55ca21f2" providerId="LiveId" clId="{A87BCE85-0181-4B1D-9AED-5403F18560AA}" dt="2026-03-18T23:58:36.662" v="848" actId="478"/>
          <ac:spMkLst>
            <pc:docMk/>
            <pc:sldMk cId="3606967208" sldId="294"/>
            <ac:spMk id="3" creationId="{9EA3183F-4CB5-D274-51BC-A9575FE1BA2A}"/>
          </ac:spMkLst>
        </pc:spChg>
        <pc:spChg chg="add mod">
          <ac:chgData name="Parmbir Singh" userId="dae4fa7f55ca21f2" providerId="LiveId" clId="{A87BCE85-0181-4B1D-9AED-5403F18560AA}" dt="2026-03-19T00:18:23.661" v="1414" actId="113"/>
          <ac:spMkLst>
            <pc:docMk/>
            <pc:sldMk cId="3606967208" sldId="294"/>
            <ac:spMk id="6" creationId="{8A5C9102-CCA9-2BD0-5416-0816F7F92932}"/>
          </ac:spMkLst>
        </pc:spChg>
      </pc:sldChg>
      <pc:sldChg chg="addSp delSp modSp mod">
        <pc:chgData name="Parmbir Singh" userId="dae4fa7f55ca21f2" providerId="LiveId" clId="{A87BCE85-0181-4B1D-9AED-5403F18560AA}" dt="2026-03-19T00:18:12.461" v="1412" actId="1076"/>
        <pc:sldMkLst>
          <pc:docMk/>
          <pc:sldMk cId="2508983303" sldId="295"/>
        </pc:sldMkLst>
        <pc:spChg chg="del mod">
          <ac:chgData name="Parmbir Singh" userId="dae4fa7f55ca21f2" providerId="LiveId" clId="{A87BCE85-0181-4B1D-9AED-5403F18560AA}" dt="2026-03-18T23:54:43.632" v="653" actId="478"/>
          <ac:spMkLst>
            <pc:docMk/>
            <pc:sldMk cId="2508983303" sldId="295"/>
            <ac:spMk id="3" creationId="{2DBFCE6B-7FBE-A626-3233-5717AD7C8DBC}"/>
          </ac:spMkLst>
        </pc:spChg>
        <pc:spChg chg="add mod">
          <ac:chgData name="Parmbir Singh" userId="dae4fa7f55ca21f2" providerId="LiveId" clId="{A87BCE85-0181-4B1D-9AED-5403F18560AA}" dt="2026-03-19T00:18:12.461" v="1412" actId="1076"/>
          <ac:spMkLst>
            <pc:docMk/>
            <pc:sldMk cId="2508983303" sldId="295"/>
            <ac:spMk id="6" creationId="{F343F508-0FC4-DC88-B454-C270A02FF37C}"/>
          </ac:spMkLst>
        </pc:spChg>
      </pc:sldChg>
      <pc:sldChg chg="modSp mod">
        <pc:chgData name="Parmbir Singh" userId="dae4fa7f55ca21f2" providerId="LiveId" clId="{A87BCE85-0181-4B1D-9AED-5403F18560AA}" dt="2026-03-19T00:31:13.624" v="1450" actId="6549"/>
        <pc:sldMkLst>
          <pc:docMk/>
          <pc:sldMk cId="1925660853" sldId="296"/>
        </pc:sldMkLst>
        <pc:spChg chg="mod">
          <ac:chgData name="Parmbir Singh" userId="dae4fa7f55ca21f2" providerId="LiveId" clId="{A87BCE85-0181-4B1D-9AED-5403F18560AA}" dt="2026-03-19T00:12:36.973" v="1321" actId="20577"/>
          <ac:spMkLst>
            <pc:docMk/>
            <pc:sldMk cId="1925660853" sldId="296"/>
            <ac:spMk id="2" creationId="{D3412A37-B059-70ED-8457-F42CE243F02D}"/>
          </ac:spMkLst>
        </pc:spChg>
        <pc:spChg chg="mod">
          <ac:chgData name="Parmbir Singh" userId="dae4fa7f55ca21f2" providerId="LiveId" clId="{A87BCE85-0181-4B1D-9AED-5403F18560AA}" dt="2026-03-19T00:31:13.624" v="1450" actId="6549"/>
          <ac:spMkLst>
            <pc:docMk/>
            <pc:sldMk cId="1925660853" sldId="296"/>
            <ac:spMk id="3" creationId="{1BD89704-7977-C06C-E045-1D0FBC95CCA5}"/>
          </ac:spMkLst>
        </pc:spChg>
      </pc:sldChg>
      <pc:sldChg chg="addSp delSp modSp mod">
        <pc:chgData name="Parmbir Singh" userId="dae4fa7f55ca21f2" providerId="LiveId" clId="{A87BCE85-0181-4B1D-9AED-5403F18560AA}" dt="2026-03-19T00:18:00.505" v="1410" actId="113"/>
        <pc:sldMkLst>
          <pc:docMk/>
          <pc:sldMk cId="1617925778" sldId="298"/>
        </pc:sldMkLst>
        <pc:spChg chg="del mod">
          <ac:chgData name="Parmbir Singh" userId="dae4fa7f55ca21f2" providerId="LiveId" clId="{A87BCE85-0181-4B1D-9AED-5403F18560AA}" dt="2026-03-18T23:46:55.553" v="227" actId="478"/>
          <ac:spMkLst>
            <pc:docMk/>
            <pc:sldMk cId="1617925778" sldId="298"/>
            <ac:spMk id="3" creationId="{8D923AFB-3DD3-3711-B651-C4E495BCDDA0}"/>
          </ac:spMkLst>
        </pc:spChg>
        <pc:spChg chg="add mod">
          <ac:chgData name="Parmbir Singh" userId="dae4fa7f55ca21f2" providerId="LiveId" clId="{A87BCE85-0181-4B1D-9AED-5403F18560AA}" dt="2026-03-19T00:18:00.505" v="1410" actId="113"/>
          <ac:spMkLst>
            <pc:docMk/>
            <pc:sldMk cId="1617925778" sldId="298"/>
            <ac:spMk id="7" creationId="{837BE52B-1C33-B6FA-FDB8-1382A57452EE}"/>
          </ac:spMkLst>
        </pc:spChg>
      </pc:sldChg>
      <pc:sldChg chg="addSp delSp modSp add del mod modNotesTx">
        <pc:chgData name="Parmbir Singh" userId="dae4fa7f55ca21f2" providerId="LiveId" clId="{A87BCE85-0181-4B1D-9AED-5403F18560AA}" dt="2026-03-19T00:17:53.722" v="1409" actId="113"/>
        <pc:sldMkLst>
          <pc:docMk/>
          <pc:sldMk cId="2656079206" sldId="299"/>
        </pc:sldMkLst>
        <pc:spChg chg="del mod">
          <ac:chgData name="Parmbir Singh" userId="dae4fa7f55ca21f2" providerId="LiveId" clId="{A87BCE85-0181-4B1D-9AED-5403F18560AA}" dt="2026-03-18T23:52:25.505" v="541" actId="478"/>
          <ac:spMkLst>
            <pc:docMk/>
            <pc:sldMk cId="2656079206" sldId="299"/>
            <ac:spMk id="3" creationId="{765F8A43-8578-7576-700E-351BC8E1ADD7}"/>
          </ac:spMkLst>
        </pc:spChg>
        <pc:spChg chg="add mod">
          <ac:chgData name="Parmbir Singh" userId="dae4fa7f55ca21f2" providerId="LiveId" clId="{A87BCE85-0181-4B1D-9AED-5403F18560AA}" dt="2026-03-19T00:17:53.722" v="1409" actId="113"/>
          <ac:spMkLst>
            <pc:docMk/>
            <pc:sldMk cId="2656079206" sldId="299"/>
            <ac:spMk id="6" creationId="{580606D2-485C-274E-521B-6A9CDA3001EB}"/>
          </ac:spMkLst>
        </pc:spChg>
        <pc:spChg chg="add mod">
          <ac:chgData name="Parmbir Singh" userId="dae4fa7f55ca21f2" providerId="LiveId" clId="{A87BCE85-0181-4B1D-9AED-5403F18560AA}" dt="2026-03-17T22:58:26.436" v="6" actId="21"/>
          <ac:spMkLst>
            <pc:docMk/>
            <pc:sldMk cId="2656079206" sldId="299"/>
            <ac:spMk id="7" creationId="{783AFBD1-0155-99F9-A798-B3AC47CCAD3B}"/>
          </ac:spMkLst>
        </pc:spChg>
      </pc:sldChg>
      <pc:sldChg chg="addSp delSp modSp mod">
        <pc:chgData name="Parmbir Singh" userId="dae4fa7f55ca21f2" providerId="LiveId" clId="{A87BCE85-0181-4B1D-9AED-5403F18560AA}" dt="2026-03-19T00:14:47.835" v="1353" actId="1076"/>
        <pc:sldMkLst>
          <pc:docMk/>
          <pc:sldMk cId="3636004003" sldId="300"/>
        </pc:sldMkLst>
        <pc:spChg chg="del mod">
          <ac:chgData name="Parmbir Singh" userId="dae4fa7f55ca21f2" providerId="LiveId" clId="{A87BCE85-0181-4B1D-9AED-5403F18560AA}" dt="2026-03-18T23:50:43.262" v="446" actId="478"/>
          <ac:spMkLst>
            <pc:docMk/>
            <pc:sldMk cId="3636004003" sldId="300"/>
            <ac:spMk id="3" creationId="{7BD94011-9AB4-25D7-7053-9CC35A844083}"/>
          </ac:spMkLst>
        </pc:spChg>
        <pc:spChg chg="add del">
          <ac:chgData name="Parmbir Singh" userId="dae4fa7f55ca21f2" providerId="LiveId" clId="{A87BCE85-0181-4B1D-9AED-5403F18560AA}" dt="2026-03-18T23:47:30.807" v="233" actId="22"/>
          <ac:spMkLst>
            <pc:docMk/>
            <pc:sldMk cId="3636004003" sldId="300"/>
            <ac:spMk id="7" creationId="{12699BA9-FC5D-EEE1-540A-D9417C4902C7}"/>
          </ac:spMkLst>
        </pc:spChg>
        <pc:spChg chg="add del mod">
          <ac:chgData name="Parmbir Singh" userId="dae4fa7f55ca21f2" providerId="LiveId" clId="{A87BCE85-0181-4B1D-9AED-5403F18560AA}" dt="2026-03-18T23:47:36.892" v="237" actId="22"/>
          <ac:spMkLst>
            <pc:docMk/>
            <pc:sldMk cId="3636004003" sldId="300"/>
            <ac:spMk id="9" creationId="{FC572064-FEC6-C087-087D-7CAD7A4CC434}"/>
          </ac:spMkLst>
        </pc:spChg>
        <pc:spChg chg="add mod">
          <ac:chgData name="Parmbir Singh" userId="dae4fa7f55ca21f2" providerId="LiveId" clId="{A87BCE85-0181-4B1D-9AED-5403F18560AA}" dt="2026-03-19T00:14:47.835" v="1353" actId="1076"/>
          <ac:spMkLst>
            <pc:docMk/>
            <pc:sldMk cId="3636004003" sldId="300"/>
            <ac:spMk id="10" creationId="{F063E2A1-D2E5-8DBD-3603-E363C0EC1882}"/>
          </ac:spMkLst>
        </pc:spChg>
      </pc:sldChg>
      <pc:sldChg chg="addSp delSp modSp mod">
        <pc:chgData name="Parmbir Singh" userId="dae4fa7f55ca21f2" providerId="LiveId" clId="{A87BCE85-0181-4B1D-9AED-5403F18560AA}" dt="2026-03-19T00:27:16.621" v="1432" actId="27309"/>
        <pc:sldMkLst>
          <pc:docMk/>
          <pc:sldMk cId="932498811" sldId="301"/>
        </pc:sldMkLst>
        <pc:graphicFrameChg chg="add del mod modGraphic">
          <ac:chgData name="Parmbir Singh" userId="dae4fa7f55ca21f2" providerId="LiveId" clId="{A87BCE85-0181-4B1D-9AED-5403F18560AA}" dt="2026-03-19T00:27:16.621" v="1432" actId="27309"/>
          <ac:graphicFrameMkLst>
            <pc:docMk/>
            <pc:sldMk cId="932498811" sldId="301"/>
            <ac:graphicFrameMk id="6" creationId="{FA2F70F9-4F96-861D-A0D6-1DBABB56C584}"/>
          </ac:graphicFrameMkLst>
        </pc:graphicFrameChg>
      </pc:sldChg>
      <pc:sldChg chg="addSp delSp modSp add mod chgLayout modNotesTx">
        <pc:chgData name="Parmbir Singh" userId="dae4fa7f55ca21f2" providerId="LiveId" clId="{A87BCE85-0181-4B1D-9AED-5403F18560AA}" dt="2026-03-19T00:34:39.993" v="1493" actId="20577"/>
        <pc:sldMkLst>
          <pc:docMk/>
          <pc:sldMk cId="3960619580" sldId="302"/>
        </pc:sldMkLst>
        <pc:spChg chg="mod ord">
          <ac:chgData name="Parmbir Singh" userId="dae4fa7f55ca21f2" providerId="LiveId" clId="{A87BCE85-0181-4B1D-9AED-5403F18560AA}" dt="2026-03-19T00:32:10.064" v="1453" actId="14100"/>
          <ac:spMkLst>
            <pc:docMk/>
            <pc:sldMk cId="3960619580" sldId="302"/>
            <ac:spMk id="2" creationId="{4D1ECD0F-7992-D841-0F1B-1F3C3CEFE94B}"/>
          </ac:spMkLst>
        </pc:spChg>
        <pc:spChg chg="del mod">
          <ac:chgData name="Parmbir Singh" userId="dae4fa7f55ca21f2" providerId="LiveId" clId="{A87BCE85-0181-4B1D-9AED-5403F18560AA}" dt="2026-03-18T23:01:03.607" v="25" actId="478"/>
          <ac:spMkLst>
            <pc:docMk/>
            <pc:sldMk cId="3960619580" sldId="302"/>
            <ac:spMk id="3" creationId="{93AC0754-7530-58C2-0C06-F0BC460FE9F4}"/>
          </ac:spMkLst>
        </pc:spChg>
        <pc:spChg chg="mod ord">
          <ac:chgData name="Parmbir Singh" userId="dae4fa7f55ca21f2" providerId="LiveId" clId="{A87BCE85-0181-4B1D-9AED-5403F18560AA}" dt="2026-03-18T23:00:54.301" v="22" actId="6264"/>
          <ac:spMkLst>
            <pc:docMk/>
            <pc:sldMk cId="3960619580" sldId="302"/>
            <ac:spMk id="5" creationId="{C392F33D-13E4-EE05-8391-D15BA04A9F29}"/>
          </ac:spMkLst>
        </pc:spChg>
        <pc:spChg chg="add del mod">
          <ac:chgData name="Parmbir Singh" userId="dae4fa7f55ca21f2" providerId="LiveId" clId="{A87BCE85-0181-4B1D-9AED-5403F18560AA}" dt="2026-03-18T23:00:54.301" v="22" actId="6264"/>
          <ac:spMkLst>
            <pc:docMk/>
            <pc:sldMk cId="3960619580" sldId="302"/>
            <ac:spMk id="6" creationId="{331C86B8-8488-C16A-3BD9-0C598051DC07}"/>
          </ac:spMkLst>
        </pc:spChg>
        <pc:graphicFrameChg chg="add mod">
          <ac:chgData name="Parmbir Singh" userId="dae4fa7f55ca21f2" providerId="LiveId" clId="{A87BCE85-0181-4B1D-9AED-5403F18560AA}" dt="2026-03-18T23:15:32.515" v="39" actId="14100"/>
          <ac:graphicFrameMkLst>
            <pc:docMk/>
            <pc:sldMk cId="3960619580" sldId="302"/>
            <ac:graphicFrameMk id="7" creationId="{BD58982F-202D-8506-2AE5-640F1560DD4B}"/>
          </ac:graphicFrameMkLst>
        </pc:graphicFrameChg>
      </pc:sldChg>
      <pc:sldChg chg="new del">
        <pc:chgData name="Parmbir Singh" userId="dae4fa7f55ca21f2" providerId="LiveId" clId="{A87BCE85-0181-4B1D-9AED-5403F18560AA}" dt="2026-03-18T23:44:54.096" v="83" actId="680"/>
        <pc:sldMkLst>
          <pc:docMk/>
          <pc:sldMk cId="1701974824"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dirty="0"/>
              <a:t>CityU</a:t>
            </a:r>
            <a:r>
              <a:rPr lang="en-US" baseline="0" dirty="0"/>
              <a:t> logo cannot be deleted.</a:t>
            </a:r>
          </a:p>
          <a:p>
            <a:pPr marL="171450" lvl="0" indent="-171450" algn="l" rtl="0">
              <a:spcBef>
                <a:spcPts val="0"/>
              </a:spcBef>
              <a:spcAft>
                <a:spcPts val="0"/>
              </a:spcAft>
            </a:pPr>
            <a:r>
              <a:rPr lang="en-US" baseline="0" dirty="0"/>
              <a:t>Design can be modified for </a:t>
            </a:r>
            <a:r>
              <a:rPr lang="en-US" baseline="0"/>
              <a:t>your preference.</a:t>
            </a:r>
            <a:endParaRPr lang="en-US" baseline="0" dirty="0"/>
          </a:p>
          <a:p>
            <a:pPr marL="171450" lvl="0" indent="-171450" algn="l" rtl="0">
              <a:spcBef>
                <a:spcPts val="0"/>
              </a:spcBef>
              <a:spcAft>
                <a:spcPts val="0"/>
              </a:spcAft>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project examines instability in aerospace supply chains caused by reactive planning and limited supplier visibility.</a:t>
            </a:r>
          </a:p>
          <a:p>
            <a:r>
              <a:rPr lang="en-US" dirty="0"/>
              <a:t>Research showed that traditional models relying on historical averages have contributed to lead-time volatility and production delays.</a:t>
            </a:r>
          </a:p>
          <a:p>
            <a:r>
              <a:rPr lang="en-US"/>
              <a:t>My capstone proposes a predictive analytics framework that uses supplier and logistics data to forecast potential disruptions before they affect assembly operations.</a:t>
            </a:r>
          </a:p>
          <a:p>
            <a:endParaRPr lang="en-US"/>
          </a:p>
        </p:txBody>
      </p:sp>
    </p:spTree>
    <p:extLst>
      <p:ext uri="{BB962C8B-B14F-4D97-AF65-F5344CB8AC3E}">
        <p14:creationId xmlns:p14="http://schemas.microsoft.com/office/powerpoint/2010/main" val="966443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b="1" i="0" dirty="0"/>
              <a:t>The Gap:</a:t>
            </a:r>
            <a:r>
              <a:rPr lang="en-US" b="0" i="0" dirty="0"/>
              <a:t> A mismatch between "as-is" reactive logistics and "to-be" proactive resilience</a:t>
            </a:r>
            <a:endParaRPr lang="en-US" dirty="0"/>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b="1" i="0" dirty="0"/>
              <a:t>Current Issue:</a:t>
            </a:r>
            <a:r>
              <a:rPr lang="en-US" b="0" i="0" dirty="0"/>
              <a:t> Reliance on historical averages fails to account for real-time geopolitical and logistical shifts</a:t>
            </a:r>
            <a:endParaRPr lang="en-US" dirty="0"/>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b="1" i="0" dirty="0"/>
              <a:t>Impact:</a:t>
            </a:r>
            <a:r>
              <a:rPr lang="en-US" b="0" i="0" dirty="0"/>
              <a:t> Lead-time volatility results in assembly line stoppages and millions in damages</a:t>
            </a:r>
            <a:endParaRPr lang="en-US" dirty="0"/>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b="1" i="0" dirty="0"/>
              <a:t>Proposed Solution:</a:t>
            </a:r>
            <a:r>
              <a:rPr lang="en-US" b="0" i="0" dirty="0"/>
              <a:t> Accurate machine learning models to reduce downtime by an estimated </a:t>
            </a:r>
            <a:r>
              <a:rPr lang="en-US" b="1" i="0" dirty="0"/>
              <a:t>10%</a:t>
            </a:r>
            <a:endParaRPr lang="en-US" dirty="0"/>
          </a:p>
        </p:txBody>
      </p:sp>
    </p:spTree>
    <p:extLst>
      <p:ext uri="{BB962C8B-B14F-4D97-AF65-F5344CB8AC3E}">
        <p14:creationId xmlns:p14="http://schemas.microsoft.com/office/powerpoint/2010/main" val="946466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This slide introduces the technical direction of the project. The goal is not just to analyze delays but to forecast risk before disruptions impact production.</a:t>
            </a:r>
          </a:p>
          <a:p>
            <a:endParaRPr lang="en-US" dirty="0"/>
          </a:p>
        </p:txBody>
      </p:sp>
    </p:spTree>
    <p:extLst>
      <p:ext uri="{BB962C8B-B14F-4D97-AF65-F5344CB8AC3E}">
        <p14:creationId xmlns:p14="http://schemas.microsoft.com/office/powerpoint/2010/main" val="4058618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architecture follows a modular pipeline. Each stage builds toward generating interpretable risk indicators.</a:t>
            </a:r>
          </a:p>
        </p:txBody>
      </p:sp>
    </p:spTree>
    <p:extLst>
      <p:ext uri="{BB962C8B-B14F-4D97-AF65-F5344CB8AC3E}">
        <p14:creationId xmlns:p14="http://schemas.microsoft.com/office/powerpoint/2010/main" val="2269267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Implementation is iterative. Models will be tested and refined before visualization.</a:t>
            </a:r>
          </a:p>
        </p:txBody>
      </p:sp>
    </p:spTree>
    <p:extLst>
      <p:ext uri="{BB962C8B-B14F-4D97-AF65-F5344CB8AC3E}">
        <p14:creationId xmlns:p14="http://schemas.microsoft.com/office/powerpoint/2010/main" val="413881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Databricks provides the modeling environment. Power BI converts outputs into operational dashboards. </a:t>
            </a:r>
            <a:r>
              <a:rPr lang="en-US" dirty="0" err="1"/>
              <a:t>MLflow</a:t>
            </a:r>
            <a:r>
              <a:rPr lang="en-US" dirty="0"/>
              <a:t> and Delta Lake may be used for governance and reproducibility.</a:t>
            </a:r>
          </a:p>
        </p:txBody>
      </p:sp>
    </p:spTree>
    <p:extLst>
      <p:ext uri="{BB962C8B-B14F-4D97-AF65-F5344CB8AC3E}">
        <p14:creationId xmlns:p14="http://schemas.microsoft.com/office/powerpoint/2010/main" val="313648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This analysis compares aerospace production with global supply chain pressure using a dual-axis time-series visualization. The blue line represents production, while the red dashed line represents supply pressure. The graph shows that both variables trend upward over time. This suggests that production growth is occurring alongside increasing supply chain stress. Rather than isolated disruptions, the data indicates sustained pressure within the system.</a:t>
            </a:r>
          </a:p>
        </p:txBody>
      </p:sp>
    </p:spTree>
    <p:extLst>
      <p:ext uri="{BB962C8B-B14F-4D97-AF65-F5344CB8AC3E}">
        <p14:creationId xmlns:p14="http://schemas.microsoft.com/office/powerpoint/2010/main" val="2388798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key takeaway from this analysis is that supply chain pressure appears to be persistent rather than temporary. As pressure increases, production continues to rise, suggesting that manufacturers are operating under ongoing constraints. This indicates that supply chain instability is a structural issue rather than a short-term disruption.</a:t>
            </a:r>
          </a:p>
        </p:txBody>
      </p:sp>
    </p:spTree>
    <p:extLst>
      <p:ext uri="{BB962C8B-B14F-4D97-AF65-F5344CB8AC3E}">
        <p14:creationId xmlns:p14="http://schemas.microsoft.com/office/powerpoint/2010/main" val="3042859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Based on this analysis, the next phase of the project is to move into predictive modeling. The goal is to use the engineered dataset to forecast disruption risk and better understand how supply chain pressure impacts production. </a:t>
            </a:r>
            <a:r>
              <a:rPr lang="en-US"/>
              <a:t>This will also be supported by visualization in Power BI dashboards to make insights more actionable.</a:t>
            </a:r>
          </a:p>
          <a:p>
            <a:pPr marL="139700" indent="0">
              <a:buNone/>
            </a:pPr>
            <a:endParaRPr lang="en-US" dirty="0"/>
          </a:p>
        </p:txBody>
      </p:sp>
    </p:spTree>
    <p:extLst>
      <p:ext uri="{BB962C8B-B14F-4D97-AF65-F5344CB8AC3E}">
        <p14:creationId xmlns:p14="http://schemas.microsoft.com/office/powerpoint/2010/main" val="3913130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F153C-FD40-52C3-98DE-265226775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115DA-7BF1-517D-201B-EE69404D2E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3D752E3-9CD3-3D49-6F7E-A8A960826C13}"/>
              </a:ext>
            </a:extLst>
          </p:cNvPr>
          <p:cNvSpPr>
            <a:spLocks noGrp="1"/>
          </p:cNvSpPr>
          <p:nvPr>
            <p:ph type="body" idx="1"/>
          </p:nvPr>
        </p:nvSpPr>
        <p:spPr/>
        <p:txBody>
          <a:bodyPr/>
          <a:lstStyle/>
          <a:p>
            <a:r>
              <a:rPr lang="en-US" dirty="0"/>
              <a:t>The dataset created this week combines three economic indicators that reflect different aspects of the aerospace supply chain. The aerospace production index represents manufacturing output, the freight index represents logistics activity, and the supply chain pressure index captures global disruptions. These datasets were merged into a single monthly dataset that can be used to explore relationships between supply chain pressure and aerospace production performance.</a:t>
            </a:r>
          </a:p>
        </p:txBody>
      </p:sp>
    </p:spTree>
    <p:extLst>
      <p:ext uri="{BB962C8B-B14F-4D97-AF65-F5344CB8AC3E}">
        <p14:creationId xmlns:p14="http://schemas.microsoft.com/office/powerpoint/2010/main" val="1832103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addition to merging the datasets, I also created additional features that measure volatility. These include rolling standard deviations for production and freight data as well as changes in supply chain pressure. These features help identify periods of instability rather than only looking at raw values. Next week, I will use Power BI to visualize the dataset and explore potential correlations between these indicators.</a:t>
            </a:r>
          </a:p>
        </p:txBody>
      </p:sp>
    </p:spTree>
    <p:extLst>
      <p:ext uri="{BB962C8B-B14F-4D97-AF65-F5344CB8AC3E}">
        <p14:creationId xmlns:p14="http://schemas.microsoft.com/office/powerpoint/2010/main" val="1062078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LEFT:</a:t>
            </a:r>
          </a:p>
          <a:p>
            <a:pPr marL="139700" indent="0">
              <a:buNone/>
            </a:pPr>
            <a:r>
              <a:rPr lang="en-US" dirty="0"/>
              <a:t>Graph 1 (Trend)</a:t>
            </a:r>
          </a:p>
          <a:p>
            <a:pPr marL="139700" indent="0">
              <a:buNone/>
            </a:pPr>
            <a:endParaRPr lang="en-US" dirty="0"/>
          </a:p>
          <a:p>
            <a:pPr marL="139700" indent="0">
              <a:buNone/>
            </a:pPr>
            <a:r>
              <a:rPr lang="en-US" dirty="0"/>
              <a:t>RIGHT:</a:t>
            </a:r>
          </a:p>
          <a:p>
            <a:pPr marL="139700" indent="0">
              <a:buNone/>
            </a:pPr>
            <a:r>
              <a:rPr lang="en-US" dirty="0"/>
              <a:t>Graph 2 (Volatility)</a:t>
            </a:r>
          </a:p>
          <a:p>
            <a:pPr marL="139700" indent="0">
              <a:buNone/>
            </a:pPr>
            <a:endParaRPr lang="en-US" dirty="0"/>
          </a:p>
          <a:p>
            <a:pPr marL="139700" indent="0">
              <a:buNone/>
            </a:pPr>
            <a:r>
              <a:rPr lang="en-US" dirty="0"/>
              <a:t>BOTTOM:</a:t>
            </a:r>
          </a:p>
          <a:p>
            <a:pPr marL="139700" indent="0">
              <a:buNone/>
            </a:pPr>
            <a:r>
              <a:rPr lang="en-US" dirty="0"/>
              <a:t>Graph 3 (Scatter / Correlation)</a:t>
            </a:r>
          </a:p>
          <a:p>
            <a:pPr marL="139700" indent="0">
              <a:buNone/>
            </a:pPr>
            <a:endParaRPr lang="en-US" dirty="0"/>
          </a:p>
          <a:p>
            <a:pPr marL="139700" indent="0">
              <a:buNone/>
            </a:pPr>
            <a:r>
              <a:rPr lang="en-US" dirty="0"/>
              <a:t>These visualizations show that while aerospace production is increasing, supply chain pressure is also rising. The volatility graph reveals that this pressure is unstable, with frequent fluctuations. The correlation analysis confirms that higher production levels are associated with increased strain on the supply chain. </a:t>
            </a:r>
            <a:r>
              <a:rPr lang="en-US"/>
              <a:t>This supports the need for predictive analytics to anticipate disruptions rather than reacting to them.</a:t>
            </a:r>
            <a:endParaRPr lang="en-US" dirty="0"/>
          </a:p>
          <a:p>
            <a:endParaRPr lang="en-US" dirty="0"/>
          </a:p>
        </p:txBody>
      </p:sp>
    </p:spTree>
    <p:extLst>
      <p:ext uri="{BB962C8B-B14F-4D97-AF65-F5344CB8AC3E}">
        <p14:creationId xmlns:p14="http://schemas.microsoft.com/office/powerpoint/2010/main" val="104220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66881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182385" y="0"/>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3" name="Picture 2">
            <a:extLst>
              <a:ext uri="{FF2B5EF4-FFF2-40B4-BE49-F238E27FC236}">
                <a16:creationId xmlns:a16="http://schemas.microsoft.com/office/drawing/2014/main" id="{134F7D0F-FE46-C945-87EB-0FD3D356521A}"/>
              </a:ext>
            </a:extLst>
          </p:cNvPr>
          <p:cNvPicPr>
            <a:picLocks noChangeAspect="1"/>
          </p:cNvPicPr>
          <p:nvPr userDrawn="1"/>
        </p:nvPicPr>
        <p:blipFill>
          <a:blip r:embed="rId2"/>
          <a:stretch>
            <a:fillRect/>
          </a:stretch>
        </p:blipFill>
        <p:spPr>
          <a:xfrm>
            <a:off x="0" y="4243277"/>
            <a:ext cx="914400"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8954610"/>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sz="3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sz="2800"/>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Picture 21">
            <a:extLst>
              <a:ext uri="{FF2B5EF4-FFF2-40B4-BE49-F238E27FC236}">
                <a16:creationId xmlns:a16="http://schemas.microsoft.com/office/drawing/2014/main" id="{C8F7DB91-7595-E64B-B07D-A30575B2CB4C}"/>
              </a:ext>
            </a:extLst>
          </p:cNvPr>
          <p:cNvPicPr>
            <a:picLocks noChangeAspect="1"/>
          </p:cNvPicPr>
          <p:nvPr userDrawn="1"/>
        </p:nvPicPr>
        <p:blipFill>
          <a:blip r:embed="rId2"/>
          <a:stretch>
            <a:fillRect/>
          </a:stretch>
        </p:blipFill>
        <p:spPr>
          <a:xfrm>
            <a:off x="0" y="4253392"/>
            <a:ext cx="914400" cy="914400"/>
          </a:xfrm>
          <a:prstGeom prst="rect">
            <a:avLst/>
          </a:prstGeom>
        </p:spPr>
      </p:pic>
    </p:spTree>
    <p:extLst>
      <p:ext uri="{BB962C8B-B14F-4D97-AF65-F5344CB8AC3E}">
        <p14:creationId xmlns:p14="http://schemas.microsoft.com/office/powerpoint/2010/main" val="3086644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a:ea typeface="Roboto Condensed"/>
                <a:cs typeface="Roboto Condensed"/>
                <a:sym typeface="Roboto Condensed"/>
              </a:defRPr>
            </a:lvl1pPr>
            <a:lvl2pPr lvl="1" algn="r">
              <a:buNone/>
              <a:defRPr sz="1200" b="1">
                <a:solidFill>
                  <a:srgbClr val="FFFFFF"/>
                </a:solidFill>
                <a:latin typeface="Roboto Condensed"/>
                <a:ea typeface="Roboto Condensed"/>
                <a:cs typeface="Roboto Condensed"/>
                <a:sym typeface="Roboto Condensed"/>
              </a:defRPr>
            </a:lvl2pPr>
            <a:lvl3pPr lvl="2" algn="r">
              <a:buNone/>
              <a:defRPr sz="1200" b="1">
                <a:solidFill>
                  <a:srgbClr val="FFFFFF"/>
                </a:solidFill>
                <a:latin typeface="Roboto Condensed"/>
                <a:ea typeface="Roboto Condensed"/>
                <a:cs typeface="Roboto Condensed"/>
                <a:sym typeface="Roboto Condensed"/>
              </a:defRPr>
            </a:lvl3pPr>
            <a:lvl4pPr lvl="3" algn="r">
              <a:buNone/>
              <a:defRPr sz="1200" b="1">
                <a:solidFill>
                  <a:srgbClr val="FFFFFF"/>
                </a:solidFill>
                <a:latin typeface="Roboto Condensed"/>
                <a:ea typeface="Roboto Condensed"/>
                <a:cs typeface="Roboto Condensed"/>
                <a:sym typeface="Roboto Condensed"/>
              </a:defRPr>
            </a:lvl4pPr>
            <a:lvl5pPr lvl="4" algn="r">
              <a:buNone/>
              <a:defRPr sz="1200" b="1">
                <a:solidFill>
                  <a:srgbClr val="FFFFFF"/>
                </a:solidFill>
                <a:latin typeface="Roboto Condensed"/>
                <a:ea typeface="Roboto Condensed"/>
                <a:cs typeface="Roboto Condensed"/>
                <a:sym typeface="Roboto Condensed"/>
              </a:defRPr>
            </a:lvl5pPr>
            <a:lvl6pPr lvl="5" algn="r">
              <a:buNone/>
              <a:defRPr sz="1200" b="1">
                <a:solidFill>
                  <a:srgbClr val="FFFFFF"/>
                </a:solidFill>
                <a:latin typeface="Roboto Condensed"/>
                <a:ea typeface="Roboto Condensed"/>
                <a:cs typeface="Roboto Condensed"/>
                <a:sym typeface="Roboto Condensed"/>
              </a:defRPr>
            </a:lvl6pPr>
            <a:lvl7pPr lvl="6" algn="r">
              <a:buNone/>
              <a:defRPr sz="1200" b="1">
                <a:solidFill>
                  <a:srgbClr val="FFFFFF"/>
                </a:solidFill>
                <a:latin typeface="Roboto Condensed"/>
                <a:ea typeface="Roboto Condensed"/>
                <a:cs typeface="Roboto Condensed"/>
                <a:sym typeface="Roboto Condensed"/>
              </a:defRPr>
            </a:lvl7pPr>
            <a:lvl8pPr lvl="7" algn="r">
              <a:buNone/>
              <a:defRPr sz="1200" b="1">
                <a:solidFill>
                  <a:srgbClr val="FFFFFF"/>
                </a:solidFill>
                <a:latin typeface="Roboto Condensed"/>
                <a:ea typeface="Roboto Condensed"/>
                <a:cs typeface="Roboto Condensed"/>
                <a:sym typeface="Roboto Condensed"/>
              </a:defRPr>
            </a:lvl8pPr>
            <a:lvl9pPr lvl="8" algn="r">
              <a:buNone/>
              <a:defRPr sz="1200" b="1">
                <a:solidFill>
                  <a:srgbClr val="FFFFFF"/>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pic>
        <p:nvPicPr>
          <p:cNvPr id="5" name="Picture 4">
            <a:extLst>
              <a:ext uri="{FF2B5EF4-FFF2-40B4-BE49-F238E27FC236}">
                <a16:creationId xmlns:a16="http://schemas.microsoft.com/office/drawing/2014/main" id="{B9B48145-9848-2F4E-A51E-1AF5F3EC5EAD}"/>
              </a:ext>
            </a:extLst>
          </p:cNvPr>
          <p:cNvPicPr>
            <a:picLocks noChangeAspect="1"/>
          </p:cNvPicPr>
          <p:nvPr userDrawn="1"/>
        </p:nvPicPr>
        <p:blipFill>
          <a:blip r:embed="rId5"/>
          <a:stretch>
            <a:fillRect/>
          </a:stretch>
        </p:blipFill>
        <p:spPr>
          <a:xfrm>
            <a:off x="0" y="4243277"/>
            <a:ext cx="914400" cy="9144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transition>
    <p:fade thruBlk="1"/>
  </p:transition>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AkQuik559/Winter-2025-CS-497-Capstone-Project-Proposal-Enhancing-Aerospace-Supply-Chain-Resilience"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55576" y="1177119"/>
            <a:ext cx="7193492" cy="930203"/>
          </a:xfrm>
          <a:prstGeom prst="rect">
            <a:avLst/>
          </a:prstGeom>
        </p:spPr>
        <p:txBody>
          <a:bodyPr spcFirstLastPara="1" wrap="square" lIns="91425" tIns="91425" rIns="91425" bIns="91425" anchor="ctr" anchorCtr="0">
            <a:noAutofit/>
          </a:bodyPr>
          <a:lstStyle/>
          <a:p>
            <a:r>
              <a:rPr lang="en-US" sz="2400" dirty="0"/>
              <a:t>Enhancing Aerospace Supply Chain Resilience: A Predictive Analytics Approach to Mitigate Lead-Time Volatility</a:t>
            </a:r>
          </a:p>
        </p:txBody>
      </p:sp>
      <p:sp>
        <p:nvSpPr>
          <p:cNvPr id="4" name="AutoShape 8" descr="Image result for city university of seattle logo we are all about the finis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Google Shape;214;p13"/>
          <p:cNvSpPr txBox="1">
            <a:spLocks/>
          </p:cNvSpPr>
          <p:nvPr/>
        </p:nvSpPr>
        <p:spPr>
          <a:xfrm>
            <a:off x="12422" y="2107322"/>
            <a:ext cx="6404993" cy="183536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76200" indent="0" algn="ctr">
              <a:buNone/>
            </a:pPr>
            <a:r>
              <a:rPr lang="en-US" sz="1600" dirty="0">
                <a:solidFill>
                  <a:schemeClr val="bg1"/>
                </a:solidFill>
              </a:rPr>
              <a:t>Parmbir Singh</a:t>
            </a:r>
            <a:endParaRPr lang="en-US" dirty="0">
              <a:solidFill>
                <a:schemeClr val="bg1"/>
              </a:solidFill>
            </a:endParaRPr>
          </a:p>
          <a:p>
            <a:pPr marL="76200" indent="0" algn="ctr">
              <a:buNone/>
            </a:pPr>
            <a:r>
              <a:rPr lang="en-US" sz="1600" dirty="0">
                <a:solidFill>
                  <a:schemeClr val="bg1"/>
                </a:solidFill>
              </a:rPr>
              <a:t>Course 497 Technology/Computing Capstone</a:t>
            </a:r>
          </a:p>
          <a:p>
            <a:pPr marL="76200" indent="0" algn="ctr">
              <a:buNone/>
            </a:pPr>
            <a:r>
              <a:rPr lang="en-US" sz="1600" dirty="0">
                <a:solidFill>
                  <a:schemeClr val="bg1"/>
                </a:solidFill>
              </a:rPr>
              <a:t>2026</a:t>
            </a:r>
            <a:br>
              <a:rPr lang="en-US" sz="1600" dirty="0">
                <a:solidFill>
                  <a:schemeClr val="bg1"/>
                </a:solidFill>
              </a:rPr>
            </a:br>
            <a:r>
              <a:rPr lang="en-US" sz="1600" dirty="0">
                <a:solidFill>
                  <a:schemeClr val="bg1"/>
                </a:solidFill>
              </a:rPr>
              <a:t>BS in Computer Science</a:t>
            </a:r>
            <a:endParaRPr lang="en-US" dirty="0">
              <a:solidFill>
                <a:schemeClr val="bg1"/>
              </a:solidFill>
            </a:endParaRPr>
          </a:p>
          <a:p>
            <a:pPr marL="76200" indent="0" algn="ctr">
              <a:buNone/>
            </a:pPr>
            <a:r>
              <a:rPr lang="en-US" sz="1500" dirty="0">
                <a:solidFill>
                  <a:schemeClr val="bg1"/>
                </a:solidFill>
              </a:rPr>
              <a:t>School of Technology &amp; Computing (STC)</a:t>
            </a:r>
          </a:p>
        </p:txBody>
      </p:sp>
      <p:pic>
        <p:nvPicPr>
          <p:cNvPr id="15" name="Picture 14"/>
          <p:cNvPicPr>
            <a:picLocks noChangeAspect="1"/>
          </p:cNvPicPr>
          <p:nvPr/>
        </p:nvPicPr>
        <p:blipFill>
          <a:blip r:embed="rId3"/>
          <a:srcRect/>
          <a:stretch/>
        </p:blipFill>
        <p:spPr>
          <a:xfrm>
            <a:off x="6918941" y="1297222"/>
            <a:ext cx="1911792" cy="2549056"/>
          </a:xfrm>
          <a:prstGeom prst="rect">
            <a:avLst/>
          </a:prstGeom>
          <a:ln>
            <a:solidFill>
              <a:schemeClr val="accent1"/>
            </a:solidFill>
          </a:ln>
        </p:spPr>
      </p:pic>
      <p:sp>
        <p:nvSpPr>
          <p:cNvPr id="7" name="Slide Number Placeholder 5">
            <a:extLst>
              <a:ext uri="{FF2B5EF4-FFF2-40B4-BE49-F238E27FC236}">
                <a16:creationId xmlns:a16="http://schemas.microsoft.com/office/drawing/2014/main" id="{E59D2A3D-D013-0613-E2C5-08902924B9C2}"/>
              </a:ext>
            </a:extLst>
          </p:cNvPr>
          <p:cNvSpPr txBox="1">
            <a:spLocks/>
          </p:cNvSpPr>
          <p:nvPr/>
        </p:nvSpPr>
        <p:spPr>
          <a:xfrm>
            <a:off x="7612138" y="4278947"/>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a:t>
            </a:fld>
            <a:endParaRPr lang="en"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Text Placeholder 2"/>
          <p:cNvSpPr>
            <a:spLocks noGrp="1"/>
          </p:cNvSpPr>
          <p:nvPr>
            <p:ph type="body" idx="1"/>
          </p:nvPr>
        </p:nvSpPr>
        <p:spPr>
          <a:xfrm>
            <a:off x="814275" y="1327349"/>
            <a:ext cx="3836747" cy="3554750"/>
          </a:xfrm>
        </p:spPr>
        <p:txBody>
          <a:bodyPr/>
          <a:lstStyle/>
          <a:p>
            <a:r>
              <a:rPr lang="en-US" dirty="0"/>
              <a:t>Problem Statement</a:t>
            </a:r>
          </a:p>
          <a:p>
            <a:r>
              <a:rPr lang="en-US" dirty="0"/>
              <a:t>Motivation</a:t>
            </a:r>
          </a:p>
          <a:p>
            <a:r>
              <a:rPr lang="en-US" dirty="0"/>
              <a:t>Background</a:t>
            </a:r>
          </a:p>
          <a:p>
            <a:r>
              <a:rPr lang="en-US" dirty="0"/>
              <a:t>Related Work</a:t>
            </a:r>
          </a:p>
          <a:p>
            <a:r>
              <a:rPr lang="en-US" dirty="0"/>
              <a:t>Approach</a:t>
            </a:r>
          </a:p>
          <a:p>
            <a:r>
              <a:rPr lang="en-US" dirty="0"/>
              <a:t>Design</a:t>
            </a:r>
          </a:p>
          <a:p>
            <a:r>
              <a:rPr lang="en-US" dirty="0"/>
              <a:t>Implementation</a:t>
            </a:r>
          </a:p>
        </p:txBody>
      </p:sp>
      <p:sp>
        <p:nvSpPr>
          <p:cNvPr id="5" name="Text Placeholder 2"/>
          <p:cNvSpPr txBox="1">
            <a:spLocks/>
          </p:cNvSpPr>
          <p:nvPr/>
        </p:nvSpPr>
        <p:spPr>
          <a:xfrm>
            <a:off x="4651022" y="1327349"/>
            <a:ext cx="3836747" cy="3554751"/>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8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r>
              <a:rPr lang="en-US" dirty="0"/>
              <a:t>Data Collection</a:t>
            </a:r>
          </a:p>
          <a:p>
            <a:r>
              <a:rPr lang="en-US" dirty="0"/>
              <a:t>Data Analysis</a:t>
            </a:r>
          </a:p>
          <a:p>
            <a:r>
              <a:rPr lang="en-US" dirty="0"/>
              <a:t>Findings</a:t>
            </a:r>
          </a:p>
          <a:p>
            <a:r>
              <a:rPr lang="en-US" dirty="0"/>
              <a:t>Conclusions</a:t>
            </a:r>
          </a:p>
          <a:p>
            <a:r>
              <a:rPr lang="en-US" dirty="0"/>
              <a:t>Future Work</a:t>
            </a:r>
          </a:p>
          <a:p>
            <a:r>
              <a:rPr lang="en-US" dirty="0"/>
              <a:t>Key References</a:t>
            </a:r>
          </a:p>
          <a:p>
            <a:r>
              <a:rPr lang="en-US" dirty="0"/>
              <a:t>Q&amp;A</a:t>
            </a:r>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2425647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6ACA6-337F-8A33-DFA1-73370A58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31A40-AE77-5F43-1CA5-E043629DDF91}"/>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Abstract</a:t>
            </a:r>
          </a:p>
        </p:txBody>
      </p:sp>
      <p:sp>
        <p:nvSpPr>
          <p:cNvPr id="5" name="Slide Number Placeholder 4" hidden="1">
            <a:extLst>
              <a:ext uri="{FF2B5EF4-FFF2-40B4-BE49-F238E27FC236}">
                <a16:creationId xmlns:a16="http://schemas.microsoft.com/office/drawing/2014/main" id="{6510A733-0BA2-9069-41BE-D59FC3EB75C7}"/>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3</a:t>
            </a:fld>
            <a:endParaRPr lang="en"/>
          </a:p>
        </p:txBody>
      </p:sp>
      <p:sp>
        <p:nvSpPr>
          <p:cNvPr id="3" name="Text Placeholder 2">
            <a:extLst>
              <a:ext uri="{FF2B5EF4-FFF2-40B4-BE49-F238E27FC236}">
                <a16:creationId xmlns:a16="http://schemas.microsoft.com/office/drawing/2014/main" id="{600A0362-567C-A958-9107-2737094F0BE3}"/>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Aerospace supply chains face lead-time volatility due to reactive planning</a:t>
            </a:r>
          </a:p>
          <a:p>
            <a:pPr marL="457200" indent="-381000">
              <a:lnSpc>
                <a:spcPct val="90000"/>
              </a:lnSpc>
              <a:spcBef>
                <a:spcPts val="600"/>
              </a:spcBef>
              <a:buClr>
                <a:srgbClr val="C7D3E6"/>
              </a:buClr>
              <a:buSzPts val="2400"/>
              <a:buFont typeface="Roboto Condensed Light"/>
              <a:buChar char="▰"/>
            </a:pPr>
            <a:r>
              <a:rPr lang="en-US" sz="2400" dirty="0"/>
              <a:t>Limited multi-tier supplier visibility causes production instability</a:t>
            </a:r>
          </a:p>
          <a:p>
            <a:pPr marL="457200" indent="-381000">
              <a:lnSpc>
                <a:spcPct val="90000"/>
              </a:lnSpc>
              <a:spcBef>
                <a:spcPts val="600"/>
              </a:spcBef>
              <a:buClr>
                <a:srgbClr val="C7D3E6"/>
              </a:buClr>
              <a:buSzPts val="2400"/>
              <a:buFont typeface="Roboto Condensed Light"/>
              <a:buChar char="▰"/>
            </a:pPr>
            <a:r>
              <a:rPr lang="en-US" sz="2400" dirty="0"/>
              <a:t>Literature shows outdated models are insufficient</a:t>
            </a:r>
          </a:p>
          <a:p>
            <a:pPr marL="457200" indent="-381000">
              <a:lnSpc>
                <a:spcPct val="90000"/>
              </a:lnSpc>
              <a:spcBef>
                <a:spcPts val="600"/>
              </a:spcBef>
              <a:buClr>
                <a:srgbClr val="C7D3E6"/>
              </a:buClr>
              <a:buSzPts val="2400"/>
              <a:buFont typeface="Roboto Condensed Light"/>
              <a:buChar char="▰"/>
            </a:pPr>
            <a:r>
              <a:rPr lang="en-US" sz="2400" dirty="0"/>
              <a:t>Proposed solution: predictive analytics framework</a:t>
            </a:r>
          </a:p>
          <a:p>
            <a:pPr marL="457200" indent="-381000">
              <a:lnSpc>
                <a:spcPct val="90000"/>
              </a:lnSpc>
              <a:spcBef>
                <a:spcPts val="600"/>
              </a:spcBef>
              <a:buClr>
                <a:srgbClr val="C7D3E6"/>
              </a:buClr>
              <a:buSzPts val="2400"/>
              <a:buFont typeface="Roboto Condensed Light"/>
              <a:buChar char="▰"/>
            </a:pPr>
            <a:r>
              <a:rPr lang="en-US" sz="2400" dirty="0"/>
              <a:t>Goal: shift from reactive response to proactive forecasting</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BF2AFDBB-D50B-13A0-0E4C-06BEAA578DBD}"/>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3</a:t>
            </a:fld>
            <a:endParaRPr lang="en" dirty="0">
              <a:solidFill>
                <a:schemeClr val="bg1"/>
              </a:solidFill>
            </a:endParaRPr>
          </a:p>
        </p:txBody>
      </p:sp>
    </p:spTree>
    <p:extLst>
      <p:ext uri="{BB962C8B-B14F-4D97-AF65-F5344CB8AC3E}">
        <p14:creationId xmlns:p14="http://schemas.microsoft.com/office/powerpoint/2010/main" val="115124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FA319-30F6-2FC3-A934-A12EE5B70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14DE5-914D-F92F-D6BD-10B5D849E723}"/>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Keywords</a:t>
            </a:r>
          </a:p>
        </p:txBody>
      </p:sp>
      <p:sp>
        <p:nvSpPr>
          <p:cNvPr id="5" name="Slide Number Placeholder 4" hidden="1">
            <a:extLst>
              <a:ext uri="{FF2B5EF4-FFF2-40B4-BE49-F238E27FC236}">
                <a16:creationId xmlns:a16="http://schemas.microsoft.com/office/drawing/2014/main" id="{82F0C6AA-A1AB-8C1B-4764-9AE5596C90EE}"/>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4</a:t>
            </a:fld>
            <a:endParaRPr lang="en"/>
          </a:p>
        </p:txBody>
      </p:sp>
      <p:sp>
        <p:nvSpPr>
          <p:cNvPr id="3" name="Text Placeholder 2">
            <a:extLst>
              <a:ext uri="{FF2B5EF4-FFF2-40B4-BE49-F238E27FC236}">
                <a16:creationId xmlns:a16="http://schemas.microsoft.com/office/drawing/2014/main" id="{2243703C-126D-0219-E215-C5E93FA301DE}"/>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 </a:t>
            </a:r>
            <a:r>
              <a:rPr lang="en-US" sz="2400" dirty="0"/>
              <a:t>Aerospace Supply Chain</a:t>
            </a:r>
          </a:p>
          <a:p>
            <a:pPr marL="457200" indent="-381000">
              <a:lnSpc>
                <a:spcPct val="90000"/>
              </a:lnSpc>
              <a:spcBef>
                <a:spcPts val="600"/>
              </a:spcBef>
              <a:buClr>
                <a:srgbClr val="C7D3E6"/>
              </a:buClr>
              <a:buSzPts val="2400"/>
              <a:buFont typeface="Roboto Condensed Light"/>
              <a:buChar char="▰"/>
            </a:pPr>
            <a:r>
              <a:rPr lang="en-US" sz="2400" dirty="0"/>
              <a:t>Predictive Analytics</a:t>
            </a:r>
          </a:p>
          <a:p>
            <a:pPr marL="457200" indent="-381000">
              <a:lnSpc>
                <a:spcPct val="90000"/>
              </a:lnSpc>
              <a:spcBef>
                <a:spcPts val="600"/>
              </a:spcBef>
              <a:buClr>
                <a:srgbClr val="C7D3E6"/>
              </a:buClr>
              <a:buSzPts val="2400"/>
              <a:buFont typeface="Roboto Condensed Light"/>
              <a:buChar char="▰"/>
            </a:pPr>
            <a:r>
              <a:rPr lang="en-US" sz="2400" dirty="0"/>
              <a:t>Lead-Time Volatility</a:t>
            </a:r>
          </a:p>
          <a:p>
            <a:pPr marL="457200" indent="-381000">
              <a:lnSpc>
                <a:spcPct val="90000"/>
              </a:lnSpc>
              <a:spcBef>
                <a:spcPts val="600"/>
              </a:spcBef>
              <a:buClr>
                <a:srgbClr val="C7D3E6"/>
              </a:buClr>
              <a:buSzPts val="2400"/>
              <a:buFont typeface="Roboto Condensed Light"/>
              <a:buChar char="▰"/>
            </a:pPr>
            <a:r>
              <a:rPr lang="en-US" sz="2400" dirty="0"/>
              <a:t>Machine Learning</a:t>
            </a:r>
          </a:p>
          <a:p>
            <a:pPr marL="457200" indent="-381000">
              <a:lnSpc>
                <a:spcPct val="90000"/>
              </a:lnSpc>
              <a:spcBef>
                <a:spcPts val="600"/>
              </a:spcBef>
              <a:buClr>
                <a:srgbClr val="C7D3E6"/>
              </a:buClr>
              <a:buSzPts val="2400"/>
              <a:buFont typeface="Roboto Condensed Light"/>
              <a:buChar char="▰"/>
            </a:pPr>
            <a:r>
              <a:rPr lang="en-US" sz="2400" dirty="0"/>
              <a:t>Supply Chain Risk</a:t>
            </a:r>
          </a:p>
          <a:p>
            <a:pPr marL="457200" indent="-381000">
              <a:lnSpc>
                <a:spcPct val="90000"/>
              </a:lnSpc>
              <a:spcBef>
                <a:spcPts val="600"/>
              </a:spcBef>
              <a:buClr>
                <a:srgbClr val="C7D3E6"/>
              </a:buClr>
              <a:buSzPts val="2400"/>
              <a:buFont typeface="Roboto Condensed Light"/>
              <a:buChar char="▰"/>
            </a:pPr>
            <a:r>
              <a:rPr lang="en-US" sz="2400" dirty="0"/>
              <a:t>Digital Supply Chain</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C1393271-0418-12DD-F27D-D5D08BC9FDB5}"/>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4</a:t>
            </a:fld>
            <a:endParaRPr lang="en" dirty="0">
              <a:solidFill>
                <a:schemeClr val="bg1"/>
              </a:solidFill>
            </a:endParaRPr>
          </a:p>
        </p:txBody>
      </p:sp>
    </p:spTree>
    <p:extLst>
      <p:ext uri="{BB962C8B-B14F-4D97-AF65-F5344CB8AC3E}">
        <p14:creationId xmlns:p14="http://schemas.microsoft.com/office/powerpoint/2010/main" val="48031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4275" y="392575"/>
            <a:ext cx="5258400" cy="766200"/>
          </a:xfrm>
        </p:spPr>
        <p:txBody>
          <a:bodyPr wrap="square" anchor="ctr">
            <a:normAutofit/>
          </a:bodyPr>
          <a:lstStyle/>
          <a:p>
            <a:pPr>
              <a:lnSpc>
                <a:spcPct val="90000"/>
              </a:lnSpc>
            </a:pPr>
            <a:r>
              <a:rPr lang="en-US" sz="4100"/>
              <a:t>Problem Statement</a:t>
            </a:r>
            <a:endParaRPr lang="en-US" sz="4100" dirty="0"/>
          </a:p>
        </p:txBody>
      </p:sp>
      <p:sp>
        <p:nvSpPr>
          <p:cNvPr id="5" name="Slide Number Placeholder 4" hidden="1"/>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5</a:t>
            </a:fld>
            <a:endParaRPr lang="en"/>
          </a:p>
        </p:txBody>
      </p:sp>
      <p:sp>
        <p:nvSpPr>
          <p:cNvPr id="3" name="Slide Number Placeholder 5">
            <a:extLst>
              <a:ext uri="{FF2B5EF4-FFF2-40B4-BE49-F238E27FC236}">
                <a16:creationId xmlns:a16="http://schemas.microsoft.com/office/drawing/2014/main" id="{62D5494C-4B48-A1DB-C0A8-D119F47D3E95}"/>
              </a:ext>
            </a:extLst>
          </p:cNvPr>
          <p:cNvSpPr txBox="1">
            <a:spLocks/>
          </p:cNvSpPr>
          <p:nvPr/>
        </p:nvSpPr>
        <p:spPr>
          <a:xfrm>
            <a:off x="7600415" y="4261361"/>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Aft>
                <a:spcPts val="600"/>
              </a:spcAft>
            </a:pPr>
            <a:fld id="{00000000-1234-1234-1234-123412341234}" type="slidenum">
              <a:rPr lang="en" smtClean="0">
                <a:solidFill>
                  <a:schemeClr val="bg1"/>
                </a:solidFill>
              </a:rPr>
              <a:pPr algn="r">
                <a:spcAft>
                  <a:spcPts val="600"/>
                </a:spcAft>
              </a:pPr>
              <a:t>5</a:t>
            </a:fld>
            <a:endParaRPr lang="en">
              <a:solidFill>
                <a:schemeClr val="bg1"/>
              </a:solidFill>
            </a:endParaRPr>
          </a:p>
        </p:txBody>
      </p:sp>
      <p:sp>
        <p:nvSpPr>
          <p:cNvPr id="4" name="Slide Number Placeholder 5">
            <a:extLst>
              <a:ext uri="{FF2B5EF4-FFF2-40B4-BE49-F238E27FC236}">
                <a16:creationId xmlns:a16="http://schemas.microsoft.com/office/drawing/2014/main" id="{FBCBDF3E-05E2-6DEA-CE78-FDD2C2433A5E}"/>
              </a:ext>
            </a:extLst>
          </p:cNvPr>
          <p:cNvSpPr txBox="1">
            <a:spLocks/>
          </p:cNvSpPr>
          <p:nvPr/>
        </p:nvSpPr>
        <p:spPr>
          <a:xfrm>
            <a:off x="814275" y="999000"/>
            <a:ext cx="4930269" cy="31455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spcBef>
                <a:spcPts val="600"/>
              </a:spcBef>
              <a:buClr>
                <a:srgbClr val="C7D3E6"/>
              </a:buClr>
              <a:buSzPts val="2400"/>
              <a:buFont typeface="Roboto Condensed Light"/>
              <a:buChar char="▰"/>
            </a:pPr>
            <a:r>
              <a:rPr lang="en-US" sz="2800" dirty="0"/>
              <a:t>Aerospace supply chains rely on reactive planning and historical averages.</a:t>
            </a:r>
          </a:p>
          <a:p>
            <a:pPr marL="457200" indent="-381000">
              <a:spcBef>
                <a:spcPts val="600"/>
              </a:spcBef>
              <a:buClr>
                <a:srgbClr val="C7D3E6"/>
              </a:buClr>
              <a:buSzPts val="2400"/>
              <a:buFont typeface="Roboto Condensed Light"/>
              <a:buChar char="▰"/>
            </a:pPr>
            <a:r>
              <a:rPr lang="en-US" sz="2800" dirty="0"/>
              <a:t>Limited supplier visibility causes lead-time volatility.</a:t>
            </a:r>
          </a:p>
          <a:p>
            <a:pPr marL="457200" indent="-381000">
              <a:spcBef>
                <a:spcPts val="600"/>
              </a:spcBef>
              <a:buClr>
                <a:srgbClr val="C7D3E6"/>
              </a:buClr>
              <a:buSzPts val="2400"/>
              <a:buFont typeface="Roboto Condensed Light"/>
              <a:buChar char="▰"/>
            </a:pPr>
            <a:r>
              <a:rPr lang="en-US" sz="2800" dirty="0"/>
              <a:t>Delays in minor components stall entire aircraft production.</a:t>
            </a:r>
            <a:endParaRPr lang="en-US" sz="2800" b="0" i="0" u="none" strike="noStrike" cap="none" dirty="0">
              <a:solidFill>
                <a:srgbClr val="263248"/>
              </a:solidFill>
              <a:latin typeface="Roboto Condensed Light"/>
              <a:ea typeface="Roboto Condensed Light"/>
              <a:cs typeface="Roboto Condensed Light"/>
              <a:sym typeface="Roboto Condensed Light"/>
            </a:endParaRPr>
          </a:p>
        </p:txBody>
      </p:sp>
    </p:spTree>
    <p:extLst>
      <p:ext uri="{BB962C8B-B14F-4D97-AF65-F5344CB8AC3E}">
        <p14:creationId xmlns:p14="http://schemas.microsoft.com/office/powerpoint/2010/main" val="3443371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2EF49-0748-2307-855F-9A5E8CA50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40532-02D0-0958-B837-69FC65C75F18}"/>
              </a:ext>
            </a:extLst>
          </p:cNvPr>
          <p:cNvSpPr>
            <a:spLocks noGrp="1"/>
          </p:cNvSpPr>
          <p:nvPr>
            <p:ph type="title"/>
          </p:nvPr>
        </p:nvSpPr>
        <p:spPr>
          <a:xfrm>
            <a:off x="814275" y="392575"/>
            <a:ext cx="5492400" cy="766200"/>
          </a:xfrm>
        </p:spPr>
        <p:txBody>
          <a:bodyPr spcFirstLastPara="1" wrap="square" lIns="91425" tIns="91425" rIns="91425" bIns="91425" anchor="ctr" anchorCtr="0">
            <a:normAutofit/>
          </a:bodyPr>
          <a:lstStyle/>
          <a:p>
            <a:r>
              <a:rPr lang="en-US" b="1" i="0" u="none" strike="noStrike" cap="none">
                <a:latin typeface="Roboto Condensed"/>
                <a:ea typeface="Roboto Condensed"/>
                <a:cs typeface="Roboto Condensed"/>
                <a:sym typeface="Roboto Condensed"/>
              </a:rPr>
              <a:t>Motivation</a:t>
            </a:r>
          </a:p>
        </p:txBody>
      </p:sp>
      <p:sp>
        <p:nvSpPr>
          <p:cNvPr id="8" name="Text Placeholder 2">
            <a:extLst>
              <a:ext uri="{FF2B5EF4-FFF2-40B4-BE49-F238E27FC236}">
                <a16:creationId xmlns:a16="http://schemas.microsoft.com/office/drawing/2014/main" id="{7D12005D-D578-B267-F08D-A3E46F0D19A5}"/>
              </a:ext>
            </a:extLst>
          </p:cNvPr>
          <p:cNvSpPr txBox="1">
            <a:spLocks/>
          </p:cNvSpPr>
          <p:nvPr/>
        </p:nvSpPr>
        <p:spPr>
          <a:xfrm>
            <a:off x="814275" y="1262873"/>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Critical Need: Minor component delays can stall the production of an entire aircraft</a:t>
            </a:r>
          </a:p>
          <a:p>
            <a:pPr marL="457200" indent="-381000">
              <a:lnSpc>
                <a:spcPct val="90000"/>
              </a:lnSpc>
              <a:spcBef>
                <a:spcPts val="600"/>
              </a:spcBef>
              <a:buClr>
                <a:srgbClr val="C7D3E6"/>
              </a:buClr>
              <a:buSzPts val="2400"/>
              <a:buFont typeface="Roboto Condensed Light"/>
              <a:buChar char="▰"/>
            </a:pPr>
            <a:endParaRPr lang="en-US" sz="2200" b="0" i="0" u="none" strike="noStrike" cap="none" dirty="0">
              <a:solidFill>
                <a:srgbClr val="263248"/>
              </a:solidFill>
              <a:latin typeface="Roboto Condensed Light"/>
              <a:ea typeface="Roboto Condensed Light"/>
              <a:cs typeface="Roboto Condensed Light"/>
              <a:sym typeface="Roboto Condensed Light"/>
            </a:endParaRPr>
          </a:p>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Academic Driver: Linear supply chain models are obsolete in today's global volatility</a:t>
            </a:r>
          </a:p>
          <a:p>
            <a:pPr marL="457200" indent="-381000">
              <a:lnSpc>
                <a:spcPct val="90000"/>
              </a:lnSpc>
              <a:spcBef>
                <a:spcPts val="600"/>
              </a:spcBef>
              <a:buClr>
                <a:srgbClr val="C7D3E6"/>
              </a:buClr>
              <a:buSzPts val="2400"/>
              <a:buFont typeface="Roboto Condensed Light"/>
              <a:buChar char="▰"/>
            </a:pPr>
            <a:endParaRPr lang="en-US" sz="2200" b="0" i="0" u="none" strike="noStrike" cap="none" dirty="0">
              <a:solidFill>
                <a:srgbClr val="263248"/>
              </a:solidFill>
              <a:latin typeface="Roboto Condensed Light"/>
              <a:ea typeface="Roboto Condensed Light"/>
              <a:cs typeface="Roboto Condensed Light"/>
              <a:sym typeface="Roboto Condensed Light"/>
            </a:endParaRPr>
          </a:p>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Business Goal: Creating a scalable framework that converts complex data into practical insights</a:t>
            </a:r>
          </a:p>
        </p:txBody>
      </p:sp>
      <p:sp>
        <p:nvSpPr>
          <p:cNvPr id="13" name="Slide Number Placeholder 3">
            <a:extLst>
              <a:ext uri="{FF2B5EF4-FFF2-40B4-BE49-F238E27FC236}">
                <a16:creationId xmlns:a16="http://schemas.microsoft.com/office/drawing/2014/main" id="{55F6407A-D521-7108-4904-576CC34F6BB7}"/>
              </a:ext>
            </a:extLst>
          </p:cNvPr>
          <p:cNvSpPr>
            <a:spLocks noGrp="1"/>
          </p:cNvSpPr>
          <p:nvPr>
            <p:ph type="sldNum" idx="12"/>
          </p:nvPr>
        </p:nvSpPr>
        <p:spPr>
          <a:xfrm>
            <a:off x="7618000" y="4636500"/>
            <a:ext cx="1487400" cy="315600"/>
          </a:xfrm>
        </p:spPr>
        <p:txBody>
          <a:bodyPr/>
          <a:lstStyle/>
          <a:p>
            <a:pPr marL="0" lvl="0" indent="0" algn="r" rtl="0">
              <a:spcBef>
                <a:spcPts val="0"/>
              </a:spcBef>
              <a:spcAft>
                <a:spcPts val="600"/>
              </a:spcAft>
              <a:buNone/>
            </a:pPr>
            <a:fld id="{00000000-1234-1234-1234-123412341234}" type="slidenum">
              <a:rPr lang="en"/>
              <a:pPr marL="0" lvl="0" indent="0" algn="r" rtl="0">
                <a:spcBef>
                  <a:spcPts val="0"/>
                </a:spcBef>
                <a:spcAft>
                  <a:spcPts val="600"/>
                </a:spcAft>
                <a:buNone/>
              </a:pPr>
              <a:t>6</a:t>
            </a:fld>
            <a:endParaRPr lang="en"/>
          </a:p>
        </p:txBody>
      </p:sp>
      <p:sp>
        <p:nvSpPr>
          <p:cNvPr id="5" name="Slide Number Placeholder 4" hidden="1">
            <a:extLst>
              <a:ext uri="{FF2B5EF4-FFF2-40B4-BE49-F238E27FC236}">
                <a16:creationId xmlns:a16="http://schemas.microsoft.com/office/drawing/2014/main" id="{753EC42F-2FEF-BF0F-1011-0CE87C5F202D}"/>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6</a:t>
            </a:fld>
            <a:endParaRPr lang="en"/>
          </a:p>
        </p:txBody>
      </p:sp>
    </p:spTree>
    <p:extLst>
      <p:ext uri="{BB962C8B-B14F-4D97-AF65-F5344CB8AC3E}">
        <p14:creationId xmlns:p14="http://schemas.microsoft.com/office/powerpoint/2010/main" val="3037379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C3416-FAF6-AFFB-7361-7D35B7591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762EC-CE23-F3A9-D0BF-B23FA635917F}"/>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Background</a:t>
            </a:r>
          </a:p>
        </p:txBody>
      </p:sp>
      <p:sp>
        <p:nvSpPr>
          <p:cNvPr id="5" name="Slide Number Placeholder 4" hidden="1">
            <a:extLst>
              <a:ext uri="{FF2B5EF4-FFF2-40B4-BE49-F238E27FC236}">
                <a16:creationId xmlns:a16="http://schemas.microsoft.com/office/drawing/2014/main" id="{398FB18B-A3C3-E76C-B058-82597DE8E370}"/>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7</a:t>
            </a:fld>
            <a:endParaRPr lang="en"/>
          </a:p>
        </p:txBody>
      </p:sp>
      <p:sp>
        <p:nvSpPr>
          <p:cNvPr id="3" name="Text Placeholder 2">
            <a:extLst>
              <a:ext uri="{FF2B5EF4-FFF2-40B4-BE49-F238E27FC236}">
                <a16:creationId xmlns:a16="http://schemas.microsoft.com/office/drawing/2014/main" id="{8CD0DB97-3C2B-DC83-6D62-87A519310BA2}"/>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Reviewed government, industry, and professional sources</a:t>
            </a:r>
          </a:p>
          <a:p>
            <a:pPr marL="457200" indent="-381000">
              <a:lnSpc>
                <a:spcPct val="90000"/>
              </a:lnSpc>
              <a:spcBef>
                <a:spcPts val="600"/>
              </a:spcBef>
              <a:buClr>
                <a:srgbClr val="C7D3E6"/>
              </a:buClr>
              <a:buSzPts val="2400"/>
              <a:buFont typeface="Roboto Condensed Light"/>
              <a:buChar char="▰"/>
            </a:pPr>
            <a:r>
              <a:rPr lang="en-US" sz="2400" dirty="0"/>
              <a:t>Identified evidence of reactive supply chain practices</a:t>
            </a:r>
          </a:p>
          <a:p>
            <a:pPr marL="457200" indent="-381000">
              <a:lnSpc>
                <a:spcPct val="90000"/>
              </a:lnSpc>
              <a:spcBef>
                <a:spcPts val="600"/>
              </a:spcBef>
              <a:buClr>
                <a:srgbClr val="C7D3E6"/>
              </a:buClr>
              <a:buSzPts val="2400"/>
              <a:buFont typeface="Roboto Condensed Light"/>
              <a:buChar char="▰"/>
            </a:pPr>
            <a:r>
              <a:rPr lang="en-US" sz="2400" dirty="0"/>
              <a:t>Found repeated reports of supplier delays and visibility gaps</a:t>
            </a:r>
          </a:p>
          <a:p>
            <a:pPr marL="457200" indent="-381000">
              <a:lnSpc>
                <a:spcPct val="90000"/>
              </a:lnSpc>
              <a:spcBef>
                <a:spcPts val="600"/>
              </a:spcBef>
              <a:buClr>
                <a:srgbClr val="C7D3E6"/>
              </a:buClr>
              <a:buSzPts val="2400"/>
              <a:buFont typeface="Roboto Condensed Light"/>
              <a:buChar char="▰"/>
            </a:pPr>
            <a:r>
              <a:rPr lang="en-US" sz="2400" dirty="0"/>
              <a:t>Identified emerging use of predictive analytics in aerospace</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1A658873-3CC8-C4E4-534A-B74BDFD301C2}"/>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7</a:t>
            </a:fld>
            <a:endParaRPr lang="en" dirty="0">
              <a:solidFill>
                <a:schemeClr val="bg1"/>
              </a:solidFill>
            </a:endParaRPr>
          </a:p>
        </p:txBody>
      </p:sp>
    </p:spTree>
    <p:extLst>
      <p:ext uri="{BB962C8B-B14F-4D97-AF65-F5344CB8AC3E}">
        <p14:creationId xmlns:p14="http://schemas.microsoft.com/office/powerpoint/2010/main" val="23800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7E971-EEB4-8634-9C57-CB9F6688B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C4BA4-DC2F-3AE2-F6EA-0D6AC0C4D0B2}"/>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Background - Evidence</a:t>
            </a:r>
          </a:p>
        </p:txBody>
      </p:sp>
      <p:sp>
        <p:nvSpPr>
          <p:cNvPr id="5" name="Slide Number Placeholder 4" hidden="1">
            <a:extLst>
              <a:ext uri="{FF2B5EF4-FFF2-40B4-BE49-F238E27FC236}">
                <a16:creationId xmlns:a16="http://schemas.microsoft.com/office/drawing/2014/main" id="{75582989-BC33-0A49-7EF4-DDF960C22EE1}"/>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8</a:t>
            </a:fld>
            <a:endParaRPr lang="en"/>
          </a:p>
        </p:txBody>
      </p:sp>
      <p:sp>
        <p:nvSpPr>
          <p:cNvPr id="3" name="Text Placeholder 2">
            <a:extLst>
              <a:ext uri="{FF2B5EF4-FFF2-40B4-BE49-F238E27FC236}">
                <a16:creationId xmlns:a16="http://schemas.microsoft.com/office/drawing/2014/main" id="{FB438649-0031-8221-3512-976787D2775C}"/>
              </a:ext>
            </a:extLst>
          </p:cNvPr>
          <p:cNvSpPr txBox="1">
            <a:spLocks/>
          </p:cNvSpPr>
          <p:nvPr/>
        </p:nvSpPr>
        <p:spPr>
          <a:xfrm>
            <a:off x="814275" y="999000"/>
            <a:ext cx="5806658"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GAO: limited multi-tier supplier visibility</a:t>
            </a:r>
          </a:p>
          <a:p>
            <a:pPr marL="457200" indent="-381000">
              <a:lnSpc>
                <a:spcPct val="90000"/>
              </a:lnSpc>
              <a:spcBef>
                <a:spcPts val="600"/>
              </a:spcBef>
              <a:buClr>
                <a:srgbClr val="C7D3E6"/>
              </a:buClr>
              <a:buSzPts val="2400"/>
              <a:buFont typeface="Roboto Condensed Light"/>
              <a:buChar char="▰"/>
            </a:pPr>
            <a:r>
              <a:rPr lang="en-US" sz="2400" dirty="0"/>
              <a:t>Leeham: Boeing &amp; Airbus production slowdowns</a:t>
            </a:r>
          </a:p>
          <a:p>
            <a:pPr marL="457200" indent="-381000">
              <a:lnSpc>
                <a:spcPct val="90000"/>
              </a:lnSpc>
              <a:spcBef>
                <a:spcPts val="600"/>
              </a:spcBef>
              <a:buClr>
                <a:srgbClr val="C7D3E6"/>
              </a:buClr>
              <a:buSzPts val="2400"/>
              <a:buFont typeface="Roboto Condensed Light"/>
              <a:buChar char="▰"/>
            </a:pPr>
            <a:r>
              <a:rPr lang="en-US" sz="2400" dirty="0"/>
              <a:t>Reuters: supplier capacity affecting output goals</a:t>
            </a:r>
          </a:p>
          <a:p>
            <a:pPr marL="457200" indent="-381000">
              <a:lnSpc>
                <a:spcPct val="90000"/>
              </a:lnSpc>
              <a:spcBef>
                <a:spcPts val="600"/>
              </a:spcBef>
              <a:buClr>
                <a:srgbClr val="C7D3E6"/>
              </a:buClr>
              <a:buSzPts val="2400"/>
              <a:buFont typeface="Roboto Condensed Light"/>
              <a:buChar char="▰"/>
            </a:pPr>
            <a:r>
              <a:rPr lang="en-US" sz="2400" dirty="0"/>
              <a:t>Industry moving toward predictive tools (Trax, EY)</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B8968175-69ED-B8DC-262C-7AC1BA8C6898}"/>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8</a:t>
            </a:fld>
            <a:endParaRPr lang="en" dirty="0">
              <a:solidFill>
                <a:schemeClr val="bg1"/>
              </a:solidFill>
            </a:endParaRPr>
          </a:p>
        </p:txBody>
      </p:sp>
    </p:spTree>
    <p:extLst>
      <p:ext uri="{BB962C8B-B14F-4D97-AF65-F5344CB8AC3E}">
        <p14:creationId xmlns:p14="http://schemas.microsoft.com/office/powerpoint/2010/main" val="312340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602C-5CEA-7637-0EEE-836DD7E09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A7DAA-DA2A-4DAF-4CF0-973410C0BDB7}"/>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Related Work</a:t>
            </a:r>
          </a:p>
        </p:txBody>
      </p:sp>
      <p:sp>
        <p:nvSpPr>
          <p:cNvPr id="5" name="Slide Number Placeholder 4" hidden="1">
            <a:extLst>
              <a:ext uri="{FF2B5EF4-FFF2-40B4-BE49-F238E27FC236}">
                <a16:creationId xmlns:a16="http://schemas.microsoft.com/office/drawing/2014/main" id="{A7F5389C-A57C-2651-CA1E-59A1588A40EA}"/>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9</a:t>
            </a:fld>
            <a:endParaRPr lang="en"/>
          </a:p>
        </p:txBody>
      </p:sp>
      <p:sp>
        <p:nvSpPr>
          <p:cNvPr id="3" name="Text Placeholder 2">
            <a:extLst>
              <a:ext uri="{FF2B5EF4-FFF2-40B4-BE49-F238E27FC236}">
                <a16:creationId xmlns:a16="http://schemas.microsoft.com/office/drawing/2014/main" id="{42189FA2-D837-DFCE-D004-BAB7250FCADA}"/>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latin typeface="+mj-lt"/>
              </a:rPr>
              <a:t>Outdated reactive aerospace supply chains</a:t>
            </a:r>
          </a:p>
          <a:p>
            <a:pPr marL="457200" indent="-381000">
              <a:lnSpc>
                <a:spcPct val="90000"/>
              </a:lnSpc>
              <a:spcBef>
                <a:spcPts val="600"/>
              </a:spcBef>
              <a:buClr>
                <a:srgbClr val="C7D3E6"/>
              </a:buClr>
              <a:buSzPts val="2400"/>
              <a:buFont typeface="Roboto Condensed Light"/>
              <a:buChar char="▰"/>
            </a:pPr>
            <a:r>
              <a:rPr lang="en-US" sz="2400" dirty="0">
                <a:latin typeface="+mj-lt"/>
              </a:rPr>
              <a:t>Lead-time volatility and production delays</a:t>
            </a:r>
          </a:p>
          <a:p>
            <a:pPr marL="457200" indent="-381000">
              <a:lnSpc>
                <a:spcPct val="90000"/>
              </a:lnSpc>
              <a:spcBef>
                <a:spcPts val="600"/>
              </a:spcBef>
              <a:buClr>
                <a:srgbClr val="C7D3E6"/>
              </a:buClr>
              <a:buSzPts val="2400"/>
              <a:buFont typeface="Roboto Condensed Light"/>
              <a:buChar char="▰"/>
            </a:pPr>
            <a:r>
              <a:rPr lang="en-US" sz="2400" dirty="0">
                <a:latin typeface="+mj-lt"/>
              </a:rPr>
              <a:t>Supplier capacity constraints across tiers</a:t>
            </a:r>
          </a:p>
          <a:p>
            <a:pPr marL="457200" indent="-381000">
              <a:lnSpc>
                <a:spcPct val="90000"/>
              </a:lnSpc>
              <a:spcBef>
                <a:spcPts val="600"/>
              </a:spcBef>
              <a:buClr>
                <a:srgbClr val="C7D3E6"/>
              </a:buClr>
              <a:buSzPts val="2400"/>
              <a:buFont typeface="Roboto Condensed Light"/>
              <a:buChar char="▰"/>
            </a:pPr>
            <a:r>
              <a:rPr lang="en-US" sz="2400" dirty="0">
                <a:latin typeface="+mj-lt"/>
              </a:rPr>
              <a:t>Predictive analytics as emerging solution</a:t>
            </a:r>
            <a:endParaRPr lang="en-US" sz="2400" b="0" i="0" u="none" strike="noStrike" cap="none" dirty="0">
              <a:solidFill>
                <a:srgbClr val="263248"/>
              </a:solidFill>
              <a:latin typeface="+mj-l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8086FC16-40EA-83A1-77A8-97B881189444}"/>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9</a:t>
            </a:fld>
            <a:endParaRPr lang="en" dirty="0">
              <a:solidFill>
                <a:schemeClr val="bg1"/>
              </a:solidFill>
            </a:endParaRPr>
          </a:p>
        </p:txBody>
      </p:sp>
    </p:spTree>
    <p:extLst>
      <p:ext uri="{BB962C8B-B14F-4D97-AF65-F5344CB8AC3E}">
        <p14:creationId xmlns:p14="http://schemas.microsoft.com/office/powerpoint/2010/main" val="2140754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25174-9352-D5ED-C0D1-1836F1817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1A7A3-F6D0-7DB4-F90F-0118CB956B40}"/>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100" dirty="0"/>
              <a:t>Related Word As-Is State</a:t>
            </a:r>
          </a:p>
        </p:txBody>
      </p:sp>
      <p:sp>
        <p:nvSpPr>
          <p:cNvPr id="5" name="Slide Number Placeholder 4" hidden="1">
            <a:extLst>
              <a:ext uri="{FF2B5EF4-FFF2-40B4-BE49-F238E27FC236}">
                <a16:creationId xmlns:a16="http://schemas.microsoft.com/office/drawing/2014/main" id="{720FE0AB-7B49-90A9-8D83-E5509E87069B}"/>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10</a:t>
            </a:fld>
            <a:endParaRPr lang="en"/>
          </a:p>
        </p:txBody>
      </p:sp>
      <p:sp>
        <p:nvSpPr>
          <p:cNvPr id="3" name="Text Placeholder 2">
            <a:extLst>
              <a:ext uri="{FF2B5EF4-FFF2-40B4-BE49-F238E27FC236}">
                <a16:creationId xmlns:a16="http://schemas.microsoft.com/office/drawing/2014/main" id="{90AB206C-BFA5-F967-7734-81C7538596F5}"/>
              </a:ext>
            </a:extLst>
          </p:cNvPr>
          <p:cNvSpPr txBox="1">
            <a:spLocks/>
          </p:cNvSpPr>
          <p:nvPr/>
        </p:nvSpPr>
        <p:spPr>
          <a:xfrm>
            <a:off x="814275" y="999000"/>
            <a:ext cx="5848992"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 </a:t>
            </a:r>
            <a:r>
              <a:rPr lang="en-US" sz="2400" dirty="0"/>
              <a:t>Reactive problem solving instead of proactive planning</a:t>
            </a:r>
          </a:p>
          <a:p>
            <a:pPr marL="457200" indent="-381000">
              <a:lnSpc>
                <a:spcPct val="90000"/>
              </a:lnSpc>
              <a:spcBef>
                <a:spcPts val="600"/>
              </a:spcBef>
              <a:buClr>
                <a:srgbClr val="C7D3E6"/>
              </a:buClr>
              <a:buSzPts val="2400"/>
              <a:buFont typeface="Roboto Condensed Light"/>
              <a:buChar char="▰"/>
            </a:pPr>
            <a:r>
              <a:rPr lang="en-US" sz="2400" dirty="0"/>
              <a:t>Component shortages affecting schedules</a:t>
            </a:r>
          </a:p>
          <a:p>
            <a:pPr marL="457200" indent="-381000">
              <a:lnSpc>
                <a:spcPct val="90000"/>
              </a:lnSpc>
              <a:spcBef>
                <a:spcPts val="600"/>
              </a:spcBef>
              <a:buClr>
                <a:srgbClr val="C7D3E6"/>
              </a:buClr>
              <a:buSzPts val="2400"/>
              <a:buFont typeface="Roboto Condensed Light"/>
              <a:buChar char="▰"/>
            </a:pPr>
            <a:r>
              <a:rPr lang="en-US" sz="2400" dirty="0"/>
              <a:t>Production ramp-ups delayed repeatedly</a:t>
            </a:r>
          </a:p>
          <a:p>
            <a:pPr marL="457200" indent="-381000">
              <a:lnSpc>
                <a:spcPct val="90000"/>
              </a:lnSpc>
              <a:spcBef>
                <a:spcPts val="600"/>
              </a:spcBef>
              <a:buClr>
                <a:srgbClr val="C7D3E6"/>
              </a:buClr>
              <a:buSzPts val="2400"/>
              <a:buFont typeface="Roboto Condensed Light"/>
              <a:buChar char="▰"/>
            </a:pPr>
            <a:r>
              <a:rPr lang="en-US" sz="2400" dirty="0"/>
              <a:t>Airlines adjusting delivery expectations</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E5A83C98-5723-5762-C8A1-E0F3DDBCC1D7}"/>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10</a:t>
            </a:fld>
            <a:endParaRPr lang="en" dirty="0">
              <a:solidFill>
                <a:schemeClr val="bg1"/>
              </a:solidFill>
            </a:endParaRPr>
          </a:p>
        </p:txBody>
      </p:sp>
    </p:spTree>
    <p:extLst>
      <p:ext uri="{BB962C8B-B14F-4D97-AF65-F5344CB8AC3E}">
        <p14:creationId xmlns:p14="http://schemas.microsoft.com/office/powerpoint/2010/main" val="499447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DE335-7828-5588-1781-66D1D9966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D410F-FE94-E8F7-5D70-BAF229B337F9}"/>
              </a:ext>
            </a:extLst>
          </p:cNvPr>
          <p:cNvSpPr>
            <a:spLocks noGrp="1"/>
          </p:cNvSpPr>
          <p:nvPr>
            <p:ph type="ctrTitle"/>
          </p:nvPr>
        </p:nvSpPr>
        <p:spPr>
          <a:xfrm>
            <a:off x="814275" y="392575"/>
            <a:ext cx="5493392" cy="766200"/>
          </a:xfrm>
        </p:spPr>
        <p:txBody>
          <a:bodyPr wrap="square" anchor="ctr">
            <a:normAutofit fontScale="90000"/>
          </a:bodyPr>
          <a:lstStyle/>
          <a:p>
            <a:pPr>
              <a:lnSpc>
                <a:spcPct val="90000"/>
              </a:lnSpc>
            </a:pPr>
            <a:r>
              <a:rPr lang="en-US" sz="4100" dirty="0"/>
              <a:t>Related Work – To-Be State</a:t>
            </a:r>
          </a:p>
        </p:txBody>
      </p:sp>
      <p:sp>
        <p:nvSpPr>
          <p:cNvPr id="5" name="Slide Number Placeholder 4" hidden="1">
            <a:extLst>
              <a:ext uri="{FF2B5EF4-FFF2-40B4-BE49-F238E27FC236}">
                <a16:creationId xmlns:a16="http://schemas.microsoft.com/office/drawing/2014/main" id="{3574EB96-0E7F-A33F-64B3-1CDB0D6C0818}"/>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11</a:t>
            </a:fld>
            <a:endParaRPr lang="en"/>
          </a:p>
        </p:txBody>
      </p:sp>
      <p:sp>
        <p:nvSpPr>
          <p:cNvPr id="3" name="Text Placeholder 2">
            <a:extLst>
              <a:ext uri="{FF2B5EF4-FFF2-40B4-BE49-F238E27FC236}">
                <a16:creationId xmlns:a16="http://schemas.microsoft.com/office/drawing/2014/main" id="{CE391C65-2952-E15E-B98C-A8201CEF6F37}"/>
              </a:ext>
            </a:extLst>
          </p:cNvPr>
          <p:cNvSpPr txBox="1">
            <a:spLocks/>
          </p:cNvSpPr>
          <p:nvPr/>
        </p:nvSpPr>
        <p:spPr>
          <a:xfrm>
            <a:off x="746542" y="999000"/>
            <a:ext cx="5984458"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 </a:t>
            </a:r>
            <a:r>
              <a:rPr lang="en-US" sz="2400" dirty="0"/>
              <a:t>Machine learning for supplier and inventory forecasting</a:t>
            </a:r>
          </a:p>
          <a:p>
            <a:pPr marL="457200" indent="-381000">
              <a:lnSpc>
                <a:spcPct val="90000"/>
              </a:lnSpc>
              <a:spcBef>
                <a:spcPts val="600"/>
              </a:spcBef>
              <a:buClr>
                <a:srgbClr val="C7D3E6"/>
              </a:buClr>
              <a:buSzPts val="2400"/>
              <a:buFont typeface="Roboto Condensed Light"/>
              <a:buChar char="▰"/>
            </a:pPr>
            <a:r>
              <a:rPr lang="en-US" sz="2400" dirty="0"/>
              <a:t>Digital twins for production scenario modeling</a:t>
            </a:r>
          </a:p>
          <a:p>
            <a:pPr marL="457200" indent="-381000">
              <a:lnSpc>
                <a:spcPct val="90000"/>
              </a:lnSpc>
              <a:spcBef>
                <a:spcPts val="600"/>
              </a:spcBef>
              <a:buClr>
                <a:srgbClr val="C7D3E6"/>
              </a:buClr>
              <a:buSzPts val="2400"/>
              <a:buFont typeface="Roboto Condensed Light"/>
              <a:buChar char="▰"/>
            </a:pPr>
            <a:r>
              <a:rPr lang="en-US" sz="2400" dirty="0"/>
              <a:t>Data-driven visibility across supply networks</a:t>
            </a:r>
          </a:p>
          <a:p>
            <a:pPr marL="457200" indent="-381000">
              <a:lnSpc>
                <a:spcPct val="90000"/>
              </a:lnSpc>
              <a:spcBef>
                <a:spcPts val="600"/>
              </a:spcBef>
              <a:buClr>
                <a:srgbClr val="C7D3E6"/>
              </a:buClr>
              <a:buSzPts val="2400"/>
              <a:buFont typeface="Roboto Condensed Light"/>
              <a:buChar char="▰"/>
            </a:pPr>
            <a:r>
              <a:rPr lang="en-US" sz="2400" dirty="0"/>
              <a:t>Shift from reactive to predictive decision-making</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8BAC5122-1B36-F660-60C2-02FA2D04E294}"/>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11</a:t>
            </a:fld>
            <a:endParaRPr lang="en" dirty="0">
              <a:solidFill>
                <a:schemeClr val="bg1"/>
              </a:solidFill>
            </a:endParaRPr>
          </a:p>
        </p:txBody>
      </p:sp>
    </p:spTree>
    <p:extLst>
      <p:ext uri="{BB962C8B-B14F-4D97-AF65-F5344CB8AC3E}">
        <p14:creationId xmlns:p14="http://schemas.microsoft.com/office/powerpoint/2010/main" val="2984034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D2A62-0961-B2C5-551E-322A90F1B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1A70C-CC80-139A-A654-F52B2991BAEE}"/>
              </a:ext>
            </a:extLst>
          </p:cNvPr>
          <p:cNvSpPr>
            <a:spLocks noGrp="1"/>
          </p:cNvSpPr>
          <p:nvPr>
            <p:ph type="ctrTitle"/>
          </p:nvPr>
        </p:nvSpPr>
        <p:spPr>
          <a:xfrm>
            <a:off x="814275" y="392575"/>
            <a:ext cx="5882858" cy="766200"/>
          </a:xfrm>
        </p:spPr>
        <p:txBody>
          <a:bodyPr wrap="square" anchor="ctr">
            <a:normAutofit fontScale="90000"/>
          </a:bodyPr>
          <a:lstStyle/>
          <a:p>
            <a:pPr>
              <a:lnSpc>
                <a:spcPct val="90000"/>
              </a:lnSpc>
            </a:pPr>
            <a:r>
              <a:rPr lang="en-US" sz="4100" dirty="0"/>
              <a:t>Related Work – Key Takeaway</a:t>
            </a:r>
          </a:p>
        </p:txBody>
      </p:sp>
      <p:sp>
        <p:nvSpPr>
          <p:cNvPr id="5" name="Slide Number Placeholder 4" hidden="1">
            <a:extLst>
              <a:ext uri="{FF2B5EF4-FFF2-40B4-BE49-F238E27FC236}">
                <a16:creationId xmlns:a16="http://schemas.microsoft.com/office/drawing/2014/main" id="{4A0B25B0-25D6-2D0D-CEFC-0E1E0321FF99}"/>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12</a:t>
            </a:fld>
            <a:endParaRPr lang="en"/>
          </a:p>
        </p:txBody>
      </p:sp>
      <p:sp>
        <p:nvSpPr>
          <p:cNvPr id="3" name="Text Placeholder 2">
            <a:extLst>
              <a:ext uri="{FF2B5EF4-FFF2-40B4-BE49-F238E27FC236}">
                <a16:creationId xmlns:a16="http://schemas.microsoft.com/office/drawing/2014/main" id="{BBDF1F95-6981-F490-35AB-23291B9DFD1B}"/>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Evidence shows aerospace supply chains are fragile</a:t>
            </a:r>
            <a:br>
              <a:rPr lang="en-US" sz="2400" dirty="0"/>
            </a:br>
            <a:endParaRPr lang="en-US" sz="2400" dirty="0"/>
          </a:p>
          <a:p>
            <a:pPr marL="457200" indent="-381000">
              <a:lnSpc>
                <a:spcPct val="90000"/>
              </a:lnSpc>
              <a:spcBef>
                <a:spcPts val="600"/>
              </a:spcBef>
              <a:buClr>
                <a:srgbClr val="C7D3E6"/>
              </a:buClr>
              <a:buSzPts val="2400"/>
              <a:buFont typeface="Roboto Condensed Light"/>
              <a:buChar char="▰"/>
            </a:pPr>
            <a:r>
              <a:rPr lang="en-US" sz="2400" dirty="0"/>
              <a:t>Root cause is lack of predictive visibility</a:t>
            </a:r>
            <a:br>
              <a:rPr lang="en-US" sz="2400" dirty="0"/>
            </a:br>
            <a:endParaRPr lang="en-US" sz="2400" dirty="0"/>
          </a:p>
          <a:p>
            <a:pPr marL="457200" indent="-381000">
              <a:lnSpc>
                <a:spcPct val="90000"/>
              </a:lnSpc>
              <a:spcBef>
                <a:spcPts val="600"/>
              </a:spcBef>
              <a:buClr>
                <a:srgbClr val="C7D3E6"/>
              </a:buClr>
              <a:buSzPts val="2400"/>
              <a:buFont typeface="Roboto Condensed Light"/>
              <a:buChar char="▰"/>
            </a:pPr>
            <a:r>
              <a:rPr lang="en-US" sz="2400" dirty="0"/>
              <a:t>Literature supports analytics-driven transformation</a:t>
            </a:r>
          </a:p>
        </p:txBody>
      </p:sp>
      <p:sp>
        <p:nvSpPr>
          <p:cNvPr id="4" name="Slide Number Placeholder 5">
            <a:extLst>
              <a:ext uri="{FF2B5EF4-FFF2-40B4-BE49-F238E27FC236}">
                <a16:creationId xmlns:a16="http://schemas.microsoft.com/office/drawing/2014/main" id="{1ECAFBF0-9F4C-2338-2159-365203E22595}"/>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12</a:t>
            </a:fld>
            <a:endParaRPr lang="en" dirty="0">
              <a:solidFill>
                <a:schemeClr val="bg1"/>
              </a:solidFill>
            </a:endParaRPr>
          </a:p>
        </p:txBody>
      </p:sp>
    </p:spTree>
    <p:extLst>
      <p:ext uri="{BB962C8B-B14F-4D97-AF65-F5344CB8AC3E}">
        <p14:creationId xmlns:p14="http://schemas.microsoft.com/office/powerpoint/2010/main" val="2902506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B915E-2C50-CCDD-54D2-E1EA44475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A27CB-92FD-0775-02C3-73BB148474C9}"/>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Approach Overview</a:t>
            </a:r>
          </a:p>
        </p:txBody>
      </p:sp>
      <p:sp>
        <p:nvSpPr>
          <p:cNvPr id="5" name="Slide Number Placeholder 4" hidden="1">
            <a:extLst>
              <a:ext uri="{FF2B5EF4-FFF2-40B4-BE49-F238E27FC236}">
                <a16:creationId xmlns:a16="http://schemas.microsoft.com/office/drawing/2014/main" id="{B22DEC09-5DAF-D36C-299D-9A1E4579026C}"/>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13</a:t>
            </a:fld>
            <a:endParaRPr lang="en"/>
          </a:p>
        </p:txBody>
      </p:sp>
      <p:sp>
        <p:nvSpPr>
          <p:cNvPr id="3" name="Text Placeholder 2">
            <a:extLst>
              <a:ext uri="{FF2B5EF4-FFF2-40B4-BE49-F238E27FC236}">
                <a16:creationId xmlns:a16="http://schemas.microsoft.com/office/drawing/2014/main" id="{D9D14E73-D425-7011-6D24-4BB4D42D07DF}"/>
              </a:ext>
            </a:extLst>
          </p:cNvPr>
          <p:cNvSpPr txBox="1">
            <a:spLocks/>
          </p:cNvSpPr>
          <p:nvPr/>
        </p:nvSpPr>
        <p:spPr>
          <a:xfrm>
            <a:off x="814275" y="999000"/>
            <a:ext cx="5662725" cy="31455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 </a:t>
            </a:r>
            <a:r>
              <a:rPr lang="en-US" sz="2400" dirty="0"/>
              <a:t>Develop predictive analytics framework for supplier risk detection</a:t>
            </a:r>
          </a:p>
          <a:p>
            <a:pPr marL="457200" indent="-381000">
              <a:lnSpc>
                <a:spcPct val="90000"/>
              </a:lnSpc>
              <a:spcBef>
                <a:spcPts val="600"/>
              </a:spcBef>
              <a:buClr>
                <a:srgbClr val="C7D3E6"/>
              </a:buClr>
              <a:buSzPts val="2400"/>
              <a:buFont typeface="Roboto Condensed Light"/>
              <a:buChar char="▰"/>
            </a:pPr>
            <a:r>
              <a:rPr lang="en-US" sz="2400" dirty="0"/>
              <a:t>Use historical lead-time data to identify volatility patterns</a:t>
            </a:r>
          </a:p>
          <a:p>
            <a:pPr marL="457200" indent="-381000">
              <a:lnSpc>
                <a:spcPct val="90000"/>
              </a:lnSpc>
              <a:spcBef>
                <a:spcPts val="600"/>
              </a:spcBef>
              <a:buClr>
                <a:srgbClr val="C7D3E6"/>
              </a:buClr>
              <a:buSzPts val="2400"/>
              <a:buFont typeface="Roboto Condensed Light"/>
              <a:buChar char="▰"/>
            </a:pPr>
            <a:r>
              <a:rPr lang="en-US" sz="2400" dirty="0"/>
              <a:t>Apply machine learning models for disruption forecasting</a:t>
            </a:r>
          </a:p>
          <a:p>
            <a:pPr marL="457200" indent="-381000">
              <a:lnSpc>
                <a:spcPct val="90000"/>
              </a:lnSpc>
              <a:spcBef>
                <a:spcPts val="600"/>
              </a:spcBef>
              <a:buClr>
                <a:srgbClr val="C7D3E6"/>
              </a:buClr>
              <a:buSzPts val="2400"/>
              <a:buFont typeface="Roboto Condensed Light"/>
              <a:buChar char="▰"/>
            </a:pPr>
            <a:r>
              <a:rPr lang="en-US" sz="2400" dirty="0"/>
              <a:t>Generate supplier risk scores to support planning decisions</a:t>
            </a:r>
          </a:p>
          <a:p>
            <a:pPr marL="457200" indent="-381000">
              <a:lnSpc>
                <a:spcPct val="90000"/>
              </a:lnSpc>
              <a:spcBef>
                <a:spcPts val="600"/>
              </a:spcBef>
              <a:buClr>
                <a:srgbClr val="C7D3E6"/>
              </a:buClr>
              <a:buSzPts val="2400"/>
              <a:buFont typeface="Roboto Condensed Light"/>
              <a:buChar char="▰"/>
            </a:pPr>
            <a:r>
              <a:rPr lang="en-US" sz="2400" dirty="0"/>
              <a:t>Shift from reactive mitigation to proactive forecasting</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CEBAD5DF-6220-2A9B-BF51-84A4C8BE5805}"/>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13</a:t>
            </a:fld>
            <a:endParaRPr lang="en" dirty="0">
              <a:solidFill>
                <a:schemeClr val="bg1"/>
              </a:solidFill>
            </a:endParaRPr>
          </a:p>
        </p:txBody>
      </p:sp>
    </p:spTree>
    <p:extLst>
      <p:ext uri="{BB962C8B-B14F-4D97-AF65-F5344CB8AC3E}">
        <p14:creationId xmlns:p14="http://schemas.microsoft.com/office/powerpoint/2010/main" val="252816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5013-CECB-A902-7B8B-014D9FFFB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9531D-8107-38FB-7F88-20A64E9DDC35}"/>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System Design</a:t>
            </a:r>
          </a:p>
        </p:txBody>
      </p:sp>
      <p:sp>
        <p:nvSpPr>
          <p:cNvPr id="5" name="Slide Number Placeholder 4" hidden="1">
            <a:extLst>
              <a:ext uri="{FF2B5EF4-FFF2-40B4-BE49-F238E27FC236}">
                <a16:creationId xmlns:a16="http://schemas.microsoft.com/office/drawing/2014/main" id="{8172E217-68B1-0B4E-BCE5-6A6C43A2CDBA}"/>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14</a:t>
            </a:fld>
            <a:endParaRPr lang="en"/>
          </a:p>
        </p:txBody>
      </p:sp>
      <p:sp>
        <p:nvSpPr>
          <p:cNvPr id="4" name="Slide Number Placeholder 5">
            <a:extLst>
              <a:ext uri="{FF2B5EF4-FFF2-40B4-BE49-F238E27FC236}">
                <a16:creationId xmlns:a16="http://schemas.microsoft.com/office/drawing/2014/main" id="{1FB997D0-6745-3072-4326-EDC9F39F47CA}"/>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14</a:t>
            </a:fld>
            <a:endParaRPr lang="en" dirty="0">
              <a:solidFill>
                <a:schemeClr val="bg1"/>
              </a:solidFill>
            </a:endParaRPr>
          </a:p>
        </p:txBody>
      </p:sp>
      <p:sp>
        <p:nvSpPr>
          <p:cNvPr id="6" name="TextBox 5">
            <a:extLst>
              <a:ext uri="{FF2B5EF4-FFF2-40B4-BE49-F238E27FC236}">
                <a16:creationId xmlns:a16="http://schemas.microsoft.com/office/drawing/2014/main" id="{5E1702C1-AB29-D96C-08E3-D540357B689F}"/>
              </a:ext>
            </a:extLst>
          </p:cNvPr>
          <p:cNvSpPr txBox="1"/>
          <p:nvPr/>
        </p:nvSpPr>
        <p:spPr>
          <a:xfrm>
            <a:off x="814275" y="1105194"/>
            <a:ext cx="4576712" cy="2933111"/>
          </a:xfrm>
          <a:prstGeom prst="rect">
            <a:avLst/>
          </a:prstGeom>
          <a:noFill/>
        </p:spPr>
        <p:txBody>
          <a:bodyPr wrap="square">
            <a:spAutoFit/>
          </a:bodyPr>
          <a:lstStyle/>
          <a:p>
            <a:pPr marL="76200">
              <a:lnSpc>
                <a:spcPct val="90000"/>
              </a:lnSpc>
              <a:spcBef>
                <a:spcPts val="600"/>
              </a:spcBef>
              <a:buClr>
                <a:srgbClr val="C7D3E6"/>
              </a:buClr>
              <a:buSzPts val="2400"/>
            </a:pPr>
            <a:r>
              <a:rPr lang="en-US" sz="1200" b="1" dirty="0"/>
              <a:t>Data Ingestion</a:t>
            </a:r>
          </a:p>
          <a:p>
            <a:pPr marL="457200" indent="-381000">
              <a:lnSpc>
                <a:spcPct val="90000"/>
              </a:lnSpc>
              <a:spcBef>
                <a:spcPts val="600"/>
              </a:spcBef>
              <a:buClr>
                <a:srgbClr val="C7D3E6"/>
              </a:buClr>
              <a:buSzPts val="2400"/>
              <a:buFont typeface="Roboto Condensed Light"/>
              <a:buChar char="▰"/>
            </a:pPr>
            <a:r>
              <a:rPr lang="en-US" sz="1200" dirty="0"/>
              <a:t>Supplier delivery history</a:t>
            </a:r>
          </a:p>
          <a:p>
            <a:pPr marL="457200" indent="-381000">
              <a:lnSpc>
                <a:spcPct val="90000"/>
              </a:lnSpc>
              <a:spcBef>
                <a:spcPts val="600"/>
              </a:spcBef>
              <a:buClr>
                <a:srgbClr val="C7D3E6"/>
              </a:buClr>
              <a:buSzPts val="2400"/>
              <a:buFont typeface="Roboto Condensed Light"/>
              <a:buChar char="▰"/>
            </a:pPr>
            <a:r>
              <a:rPr lang="en-US" sz="1200" dirty="0"/>
              <a:t>Lead-time performance data</a:t>
            </a:r>
          </a:p>
          <a:p>
            <a:pPr marL="76200">
              <a:lnSpc>
                <a:spcPct val="90000"/>
              </a:lnSpc>
              <a:spcBef>
                <a:spcPts val="600"/>
              </a:spcBef>
              <a:buClr>
                <a:srgbClr val="C7D3E6"/>
              </a:buClr>
              <a:buSzPts val="2400"/>
            </a:pPr>
            <a:r>
              <a:rPr lang="en-US" sz="1200" b="1" dirty="0"/>
              <a:t>Data Processing</a:t>
            </a:r>
          </a:p>
          <a:p>
            <a:pPr marL="457200" indent="-381000">
              <a:lnSpc>
                <a:spcPct val="90000"/>
              </a:lnSpc>
              <a:spcBef>
                <a:spcPts val="600"/>
              </a:spcBef>
              <a:buClr>
                <a:srgbClr val="C7D3E6"/>
              </a:buClr>
              <a:buSzPts val="2400"/>
              <a:buFont typeface="Roboto Condensed Light"/>
              <a:buChar char="▰"/>
            </a:pPr>
            <a:r>
              <a:rPr lang="en-US" sz="1200" dirty="0"/>
              <a:t>Cleaning &amp; normalization</a:t>
            </a:r>
          </a:p>
          <a:p>
            <a:pPr marL="457200" indent="-381000">
              <a:lnSpc>
                <a:spcPct val="90000"/>
              </a:lnSpc>
              <a:spcBef>
                <a:spcPts val="600"/>
              </a:spcBef>
              <a:buClr>
                <a:srgbClr val="C7D3E6"/>
              </a:buClr>
              <a:buSzPts val="2400"/>
              <a:buFont typeface="Roboto Condensed Light"/>
              <a:buChar char="▰"/>
            </a:pPr>
            <a:r>
              <a:rPr lang="en-US" sz="1200" dirty="0"/>
              <a:t>Feature engineering</a:t>
            </a:r>
          </a:p>
          <a:p>
            <a:pPr marL="76200">
              <a:lnSpc>
                <a:spcPct val="90000"/>
              </a:lnSpc>
              <a:spcBef>
                <a:spcPts val="600"/>
              </a:spcBef>
              <a:buClr>
                <a:srgbClr val="C7D3E6"/>
              </a:buClr>
              <a:buSzPts val="2400"/>
            </a:pPr>
            <a:r>
              <a:rPr lang="en-US" sz="1200" b="1" dirty="0"/>
              <a:t>Predictive Modeling</a:t>
            </a:r>
          </a:p>
          <a:p>
            <a:pPr marL="457200" indent="-381000">
              <a:lnSpc>
                <a:spcPct val="90000"/>
              </a:lnSpc>
              <a:spcBef>
                <a:spcPts val="600"/>
              </a:spcBef>
              <a:buClr>
                <a:srgbClr val="C7D3E6"/>
              </a:buClr>
              <a:buSzPts val="2400"/>
              <a:buFont typeface="Roboto Condensed Light"/>
              <a:buChar char="▰"/>
            </a:pPr>
            <a:r>
              <a:rPr lang="en-US" sz="1200" dirty="0"/>
              <a:t>Baseline statistical models</a:t>
            </a:r>
          </a:p>
          <a:p>
            <a:pPr marL="457200" indent="-381000">
              <a:lnSpc>
                <a:spcPct val="90000"/>
              </a:lnSpc>
              <a:spcBef>
                <a:spcPts val="600"/>
              </a:spcBef>
              <a:buClr>
                <a:srgbClr val="C7D3E6"/>
              </a:buClr>
              <a:buSzPts val="2400"/>
              <a:buFont typeface="Roboto Condensed Light"/>
              <a:buChar char="▰"/>
            </a:pPr>
            <a:r>
              <a:rPr lang="en-US" sz="1200" dirty="0"/>
              <a:t>Machine learning forecasting</a:t>
            </a:r>
          </a:p>
          <a:p>
            <a:pPr marL="76200">
              <a:lnSpc>
                <a:spcPct val="90000"/>
              </a:lnSpc>
              <a:spcBef>
                <a:spcPts val="600"/>
              </a:spcBef>
              <a:buClr>
                <a:srgbClr val="C7D3E6"/>
              </a:buClr>
              <a:buSzPts val="2400"/>
            </a:pPr>
            <a:r>
              <a:rPr lang="en-US" sz="1200" b="1" dirty="0"/>
              <a:t>Risk Output</a:t>
            </a:r>
          </a:p>
          <a:p>
            <a:pPr marL="457200" indent="-381000">
              <a:lnSpc>
                <a:spcPct val="90000"/>
              </a:lnSpc>
              <a:spcBef>
                <a:spcPts val="600"/>
              </a:spcBef>
              <a:buClr>
                <a:srgbClr val="C7D3E6"/>
              </a:buClr>
              <a:buSzPts val="2400"/>
              <a:buFont typeface="Roboto Condensed Light"/>
              <a:buChar char="▰"/>
            </a:pPr>
            <a:r>
              <a:rPr lang="en-US" sz="1200" dirty="0"/>
              <a:t>Supplier risk scores</a:t>
            </a:r>
          </a:p>
          <a:p>
            <a:pPr marL="457200" indent="-381000">
              <a:lnSpc>
                <a:spcPct val="90000"/>
              </a:lnSpc>
              <a:spcBef>
                <a:spcPts val="600"/>
              </a:spcBef>
              <a:buClr>
                <a:srgbClr val="C7D3E6"/>
              </a:buClr>
              <a:buSzPts val="2400"/>
              <a:buFont typeface="Roboto Condensed Light"/>
              <a:buChar char="▰"/>
            </a:pPr>
            <a:r>
              <a:rPr lang="en-US" sz="1200" dirty="0"/>
              <a:t>Lead-time volatility indicators</a:t>
            </a:r>
            <a:endParaRPr lang="en-US" sz="1200" b="1" dirty="0"/>
          </a:p>
        </p:txBody>
      </p:sp>
    </p:spTree>
    <p:extLst>
      <p:ext uri="{BB962C8B-B14F-4D97-AF65-F5344CB8AC3E}">
        <p14:creationId xmlns:p14="http://schemas.microsoft.com/office/powerpoint/2010/main" val="4047617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0519E-ECED-E61A-90D8-012DF4AA3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E7BC0-FD65-0783-677C-297D5D625242}"/>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Implementation Plan</a:t>
            </a:r>
          </a:p>
        </p:txBody>
      </p:sp>
      <p:sp>
        <p:nvSpPr>
          <p:cNvPr id="5" name="Slide Number Placeholder 4" hidden="1">
            <a:extLst>
              <a:ext uri="{FF2B5EF4-FFF2-40B4-BE49-F238E27FC236}">
                <a16:creationId xmlns:a16="http://schemas.microsoft.com/office/drawing/2014/main" id="{F11CB65C-7AA1-62D4-E047-204E44B74AF0}"/>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15</a:t>
            </a:fld>
            <a:endParaRPr lang="en"/>
          </a:p>
        </p:txBody>
      </p:sp>
      <p:sp>
        <p:nvSpPr>
          <p:cNvPr id="4" name="Slide Number Placeholder 5">
            <a:extLst>
              <a:ext uri="{FF2B5EF4-FFF2-40B4-BE49-F238E27FC236}">
                <a16:creationId xmlns:a16="http://schemas.microsoft.com/office/drawing/2014/main" id="{0A09EE12-80D1-A6E8-1B5C-893626CC524C}"/>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15</a:t>
            </a:fld>
            <a:endParaRPr lang="en" dirty="0">
              <a:solidFill>
                <a:schemeClr val="bg1"/>
              </a:solidFill>
            </a:endParaRPr>
          </a:p>
        </p:txBody>
      </p:sp>
      <p:sp>
        <p:nvSpPr>
          <p:cNvPr id="6" name="TextBox 5">
            <a:extLst>
              <a:ext uri="{FF2B5EF4-FFF2-40B4-BE49-F238E27FC236}">
                <a16:creationId xmlns:a16="http://schemas.microsoft.com/office/drawing/2014/main" id="{ABA88D81-F674-7581-81A5-4FC5C14B8047}"/>
              </a:ext>
            </a:extLst>
          </p:cNvPr>
          <p:cNvSpPr txBox="1"/>
          <p:nvPr/>
        </p:nvSpPr>
        <p:spPr>
          <a:xfrm>
            <a:off x="814275" y="1074417"/>
            <a:ext cx="4493016" cy="2994666"/>
          </a:xfrm>
          <a:prstGeom prst="rect">
            <a:avLst/>
          </a:prstGeom>
          <a:noFill/>
        </p:spPr>
        <p:txBody>
          <a:bodyPr wrap="square">
            <a:spAutoFit/>
          </a:bodyPr>
          <a:lstStyle/>
          <a:p>
            <a:pPr marL="76200">
              <a:lnSpc>
                <a:spcPct val="90000"/>
              </a:lnSpc>
              <a:spcBef>
                <a:spcPts val="600"/>
              </a:spcBef>
              <a:buClr>
                <a:srgbClr val="C7D3E6"/>
              </a:buClr>
              <a:buSzPts val="2400"/>
            </a:pPr>
            <a:r>
              <a:rPr lang="en-US" b="1" dirty="0"/>
              <a:t>Phase 1</a:t>
            </a:r>
          </a:p>
          <a:p>
            <a:pPr marL="457200" indent="-381000">
              <a:lnSpc>
                <a:spcPct val="90000"/>
              </a:lnSpc>
              <a:spcBef>
                <a:spcPts val="600"/>
              </a:spcBef>
              <a:buClr>
                <a:srgbClr val="C7D3E6"/>
              </a:buClr>
              <a:buSzPts val="2400"/>
              <a:buFont typeface="Roboto Condensed Light"/>
              <a:buChar char="▰"/>
            </a:pPr>
            <a:r>
              <a:rPr lang="en-US" dirty="0"/>
              <a:t>Develop representative supplier dataset </a:t>
            </a:r>
          </a:p>
          <a:p>
            <a:pPr marL="457200" indent="-381000">
              <a:lnSpc>
                <a:spcPct val="90000"/>
              </a:lnSpc>
              <a:spcBef>
                <a:spcPts val="600"/>
              </a:spcBef>
              <a:buClr>
                <a:srgbClr val="C7D3E6"/>
              </a:buClr>
              <a:buSzPts val="2400"/>
              <a:buFont typeface="Roboto Condensed Light"/>
              <a:buChar char="▰"/>
            </a:pPr>
            <a:r>
              <a:rPr lang="en-US" dirty="0"/>
              <a:t>Perform exploratory data analysis (EDA)</a:t>
            </a:r>
          </a:p>
          <a:p>
            <a:pPr marL="76200">
              <a:lnSpc>
                <a:spcPct val="90000"/>
              </a:lnSpc>
              <a:spcBef>
                <a:spcPts val="600"/>
              </a:spcBef>
              <a:buClr>
                <a:srgbClr val="C7D3E6"/>
              </a:buClr>
              <a:buSzPts val="2400"/>
            </a:pPr>
            <a:r>
              <a:rPr lang="en-US" b="1" dirty="0"/>
              <a:t>Phase 2</a:t>
            </a:r>
          </a:p>
          <a:p>
            <a:pPr marL="457200" indent="-381000">
              <a:lnSpc>
                <a:spcPct val="90000"/>
              </a:lnSpc>
              <a:spcBef>
                <a:spcPts val="600"/>
              </a:spcBef>
              <a:buClr>
                <a:srgbClr val="C7D3E6"/>
              </a:buClr>
              <a:buSzPts val="2400"/>
              <a:buFont typeface="Roboto Condensed Light"/>
              <a:buChar char="▰"/>
            </a:pPr>
            <a:r>
              <a:rPr lang="en-US" dirty="0"/>
              <a:t>Build baseline forecasting models</a:t>
            </a:r>
          </a:p>
          <a:p>
            <a:pPr marL="457200" indent="-381000">
              <a:lnSpc>
                <a:spcPct val="90000"/>
              </a:lnSpc>
              <a:spcBef>
                <a:spcPts val="600"/>
              </a:spcBef>
              <a:buClr>
                <a:srgbClr val="C7D3E6"/>
              </a:buClr>
              <a:buSzPts val="2400"/>
              <a:buFont typeface="Roboto Condensed Light"/>
              <a:buChar char="▰"/>
            </a:pPr>
            <a:r>
              <a:rPr lang="en-US" dirty="0"/>
              <a:t>Evaluate predictive performance</a:t>
            </a:r>
          </a:p>
          <a:p>
            <a:pPr marL="76200">
              <a:lnSpc>
                <a:spcPct val="90000"/>
              </a:lnSpc>
              <a:spcBef>
                <a:spcPts val="600"/>
              </a:spcBef>
              <a:buClr>
                <a:srgbClr val="C7D3E6"/>
              </a:buClr>
              <a:buSzPts val="2400"/>
            </a:pPr>
            <a:r>
              <a:rPr lang="en-US" b="1" dirty="0"/>
              <a:t>Phase 3</a:t>
            </a:r>
          </a:p>
          <a:p>
            <a:pPr marL="457200" indent="-381000">
              <a:lnSpc>
                <a:spcPct val="90000"/>
              </a:lnSpc>
              <a:spcBef>
                <a:spcPts val="600"/>
              </a:spcBef>
              <a:buClr>
                <a:srgbClr val="C7D3E6"/>
              </a:buClr>
              <a:buSzPts val="2400"/>
              <a:buFont typeface="Roboto Condensed Light"/>
              <a:buChar char="▰"/>
            </a:pPr>
            <a:r>
              <a:rPr lang="en-US" dirty="0"/>
              <a:t>Implement ML models</a:t>
            </a:r>
          </a:p>
          <a:p>
            <a:pPr marL="457200" indent="-381000">
              <a:lnSpc>
                <a:spcPct val="90000"/>
              </a:lnSpc>
              <a:spcBef>
                <a:spcPts val="600"/>
              </a:spcBef>
              <a:buClr>
                <a:srgbClr val="C7D3E6"/>
              </a:buClr>
              <a:buSzPts val="2400"/>
              <a:buFont typeface="Roboto Condensed Light"/>
              <a:buChar char="▰"/>
            </a:pPr>
            <a:r>
              <a:rPr lang="en-US" dirty="0"/>
              <a:t>Compare accuracy &amp; refine</a:t>
            </a:r>
          </a:p>
          <a:p>
            <a:pPr marL="76200">
              <a:lnSpc>
                <a:spcPct val="90000"/>
              </a:lnSpc>
              <a:spcBef>
                <a:spcPts val="600"/>
              </a:spcBef>
              <a:buClr>
                <a:srgbClr val="C7D3E6"/>
              </a:buClr>
              <a:buSzPts val="2400"/>
            </a:pPr>
            <a:r>
              <a:rPr lang="en-US" b="1" dirty="0"/>
              <a:t>Phase 4</a:t>
            </a:r>
          </a:p>
          <a:p>
            <a:pPr marL="457200" indent="-381000">
              <a:lnSpc>
                <a:spcPct val="90000"/>
              </a:lnSpc>
              <a:spcBef>
                <a:spcPts val="600"/>
              </a:spcBef>
              <a:buClr>
                <a:srgbClr val="C7D3E6"/>
              </a:buClr>
              <a:buSzPts val="2400"/>
              <a:buFont typeface="Roboto Condensed Light"/>
              <a:buChar char="▰"/>
            </a:pPr>
            <a:r>
              <a:rPr lang="en-US" dirty="0"/>
              <a:t>Deploy outputs to reporting dashboard</a:t>
            </a:r>
            <a:endParaRPr lang="en-US" b="1" dirty="0"/>
          </a:p>
        </p:txBody>
      </p:sp>
    </p:spTree>
    <p:extLst>
      <p:ext uri="{BB962C8B-B14F-4D97-AF65-F5344CB8AC3E}">
        <p14:creationId xmlns:p14="http://schemas.microsoft.com/office/powerpoint/2010/main" val="130785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873C3-76C1-D8DB-4848-F8B4F3F79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0E03F-01E3-A60B-EFE8-033C66C08DAE}"/>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Technologies Used</a:t>
            </a:r>
          </a:p>
        </p:txBody>
      </p:sp>
      <p:sp>
        <p:nvSpPr>
          <p:cNvPr id="5" name="Slide Number Placeholder 4" hidden="1">
            <a:extLst>
              <a:ext uri="{FF2B5EF4-FFF2-40B4-BE49-F238E27FC236}">
                <a16:creationId xmlns:a16="http://schemas.microsoft.com/office/drawing/2014/main" id="{440E61FE-4AA7-E91C-5ABA-0ED2DC4C920A}"/>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16</a:t>
            </a:fld>
            <a:endParaRPr lang="en"/>
          </a:p>
        </p:txBody>
      </p:sp>
      <p:sp>
        <p:nvSpPr>
          <p:cNvPr id="4" name="Slide Number Placeholder 5">
            <a:extLst>
              <a:ext uri="{FF2B5EF4-FFF2-40B4-BE49-F238E27FC236}">
                <a16:creationId xmlns:a16="http://schemas.microsoft.com/office/drawing/2014/main" id="{D90F0319-8C03-862A-CDF1-B03783C4BACA}"/>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16</a:t>
            </a:fld>
            <a:endParaRPr lang="en" dirty="0">
              <a:solidFill>
                <a:schemeClr val="bg1"/>
              </a:solidFill>
            </a:endParaRPr>
          </a:p>
        </p:txBody>
      </p:sp>
      <p:sp>
        <p:nvSpPr>
          <p:cNvPr id="6" name="TextBox 5">
            <a:extLst>
              <a:ext uri="{FF2B5EF4-FFF2-40B4-BE49-F238E27FC236}">
                <a16:creationId xmlns:a16="http://schemas.microsoft.com/office/drawing/2014/main" id="{52A87F6C-39AC-9E0D-8676-706791A890A5}"/>
              </a:ext>
            </a:extLst>
          </p:cNvPr>
          <p:cNvSpPr txBox="1"/>
          <p:nvPr/>
        </p:nvSpPr>
        <p:spPr>
          <a:xfrm>
            <a:off x="814275" y="1460676"/>
            <a:ext cx="4576712" cy="2222147"/>
          </a:xfrm>
          <a:prstGeom prst="rect">
            <a:avLst/>
          </a:prstGeom>
          <a:noFill/>
        </p:spPr>
        <p:txBody>
          <a:bodyPr wrap="square">
            <a:spAutoFit/>
          </a:bodyPr>
          <a:lstStyle/>
          <a:p>
            <a:pPr marL="76200">
              <a:lnSpc>
                <a:spcPct val="90000"/>
              </a:lnSpc>
              <a:spcBef>
                <a:spcPts val="600"/>
              </a:spcBef>
              <a:buClr>
                <a:srgbClr val="C7D3E6"/>
              </a:buClr>
              <a:buSzPts val="2400"/>
            </a:pPr>
            <a:r>
              <a:rPr lang="en-US" sz="1800" b="1" dirty="0"/>
              <a:t>Primary Stack</a:t>
            </a:r>
          </a:p>
          <a:p>
            <a:pPr marL="457200" indent="-381000">
              <a:lnSpc>
                <a:spcPct val="90000"/>
              </a:lnSpc>
              <a:spcBef>
                <a:spcPts val="600"/>
              </a:spcBef>
              <a:buClr>
                <a:srgbClr val="C7D3E6"/>
              </a:buClr>
              <a:buSzPts val="2400"/>
              <a:buFont typeface="Roboto Condensed Light"/>
              <a:buChar char="▰"/>
            </a:pPr>
            <a:r>
              <a:rPr lang="en-US" sz="1800" dirty="0"/>
              <a:t>Databricks (Python notebooks)</a:t>
            </a:r>
          </a:p>
          <a:p>
            <a:pPr marL="76200">
              <a:lnSpc>
                <a:spcPct val="90000"/>
              </a:lnSpc>
              <a:spcBef>
                <a:spcPts val="600"/>
              </a:spcBef>
              <a:buClr>
                <a:srgbClr val="C7D3E6"/>
              </a:buClr>
              <a:buSzPts val="2400"/>
            </a:pPr>
            <a:endParaRPr lang="en-US" sz="1800" dirty="0"/>
          </a:p>
          <a:p>
            <a:pPr marL="457200" indent="-381000">
              <a:lnSpc>
                <a:spcPct val="90000"/>
              </a:lnSpc>
              <a:spcBef>
                <a:spcPts val="600"/>
              </a:spcBef>
              <a:buClr>
                <a:srgbClr val="C7D3E6"/>
              </a:buClr>
              <a:buSzPts val="2400"/>
              <a:buFont typeface="Roboto Condensed Light"/>
              <a:buChar char="▰"/>
            </a:pPr>
            <a:r>
              <a:rPr lang="en-US" sz="1800" dirty="0"/>
              <a:t>Power BI (dashboard &amp; visualization)</a:t>
            </a:r>
          </a:p>
          <a:p>
            <a:pPr marL="457200" indent="-381000">
              <a:lnSpc>
                <a:spcPct val="90000"/>
              </a:lnSpc>
              <a:spcBef>
                <a:spcPts val="600"/>
              </a:spcBef>
              <a:buClr>
                <a:srgbClr val="C7D3E6"/>
              </a:buClr>
              <a:buSzPts val="2400"/>
              <a:buFont typeface="Roboto Condensed Light"/>
              <a:buChar char="▰"/>
            </a:pPr>
            <a:endParaRPr lang="en-US" sz="1800" dirty="0"/>
          </a:p>
          <a:p>
            <a:pPr marL="457200" indent="-381000">
              <a:lnSpc>
                <a:spcPct val="90000"/>
              </a:lnSpc>
              <a:spcBef>
                <a:spcPts val="600"/>
              </a:spcBef>
              <a:buClr>
                <a:srgbClr val="C7D3E6"/>
              </a:buClr>
              <a:buSzPts val="2400"/>
              <a:buFont typeface="Roboto Condensed Light"/>
              <a:buChar char="▰"/>
            </a:pPr>
            <a:r>
              <a:rPr lang="en-US" sz="1800" dirty="0"/>
              <a:t>GitHub (version control &amp; documentation)</a:t>
            </a:r>
          </a:p>
        </p:txBody>
      </p:sp>
    </p:spTree>
    <p:extLst>
      <p:ext uri="{BB962C8B-B14F-4D97-AF65-F5344CB8AC3E}">
        <p14:creationId xmlns:p14="http://schemas.microsoft.com/office/powerpoint/2010/main" val="312471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7A258-AF9B-A47F-C6BD-32F213244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FE3B3-222D-F6FA-C9C2-B715060FB5C8}"/>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400" dirty="0"/>
              <a:t>Data Collection</a:t>
            </a:r>
            <a:endParaRPr lang="en-US" sz="4100" dirty="0"/>
          </a:p>
        </p:txBody>
      </p:sp>
      <p:sp>
        <p:nvSpPr>
          <p:cNvPr id="5" name="Slide Number Placeholder 4" hidden="1">
            <a:extLst>
              <a:ext uri="{FF2B5EF4-FFF2-40B4-BE49-F238E27FC236}">
                <a16:creationId xmlns:a16="http://schemas.microsoft.com/office/drawing/2014/main" id="{A29807D4-E8FC-0AF4-C5C2-0E3EACF0181D}"/>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17</a:t>
            </a:fld>
            <a:endParaRPr lang="en"/>
          </a:p>
        </p:txBody>
      </p:sp>
      <p:sp>
        <p:nvSpPr>
          <p:cNvPr id="4" name="Slide Number Placeholder 5">
            <a:extLst>
              <a:ext uri="{FF2B5EF4-FFF2-40B4-BE49-F238E27FC236}">
                <a16:creationId xmlns:a16="http://schemas.microsoft.com/office/drawing/2014/main" id="{887C0634-2F18-DD1C-EC3D-59875346EBE6}"/>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17</a:t>
            </a:fld>
            <a:endParaRPr lang="en" dirty="0">
              <a:solidFill>
                <a:schemeClr val="bg1"/>
              </a:solidFill>
            </a:endParaRPr>
          </a:p>
        </p:txBody>
      </p:sp>
      <p:sp>
        <p:nvSpPr>
          <p:cNvPr id="6" name="TextBox 5">
            <a:extLst>
              <a:ext uri="{FF2B5EF4-FFF2-40B4-BE49-F238E27FC236}">
                <a16:creationId xmlns:a16="http://schemas.microsoft.com/office/drawing/2014/main" id="{8A5C9102-CCA9-2BD0-5416-0816F7F92932}"/>
              </a:ext>
            </a:extLst>
          </p:cNvPr>
          <p:cNvSpPr txBox="1"/>
          <p:nvPr/>
        </p:nvSpPr>
        <p:spPr>
          <a:xfrm>
            <a:off x="814275" y="1134433"/>
            <a:ext cx="4576712" cy="2874633"/>
          </a:xfrm>
          <a:prstGeom prst="rect">
            <a:avLst/>
          </a:prstGeom>
          <a:noFill/>
        </p:spPr>
        <p:txBody>
          <a:bodyPr wrap="square">
            <a:spAutoFit/>
          </a:bodyPr>
          <a:lstStyle/>
          <a:p>
            <a:pPr marL="76200">
              <a:lnSpc>
                <a:spcPct val="90000"/>
              </a:lnSpc>
              <a:spcBef>
                <a:spcPts val="600"/>
              </a:spcBef>
              <a:buClr>
                <a:srgbClr val="C7D3E6"/>
              </a:buClr>
              <a:buSzPts val="2400"/>
            </a:pPr>
            <a:r>
              <a:rPr lang="en-US" sz="1800" b="1" dirty="0"/>
              <a:t>Data Source (Simulated / Structured Sample Data)</a:t>
            </a:r>
          </a:p>
          <a:p>
            <a:pPr marL="457200" lvl="1" indent="-381000">
              <a:lnSpc>
                <a:spcPct val="90000"/>
              </a:lnSpc>
              <a:spcBef>
                <a:spcPts val="600"/>
              </a:spcBef>
              <a:buClr>
                <a:srgbClr val="C7D3E6"/>
              </a:buClr>
              <a:buSzPts val="2400"/>
              <a:buFont typeface="Roboto Condensed Light"/>
              <a:buChar char="▰"/>
            </a:pPr>
            <a:r>
              <a:rPr lang="en-US" sz="1800" dirty="0"/>
              <a:t>Supplier delivery timestamps</a:t>
            </a:r>
          </a:p>
          <a:p>
            <a:pPr marL="457200" lvl="1" indent="-381000">
              <a:lnSpc>
                <a:spcPct val="90000"/>
              </a:lnSpc>
              <a:spcBef>
                <a:spcPts val="600"/>
              </a:spcBef>
              <a:buClr>
                <a:srgbClr val="C7D3E6"/>
              </a:buClr>
              <a:buSzPts val="2400"/>
              <a:buFont typeface="Roboto Condensed Light"/>
              <a:buChar char="▰"/>
            </a:pPr>
            <a:r>
              <a:rPr lang="en-US" sz="1800" dirty="0"/>
              <a:t>Historical lead-time records</a:t>
            </a:r>
          </a:p>
          <a:p>
            <a:pPr marL="457200" lvl="1" indent="-381000">
              <a:lnSpc>
                <a:spcPct val="90000"/>
              </a:lnSpc>
              <a:spcBef>
                <a:spcPts val="600"/>
              </a:spcBef>
              <a:buClr>
                <a:srgbClr val="C7D3E6"/>
              </a:buClr>
              <a:buSzPts val="2400"/>
              <a:buFont typeface="Roboto Condensed Light"/>
              <a:buChar char="▰"/>
            </a:pPr>
            <a:r>
              <a:rPr lang="en-US" sz="1800" dirty="0"/>
              <a:t>Delay frequency indicators</a:t>
            </a:r>
          </a:p>
          <a:p>
            <a:pPr marL="457200" lvl="1" indent="-381000">
              <a:lnSpc>
                <a:spcPct val="90000"/>
              </a:lnSpc>
              <a:spcBef>
                <a:spcPts val="600"/>
              </a:spcBef>
              <a:buClr>
                <a:srgbClr val="C7D3E6"/>
              </a:buClr>
              <a:buSzPts val="2400"/>
              <a:buFont typeface="Roboto Condensed Light"/>
              <a:buChar char="▰"/>
            </a:pPr>
            <a:r>
              <a:rPr lang="en-US" sz="1800" dirty="0"/>
              <a:t>Production scheduling metrics</a:t>
            </a:r>
          </a:p>
          <a:p>
            <a:pPr marL="76200">
              <a:lnSpc>
                <a:spcPct val="90000"/>
              </a:lnSpc>
              <a:spcBef>
                <a:spcPts val="600"/>
              </a:spcBef>
              <a:buClr>
                <a:srgbClr val="C7D3E6"/>
              </a:buClr>
              <a:buSzPts val="2400"/>
            </a:pPr>
            <a:r>
              <a:rPr lang="en-US" sz="1800" b="1" dirty="0"/>
              <a:t>Goal</a:t>
            </a:r>
          </a:p>
          <a:p>
            <a:pPr marL="457200" lvl="3" indent="-381000">
              <a:lnSpc>
                <a:spcPct val="90000"/>
              </a:lnSpc>
              <a:spcBef>
                <a:spcPts val="600"/>
              </a:spcBef>
              <a:buClr>
                <a:srgbClr val="C7D3E6"/>
              </a:buClr>
              <a:buSzPts val="2400"/>
              <a:buFont typeface="Roboto Condensed Light"/>
              <a:buChar char="▰"/>
            </a:pPr>
            <a:r>
              <a:rPr lang="en-US" sz="1800" dirty="0"/>
              <a:t>Capture patterns of volatility</a:t>
            </a:r>
          </a:p>
          <a:p>
            <a:pPr marL="457200" lvl="4" indent="-381000">
              <a:lnSpc>
                <a:spcPct val="90000"/>
              </a:lnSpc>
              <a:spcBef>
                <a:spcPts val="600"/>
              </a:spcBef>
              <a:buClr>
                <a:srgbClr val="C7D3E6"/>
              </a:buClr>
              <a:buSzPts val="2400"/>
              <a:buFont typeface="Roboto Condensed Light"/>
              <a:buChar char="▰"/>
            </a:pPr>
            <a:r>
              <a:rPr lang="en-US" sz="1800" dirty="0"/>
              <a:t>Identify recurring disruption signals</a:t>
            </a:r>
          </a:p>
        </p:txBody>
      </p:sp>
    </p:spTree>
    <p:extLst>
      <p:ext uri="{BB962C8B-B14F-4D97-AF65-F5344CB8AC3E}">
        <p14:creationId xmlns:p14="http://schemas.microsoft.com/office/powerpoint/2010/main" val="3606967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F53D2-A60F-E2EA-8EC7-CA4B2EA89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43134-03DC-7601-243F-90D6D15BCAB0}"/>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400" dirty="0"/>
              <a:t>Data Analysis</a:t>
            </a:r>
            <a:endParaRPr lang="en-US" sz="4100" dirty="0"/>
          </a:p>
        </p:txBody>
      </p:sp>
      <p:sp>
        <p:nvSpPr>
          <p:cNvPr id="5" name="Slide Number Placeholder 4" hidden="1">
            <a:extLst>
              <a:ext uri="{FF2B5EF4-FFF2-40B4-BE49-F238E27FC236}">
                <a16:creationId xmlns:a16="http://schemas.microsoft.com/office/drawing/2014/main" id="{C944FA2F-FF01-3FF9-E814-E62E367D2FC1}"/>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18</a:t>
            </a:fld>
            <a:endParaRPr lang="en"/>
          </a:p>
        </p:txBody>
      </p:sp>
      <p:sp>
        <p:nvSpPr>
          <p:cNvPr id="4" name="Slide Number Placeholder 5">
            <a:extLst>
              <a:ext uri="{FF2B5EF4-FFF2-40B4-BE49-F238E27FC236}">
                <a16:creationId xmlns:a16="http://schemas.microsoft.com/office/drawing/2014/main" id="{E51F2957-6F1E-5925-A8E1-DBEC1D43454B}"/>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18</a:t>
            </a:fld>
            <a:endParaRPr lang="en" dirty="0">
              <a:solidFill>
                <a:schemeClr val="bg1"/>
              </a:solidFill>
            </a:endParaRPr>
          </a:p>
        </p:txBody>
      </p:sp>
      <p:sp>
        <p:nvSpPr>
          <p:cNvPr id="6" name="TextBox 5">
            <a:extLst>
              <a:ext uri="{FF2B5EF4-FFF2-40B4-BE49-F238E27FC236}">
                <a16:creationId xmlns:a16="http://schemas.microsoft.com/office/drawing/2014/main" id="{F343F508-0FC4-DC88-B454-C270A02FF37C}"/>
              </a:ext>
            </a:extLst>
          </p:cNvPr>
          <p:cNvSpPr txBox="1"/>
          <p:nvPr/>
        </p:nvSpPr>
        <p:spPr>
          <a:xfrm>
            <a:off x="814275" y="1202144"/>
            <a:ext cx="4576712" cy="2739211"/>
          </a:xfrm>
          <a:prstGeom prst="rect">
            <a:avLst/>
          </a:prstGeom>
          <a:noFill/>
        </p:spPr>
        <p:txBody>
          <a:bodyPr wrap="square">
            <a:spAutoFit/>
          </a:bodyPr>
          <a:lstStyle/>
          <a:p>
            <a:pPr marL="457200" indent="-381000">
              <a:lnSpc>
                <a:spcPct val="90000"/>
              </a:lnSpc>
              <a:spcBef>
                <a:spcPts val="600"/>
              </a:spcBef>
              <a:buClr>
                <a:srgbClr val="C7D3E6"/>
              </a:buClr>
              <a:buSzPts val="2400"/>
              <a:buFont typeface="Roboto Condensed Light"/>
              <a:buChar char="▰"/>
            </a:pPr>
            <a:r>
              <a:rPr lang="en-US" sz="2000" dirty="0"/>
              <a:t>Time-Series Comparison of Production and Supply Pressure  </a:t>
            </a:r>
            <a:br>
              <a:rPr lang="en-US" sz="2000" dirty="0"/>
            </a:br>
            <a:endParaRPr lang="en-US" sz="2000" dirty="0"/>
          </a:p>
          <a:p>
            <a:pPr marL="457200" indent="-381000">
              <a:lnSpc>
                <a:spcPct val="90000"/>
              </a:lnSpc>
              <a:spcBef>
                <a:spcPts val="600"/>
              </a:spcBef>
              <a:buClr>
                <a:srgbClr val="C7D3E6"/>
              </a:buClr>
              <a:buSzPts val="2400"/>
              <a:buFont typeface="Roboto Condensed Light"/>
              <a:buChar char="▰"/>
            </a:pPr>
            <a:r>
              <a:rPr lang="en-US" sz="2000" dirty="0"/>
              <a:t>Dual-axis visualization highlights trend alignment  </a:t>
            </a:r>
            <a:br>
              <a:rPr lang="en-US" sz="2000" dirty="0"/>
            </a:br>
            <a:endParaRPr lang="en-US" sz="2000" dirty="0"/>
          </a:p>
          <a:p>
            <a:pPr marL="457200" indent="-381000">
              <a:lnSpc>
                <a:spcPct val="90000"/>
              </a:lnSpc>
              <a:spcBef>
                <a:spcPts val="600"/>
              </a:spcBef>
              <a:buClr>
                <a:srgbClr val="C7D3E6"/>
              </a:buClr>
              <a:buSzPts val="2400"/>
              <a:buFont typeface="Roboto Condensed Light"/>
              <a:buChar char="▰"/>
            </a:pPr>
            <a:r>
              <a:rPr lang="en-US" sz="2000" dirty="0"/>
              <a:t>Both variable increase over time indicates sustained supply chain stress</a:t>
            </a:r>
          </a:p>
        </p:txBody>
      </p:sp>
    </p:spTree>
    <p:extLst>
      <p:ext uri="{BB962C8B-B14F-4D97-AF65-F5344CB8AC3E}">
        <p14:creationId xmlns:p14="http://schemas.microsoft.com/office/powerpoint/2010/main" val="2508983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D8A7-CCEA-260C-B5F9-1CC68E113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D368D-05D3-329B-70ED-6C9F7F7262E6}"/>
              </a:ext>
            </a:extLst>
          </p:cNvPr>
          <p:cNvSpPr>
            <a:spLocks noGrp="1"/>
          </p:cNvSpPr>
          <p:nvPr>
            <p:ph type="ctrTitle"/>
          </p:nvPr>
        </p:nvSpPr>
        <p:spPr>
          <a:xfrm>
            <a:off x="814274" y="392575"/>
            <a:ext cx="5966087" cy="766200"/>
          </a:xfrm>
        </p:spPr>
        <p:txBody>
          <a:bodyPr wrap="square" anchor="ctr">
            <a:normAutofit fontScale="90000"/>
          </a:bodyPr>
          <a:lstStyle/>
          <a:p>
            <a:pPr>
              <a:lnSpc>
                <a:spcPct val="90000"/>
              </a:lnSpc>
            </a:pPr>
            <a:r>
              <a:rPr lang="en-US" sz="4100" dirty="0"/>
              <a:t>Data Preparation in Databricks</a:t>
            </a:r>
          </a:p>
        </p:txBody>
      </p:sp>
      <p:sp>
        <p:nvSpPr>
          <p:cNvPr id="5" name="Slide Number Placeholder 4" hidden="1">
            <a:extLst>
              <a:ext uri="{FF2B5EF4-FFF2-40B4-BE49-F238E27FC236}">
                <a16:creationId xmlns:a16="http://schemas.microsoft.com/office/drawing/2014/main" id="{C0071558-924D-362A-E0B3-44DD0E4772EC}"/>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19</a:t>
            </a:fld>
            <a:endParaRPr lang="en"/>
          </a:p>
        </p:txBody>
      </p:sp>
      <p:sp>
        <p:nvSpPr>
          <p:cNvPr id="4" name="Slide Number Placeholder 5">
            <a:extLst>
              <a:ext uri="{FF2B5EF4-FFF2-40B4-BE49-F238E27FC236}">
                <a16:creationId xmlns:a16="http://schemas.microsoft.com/office/drawing/2014/main" id="{F792455A-0ECF-3672-9C19-BA55E232CE6F}"/>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19</a:t>
            </a:fld>
            <a:endParaRPr lang="en" dirty="0">
              <a:solidFill>
                <a:schemeClr val="bg1"/>
              </a:solidFill>
            </a:endParaRPr>
          </a:p>
        </p:txBody>
      </p:sp>
      <p:sp>
        <p:nvSpPr>
          <p:cNvPr id="7" name="TextBox 6">
            <a:extLst>
              <a:ext uri="{FF2B5EF4-FFF2-40B4-BE49-F238E27FC236}">
                <a16:creationId xmlns:a16="http://schemas.microsoft.com/office/drawing/2014/main" id="{837BE52B-1C33-B6FA-FDB8-1382A57452EE}"/>
              </a:ext>
            </a:extLst>
          </p:cNvPr>
          <p:cNvSpPr txBox="1"/>
          <p:nvPr/>
        </p:nvSpPr>
        <p:spPr>
          <a:xfrm>
            <a:off x="814274" y="1479143"/>
            <a:ext cx="4576712" cy="1631216"/>
          </a:xfrm>
          <a:prstGeom prst="rect">
            <a:avLst/>
          </a:prstGeom>
          <a:noFill/>
        </p:spPr>
        <p:txBody>
          <a:bodyPr wrap="square">
            <a:spAutoFit/>
          </a:bodyPr>
          <a:lstStyle/>
          <a:p>
            <a:pPr marL="457200" indent="-381000">
              <a:lnSpc>
                <a:spcPct val="90000"/>
              </a:lnSpc>
              <a:spcBef>
                <a:spcPts val="600"/>
              </a:spcBef>
              <a:buClr>
                <a:srgbClr val="C7D3E6"/>
              </a:buClr>
              <a:buSzPts val="2400"/>
              <a:buFont typeface="Roboto Condensed Light"/>
              <a:buChar char="▰"/>
            </a:pPr>
            <a:r>
              <a:rPr lang="en-US" sz="2000" dirty="0"/>
              <a:t>Rising supply pressure</a:t>
            </a:r>
            <a:br>
              <a:rPr lang="en-US" sz="2000" dirty="0"/>
            </a:br>
            <a:endParaRPr lang="en-US" sz="2000" dirty="0"/>
          </a:p>
          <a:p>
            <a:pPr marL="457200" indent="-381000">
              <a:lnSpc>
                <a:spcPct val="90000"/>
              </a:lnSpc>
              <a:spcBef>
                <a:spcPts val="600"/>
              </a:spcBef>
              <a:buClr>
                <a:srgbClr val="C7D3E6"/>
              </a:buClr>
              <a:buSzPts val="2400"/>
              <a:buFont typeface="Roboto Condensed Light"/>
              <a:buChar char="▰"/>
            </a:pPr>
            <a:r>
              <a:rPr lang="en-US" sz="2000" dirty="0"/>
              <a:t>Production continues increasing</a:t>
            </a:r>
            <a:br>
              <a:rPr lang="en-US" sz="2000" dirty="0"/>
            </a:br>
            <a:endParaRPr lang="en-US" sz="2000" dirty="0"/>
          </a:p>
          <a:p>
            <a:pPr marL="457200" indent="-381000">
              <a:lnSpc>
                <a:spcPct val="90000"/>
              </a:lnSpc>
              <a:spcBef>
                <a:spcPts val="600"/>
              </a:spcBef>
              <a:buClr>
                <a:srgbClr val="C7D3E6"/>
              </a:buClr>
              <a:buSzPts val="2400"/>
              <a:buFont typeface="Roboto Condensed Light"/>
              <a:buChar char="▰"/>
            </a:pPr>
            <a:r>
              <a:rPr lang="en-US" sz="2000" dirty="0"/>
              <a:t>Indicates sustained system stress</a:t>
            </a:r>
          </a:p>
        </p:txBody>
      </p:sp>
    </p:spTree>
    <p:extLst>
      <p:ext uri="{BB962C8B-B14F-4D97-AF65-F5344CB8AC3E}">
        <p14:creationId xmlns:p14="http://schemas.microsoft.com/office/powerpoint/2010/main" val="1617925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39946-5660-A0C5-9A2A-D2697E2BC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C0631-E2CB-D051-7666-90FB5236E049}"/>
              </a:ext>
            </a:extLst>
          </p:cNvPr>
          <p:cNvSpPr>
            <a:spLocks noGrp="1"/>
          </p:cNvSpPr>
          <p:nvPr>
            <p:ph type="ctrTitle"/>
          </p:nvPr>
        </p:nvSpPr>
        <p:spPr>
          <a:xfrm>
            <a:off x="643467" y="392575"/>
            <a:ext cx="7230533" cy="766200"/>
          </a:xfrm>
        </p:spPr>
        <p:txBody>
          <a:bodyPr wrap="square" anchor="ctr">
            <a:normAutofit fontScale="90000"/>
          </a:bodyPr>
          <a:lstStyle/>
          <a:p>
            <a:pPr>
              <a:lnSpc>
                <a:spcPct val="90000"/>
              </a:lnSpc>
            </a:pPr>
            <a:r>
              <a:rPr lang="en-US" sz="4400" dirty="0"/>
              <a:t>Aerospace Supply Chain Dataset 1</a:t>
            </a:r>
            <a:endParaRPr lang="en-US" sz="4100" dirty="0"/>
          </a:p>
        </p:txBody>
      </p:sp>
      <p:sp>
        <p:nvSpPr>
          <p:cNvPr id="5" name="Slide Number Placeholder 4" hidden="1">
            <a:extLst>
              <a:ext uri="{FF2B5EF4-FFF2-40B4-BE49-F238E27FC236}">
                <a16:creationId xmlns:a16="http://schemas.microsoft.com/office/drawing/2014/main" id="{DDAB1047-7ADA-16F7-1EF9-3C7EB138C5D0}"/>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20</a:t>
            </a:fld>
            <a:endParaRPr lang="en"/>
          </a:p>
        </p:txBody>
      </p:sp>
      <p:sp>
        <p:nvSpPr>
          <p:cNvPr id="4" name="Slide Number Placeholder 5">
            <a:extLst>
              <a:ext uri="{FF2B5EF4-FFF2-40B4-BE49-F238E27FC236}">
                <a16:creationId xmlns:a16="http://schemas.microsoft.com/office/drawing/2014/main" id="{D8080700-89C5-D810-CCC4-D93D8D2BC0F6}"/>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20</a:t>
            </a:fld>
            <a:endParaRPr lang="en" dirty="0">
              <a:solidFill>
                <a:schemeClr val="bg1"/>
              </a:solidFill>
            </a:endParaRPr>
          </a:p>
        </p:txBody>
      </p:sp>
      <p:sp>
        <p:nvSpPr>
          <p:cNvPr id="7" name="Rectangle 2">
            <a:extLst>
              <a:ext uri="{FF2B5EF4-FFF2-40B4-BE49-F238E27FC236}">
                <a16:creationId xmlns:a16="http://schemas.microsoft.com/office/drawing/2014/main" id="{783AFBD1-0155-99F9-A798-B3AC47CCAD3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80606D2-485C-274E-521B-6A9CDA3001EB}"/>
              </a:ext>
            </a:extLst>
          </p:cNvPr>
          <p:cNvSpPr txBox="1"/>
          <p:nvPr/>
        </p:nvSpPr>
        <p:spPr>
          <a:xfrm>
            <a:off x="643467" y="1756142"/>
            <a:ext cx="4576712" cy="1631216"/>
          </a:xfrm>
          <a:prstGeom prst="rect">
            <a:avLst/>
          </a:prstGeom>
          <a:noFill/>
        </p:spPr>
        <p:txBody>
          <a:bodyPr wrap="square">
            <a:spAutoFit/>
          </a:bodyPr>
          <a:lstStyle/>
          <a:p>
            <a:pPr marL="457200" indent="-381000">
              <a:lnSpc>
                <a:spcPct val="90000"/>
              </a:lnSpc>
              <a:spcBef>
                <a:spcPts val="600"/>
              </a:spcBef>
              <a:buClr>
                <a:srgbClr val="C7D3E6"/>
              </a:buClr>
              <a:buSzPts val="2400"/>
              <a:buFont typeface="Roboto Condensed Light"/>
              <a:buChar char="▰"/>
            </a:pPr>
            <a:r>
              <a:rPr lang="en-US" sz="2000" dirty="0"/>
              <a:t>Use engineered features</a:t>
            </a:r>
            <a:br>
              <a:rPr lang="en-US" sz="2000" dirty="0"/>
            </a:br>
            <a:endParaRPr lang="en-US" sz="2000" dirty="0"/>
          </a:p>
          <a:p>
            <a:pPr marL="457200" indent="-381000">
              <a:lnSpc>
                <a:spcPct val="90000"/>
              </a:lnSpc>
              <a:spcBef>
                <a:spcPts val="600"/>
              </a:spcBef>
              <a:buClr>
                <a:srgbClr val="C7D3E6"/>
              </a:buClr>
              <a:buSzPts val="2400"/>
              <a:buFont typeface="Roboto Condensed Light"/>
              <a:buChar char="▰"/>
            </a:pPr>
            <a:r>
              <a:rPr lang="en-US" sz="2000" dirty="0"/>
              <a:t>Forecast disruption risk</a:t>
            </a:r>
            <a:br>
              <a:rPr lang="en-US" sz="2000" dirty="0"/>
            </a:br>
            <a:endParaRPr lang="en-US" sz="2000" dirty="0"/>
          </a:p>
          <a:p>
            <a:pPr marL="457200" indent="-381000">
              <a:lnSpc>
                <a:spcPct val="90000"/>
              </a:lnSpc>
              <a:spcBef>
                <a:spcPts val="600"/>
              </a:spcBef>
              <a:buClr>
                <a:srgbClr val="C7D3E6"/>
              </a:buClr>
              <a:buSzPts val="2400"/>
              <a:buFont typeface="Roboto Condensed Light"/>
              <a:buChar char="▰"/>
            </a:pPr>
            <a:r>
              <a:rPr lang="en-US" sz="2000" dirty="0"/>
              <a:t>Build </a:t>
            </a:r>
            <a:r>
              <a:rPr lang="en-US" sz="2000" dirty="0" err="1"/>
              <a:t>PowerBI</a:t>
            </a:r>
            <a:r>
              <a:rPr lang="en-US" sz="2000" dirty="0"/>
              <a:t> dashboard</a:t>
            </a:r>
          </a:p>
        </p:txBody>
      </p:sp>
    </p:spTree>
    <p:extLst>
      <p:ext uri="{BB962C8B-B14F-4D97-AF65-F5344CB8AC3E}">
        <p14:creationId xmlns:p14="http://schemas.microsoft.com/office/powerpoint/2010/main" val="2656079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2111B-8F62-435F-801B-13F1E1B95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0A4AE-DB8F-5EE9-5600-3C4AB4D1AD54}"/>
              </a:ext>
            </a:extLst>
          </p:cNvPr>
          <p:cNvSpPr>
            <a:spLocks noGrp="1"/>
          </p:cNvSpPr>
          <p:nvPr>
            <p:ph type="ctrTitle"/>
          </p:nvPr>
        </p:nvSpPr>
        <p:spPr>
          <a:xfrm>
            <a:off x="643467" y="392575"/>
            <a:ext cx="7230533" cy="766200"/>
          </a:xfrm>
        </p:spPr>
        <p:txBody>
          <a:bodyPr wrap="square" anchor="ctr">
            <a:normAutofit fontScale="90000"/>
          </a:bodyPr>
          <a:lstStyle/>
          <a:p>
            <a:pPr>
              <a:lnSpc>
                <a:spcPct val="90000"/>
              </a:lnSpc>
            </a:pPr>
            <a:r>
              <a:rPr lang="en-US" sz="4400" dirty="0"/>
              <a:t>Aerospace Supply Chain Dataset 2</a:t>
            </a:r>
            <a:endParaRPr lang="en-US" sz="4100" dirty="0"/>
          </a:p>
        </p:txBody>
      </p:sp>
      <p:sp>
        <p:nvSpPr>
          <p:cNvPr id="5" name="Slide Number Placeholder 4" hidden="1">
            <a:extLst>
              <a:ext uri="{FF2B5EF4-FFF2-40B4-BE49-F238E27FC236}">
                <a16:creationId xmlns:a16="http://schemas.microsoft.com/office/drawing/2014/main" id="{C57276AA-B845-F03D-FCF7-4A1167C23E16}"/>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21</a:t>
            </a:fld>
            <a:endParaRPr lang="en"/>
          </a:p>
        </p:txBody>
      </p:sp>
      <p:sp>
        <p:nvSpPr>
          <p:cNvPr id="4" name="Slide Number Placeholder 5">
            <a:extLst>
              <a:ext uri="{FF2B5EF4-FFF2-40B4-BE49-F238E27FC236}">
                <a16:creationId xmlns:a16="http://schemas.microsoft.com/office/drawing/2014/main" id="{D6002B3C-D3D0-5541-D20E-2DB7050807B2}"/>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21</a:t>
            </a:fld>
            <a:endParaRPr lang="en" dirty="0">
              <a:solidFill>
                <a:schemeClr val="bg1"/>
              </a:solidFill>
            </a:endParaRPr>
          </a:p>
        </p:txBody>
      </p:sp>
      <p:pic>
        <p:nvPicPr>
          <p:cNvPr id="7" name="Picture 6">
            <a:extLst>
              <a:ext uri="{FF2B5EF4-FFF2-40B4-BE49-F238E27FC236}">
                <a16:creationId xmlns:a16="http://schemas.microsoft.com/office/drawing/2014/main" id="{90077A2B-CEFE-8AA7-9739-491EB513CF9F}"/>
              </a:ext>
            </a:extLst>
          </p:cNvPr>
          <p:cNvPicPr>
            <a:picLocks noChangeAspect="1"/>
          </p:cNvPicPr>
          <p:nvPr/>
        </p:nvPicPr>
        <p:blipFill>
          <a:blip r:embed="rId3"/>
          <a:stretch>
            <a:fillRect/>
          </a:stretch>
        </p:blipFill>
        <p:spPr>
          <a:xfrm>
            <a:off x="643467" y="1158775"/>
            <a:ext cx="5249334" cy="2803625"/>
          </a:xfrm>
          <a:prstGeom prst="rect">
            <a:avLst/>
          </a:prstGeom>
        </p:spPr>
      </p:pic>
    </p:spTree>
    <p:extLst>
      <p:ext uri="{BB962C8B-B14F-4D97-AF65-F5344CB8AC3E}">
        <p14:creationId xmlns:p14="http://schemas.microsoft.com/office/powerpoint/2010/main" val="932498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A13BE-A410-81EA-A476-630E53B21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A14FF-90DC-CD6D-13F7-7ABF44033691}"/>
              </a:ext>
            </a:extLst>
          </p:cNvPr>
          <p:cNvSpPr>
            <a:spLocks noGrp="1"/>
          </p:cNvSpPr>
          <p:nvPr>
            <p:ph type="ctrTitle"/>
          </p:nvPr>
        </p:nvSpPr>
        <p:spPr>
          <a:xfrm>
            <a:off x="814275" y="392575"/>
            <a:ext cx="7070268" cy="766200"/>
          </a:xfrm>
        </p:spPr>
        <p:txBody>
          <a:bodyPr wrap="square" anchor="ctr">
            <a:normAutofit fontScale="90000"/>
          </a:bodyPr>
          <a:lstStyle/>
          <a:p>
            <a:pPr>
              <a:lnSpc>
                <a:spcPct val="90000"/>
              </a:lnSpc>
            </a:pPr>
            <a:r>
              <a:rPr lang="en-US" sz="4400" dirty="0"/>
              <a:t>Feature Engineering &amp; Next Steps</a:t>
            </a:r>
            <a:endParaRPr lang="en-US" sz="4100" dirty="0"/>
          </a:p>
        </p:txBody>
      </p:sp>
      <p:sp>
        <p:nvSpPr>
          <p:cNvPr id="5" name="Slide Number Placeholder 4" hidden="1">
            <a:extLst>
              <a:ext uri="{FF2B5EF4-FFF2-40B4-BE49-F238E27FC236}">
                <a16:creationId xmlns:a16="http://schemas.microsoft.com/office/drawing/2014/main" id="{67687BB5-5C40-3E9C-1B84-785F6B60AEA1}"/>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22</a:t>
            </a:fld>
            <a:endParaRPr lang="en"/>
          </a:p>
        </p:txBody>
      </p:sp>
      <p:sp>
        <p:nvSpPr>
          <p:cNvPr id="4" name="Slide Number Placeholder 5">
            <a:extLst>
              <a:ext uri="{FF2B5EF4-FFF2-40B4-BE49-F238E27FC236}">
                <a16:creationId xmlns:a16="http://schemas.microsoft.com/office/drawing/2014/main" id="{F0C211D6-049B-99E7-DDE0-C6A55600AB25}"/>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22</a:t>
            </a:fld>
            <a:endParaRPr lang="en" dirty="0">
              <a:solidFill>
                <a:schemeClr val="bg1"/>
              </a:solidFill>
            </a:endParaRPr>
          </a:p>
        </p:txBody>
      </p:sp>
      <p:sp>
        <p:nvSpPr>
          <p:cNvPr id="10" name="TextBox 9">
            <a:extLst>
              <a:ext uri="{FF2B5EF4-FFF2-40B4-BE49-F238E27FC236}">
                <a16:creationId xmlns:a16="http://schemas.microsoft.com/office/drawing/2014/main" id="{F063E2A1-D2E5-8DBD-3603-E363C0EC1882}"/>
              </a:ext>
            </a:extLst>
          </p:cNvPr>
          <p:cNvSpPr txBox="1"/>
          <p:nvPr/>
        </p:nvSpPr>
        <p:spPr>
          <a:xfrm>
            <a:off x="814275" y="1259083"/>
            <a:ext cx="6020158" cy="2625334"/>
          </a:xfrm>
          <a:prstGeom prst="rect">
            <a:avLst/>
          </a:prstGeom>
          <a:noFill/>
        </p:spPr>
        <p:txBody>
          <a:bodyPr wrap="square">
            <a:spAutoFit/>
          </a:bodyPr>
          <a:lstStyle/>
          <a:p>
            <a:pPr marL="76200">
              <a:lnSpc>
                <a:spcPct val="90000"/>
              </a:lnSpc>
              <a:spcBef>
                <a:spcPts val="600"/>
              </a:spcBef>
              <a:buClr>
                <a:srgbClr val="C7D3E6"/>
              </a:buClr>
              <a:buSzPts val="2400"/>
            </a:pPr>
            <a:r>
              <a:rPr lang="en-US" sz="1600" b="1" dirty="0"/>
              <a:t>Additional analytical indicators created:</a:t>
            </a:r>
          </a:p>
          <a:p>
            <a:pPr marL="457200" indent="-381000">
              <a:lnSpc>
                <a:spcPct val="90000"/>
              </a:lnSpc>
              <a:spcBef>
                <a:spcPts val="600"/>
              </a:spcBef>
              <a:buClr>
                <a:srgbClr val="C7D3E6"/>
              </a:buClr>
              <a:buSzPts val="2400"/>
              <a:buFont typeface="Roboto Condensed Light"/>
              <a:buChar char="▰"/>
            </a:pPr>
            <a:r>
              <a:rPr lang="en-US" sz="1600" dirty="0"/>
              <a:t>Production volatility (3-month rolling deviation)</a:t>
            </a:r>
          </a:p>
          <a:p>
            <a:pPr marL="457200" indent="-381000">
              <a:lnSpc>
                <a:spcPct val="90000"/>
              </a:lnSpc>
              <a:spcBef>
                <a:spcPts val="600"/>
              </a:spcBef>
              <a:buClr>
                <a:srgbClr val="C7D3E6"/>
              </a:buClr>
              <a:buSzPts val="2400"/>
              <a:buFont typeface="Roboto Condensed Light"/>
              <a:buChar char="▰"/>
            </a:pPr>
            <a:r>
              <a:rPr lang="en-US" sz="1600" dirty="0"/>
              <a:t>Freight volatility (3-month rolling deviation)</a:t>
            </a:r>
          </a:p>
          <a:p>
            <a:pPr marL="457200" indent="-381000">
              <a:lnSpc>
                <a:spcPct val="90000"/>
              </a:lnSpc>
              <a:spcBef>
                <a:spcPts val="600"/>
              </a:spcBef>
              <a:buClr>
                <a:srgbClr val="C7D3E6"/>
              </a:buClr>
              <a:buSzPts val="2400"/>
              <a:buFont typeface="Roboto Condensed Light"/>
              <a:buChar char="▰"/>
            </a:pPr>
            <a:r>
              <a:rPr lang="en-US" sz="1600" dirty="0"/>
              <a:t>Supply chain pressure change</a:t>
            </a:r>
          </a:p>
          <a:p>
            <a:pPr marL="76200">
              <a:lnSpc>
                <a:spcPct val="90000"/>
              </a:lnSpc>
              <a:spcBef>
                <a:spcPts val="600"/>
              </a:spcBef>
              <a:buClr>
                <a:srgbClr val="C7D3E6"/>
              </a:buClr>
              <a:buSzPts val="2400"/>
            </a:pPr>
            <a:r>
              <a:rPr lang="en-US" sz="1600" b="1" dirty="0"/>
              <a:t>Purpose:</a:t>
            </a:r>
            <a:endParaRPr lang="en-US" sz="1600" dirty="0"/>
          </a:p>
          <a:p>
            <a:pPr marL="457200" indent="-381000">
              <a:lnSpc>
                <a:spcPct val="90000"/>
              </a:lnSpc>
              <a:spcBef>
                <a:spcPts val="600"/>
              </a:spcBef>
              <a:buClr>
                <a:srgbClr val="C7D3E6"/>
              </a:buClr>
              <a:buSzPts val="2400"/>
              <a:buFont typeface="Roboto Condensed Light"/>
              <a:buChar char="▰"/>
            </a:pPr>
            <a:r>
              <a:rPr lang="en-US" sz="1600" dirty="0"/>
              <a:t>Identify instability patterns in aerospace supply chains.</a:t>
            </a:r>
          </a:p>
          <a:p>
            <a:pPr marL="76200">
              <a:lnSpc>
                <a:spcPct val="90000"/>
              </a:lnSpc>
              <a:spcBef>
                <a:spcPts val="600"/>
              </a:spcBef>
              <a:buClr>
                <a:srgbClr val="C7D3E6"/>
              </a:buClr>
              <a:buSzPts val="2400"/>
            </a:pPr>
            <a:r>
              <a:rPr lang="en-US" sz="1600" b="1" dirty="0"/>
              <a:t>Next step:</a:t>
            </a:r>
          </a:p>
          <a:p>
            <a:pPr marL="457200" indent="-381000">
              <a:lnSpc>
                <a:spcPct val="90000"/>
              </a:lnSpc>
              <a:spcBef>
                <a:spcPts val="600"/>
              </a:spcBef>
              <a:buClr>
                <a:srgbClr val="C7D3E6"/>
              </a:buClr>
              <a:buSzPts val="2400"/>
              <a:buFont typeface="Roboto Condensed Light"/>
              <a:buChar char="▰"/>
            </a:pPr>
            <a:r>
              <a:rPr lang="en-US" sz="1600" dirty="0"/>
              <a:t>Use Power BI to create visual dashboards and explore relationships between these indicators</a:t>
            </a:r>
          </a:p>
        </p:txBody>
      </p:sp>
    </p:spTree>
    <p:extLst>
      <p:ext uri="{BB962C8B-B14F-4D97-AF65-F5344CB8AC3E}">
        <p14:creationId xmlns:p14="http://schemas.microsoft.com/office/powerpoint/2010/main" val="3636004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A9BD4-DCEA-D0A0-E802-CE90EF339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12A37-B059-70ED-8457-F42CE243F02D}"/>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400" dirty="0"/>
              <a:t>Key Findings</a:t>
            </a:r>
            <a:endParaRPr lang="en-US" sz="4100" dirty="0"/>
          </a:p>
        </p:txBody>
      </p:sp>
      <p:sp>
        <p:nvSpPr>
          <p:cNvPr id="5" name="Slide Number Placeholder 4" hidden="1">
            <a:extLst>
              <a:ext uri="{FF2B5EF4-FFF2-40B4-BE49-F238E27FC236}">
                <a16:creationId xmlns:a16="http://schemas.microsoft.com/office/drawing/2014/main" id="{0A0EB3E0-CAEB-CB19-812B-7A6A1EF64028}"/>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23</a:t>
            </a:fld>
            <a:endParaRPr lang="en"/>
          </a:p>
        </p:txBody>
      </p:sp>
      <p:sp>
        <p:nvSpPr>
          <p:cNvPr id="3" name="Text Placeholder 2">
            <a:extLst>
              <a:ext uri="{FF2B5EF4-FFF2-40B4-BE49-F238E27FC236}">
                <a16:creationId xmlns:a16="http://schemas.microsoft.com/office/drawing/2014/main" id="{1BD89704-7977-C06C-E045-1D0FBC95CCA5}"/>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Aerospace production shows a steady upward trend  </a:t>
            </a:r>
          </a:p>
          <a:p>
            <a:pPr marL="457200" indent="-381000">
              <a:lnSpc>
                <a:spcPct val="90000"/>
              </a:lnSpc>
              <a:spcBef>
                <a:spcPts val="600"/>
              </a:spcBef>
              <a:buClr>
                <a:srgbClr val="C7D3E6"/>
              </a:buClr>
              <a:buSzPts val="2400"/>
              <a:buFont typeface="Roboto Condensed Light"/>
              <a:buChar char="▰"/>
            </a:pPr>
            <a:r>
              <a:rPr lang="en-US" sz="2400" dirty="0"/>
              <a:t>Supply chain pressure increases alongside production  </a:t>
            </a:r>
          </a:p>
          <a:p>
            <a:pPr marL="457200" indent="-381000">
              <a:lnSpc>
                <a:spcPct val="90000"/>
              </a:lnSpc>
              <a:spcBef>
                <a:spcPts val="600"/>
              </a:spcBef>
              <a:buClr>
                <a:srgbClr val="C7D3E6"/>
              </a:buClr>
              <a:buSzPts val="2400"/>
              <a:buFont typeface="Roboto Condensed Light"/>
              <a:buChar char="▰"/>
            </a:pPr>
            <a:r>
              <a:rPr lang="en-US" sz="2400" dirty="0"/>
              <a:t>Monthly pressure changes reveal significant volatility  </a:t>
            </a:r>
          </a:p>
          <a:p>
            <a:pPr marL="457200" indent="-381000">
              <a:lnSpc>
                <a:spcPct val="90000"/>
              </a:lnSpc>
              <a:spcBef>
                <a:spcPts val="600"/>
              </a:spcBef>
              <a:buClr>
                <a:srgbClr val="C7D3E6"/>
              </a:buClr>
              <a:buSzPts val="2400"/>
              <a:buFont typeface="Roboto Condensed Light"/>
              <a:buChar char="▰"/>
            </a:pPr>
            <a:r>
              <a:rPr lang="en-US" sz="2400" dirty="0"/>
              <a:t>Positive correlation exists between production and supply pressure  </a:t>
            </a:r>
          </a:p>
          <a:p>
            <a:pPr marL="457200" indent="-381000">
              <a:lnSpc>
                <a:spcPct val="90000"/>
              </a:lnSpc>
              <a:spcBef>
                <a:spcPts val="600"/>
              </a:spcBef>
              <a:buClr>
                <a:srgbClr val="C7D3E6"/>
              </a:buClr>
              <a:buSzPts val="2400"/>
              <a:buFont typeface="Roboto Condensed Light"/>
              <a:buChar char="▰"/>
            </a:pPr>
            <a:r>
              <a:rPr lang="en-US" sz="2400" dirty="0"/>
              <a:t>Increased production is associated with higher supply chain strain</a:t>
            </a:r>
          </a:p>
        </p:txBody>
      </p:sp>
      <p:sp>
        <p:nvSpPr>
          <p:cNvPr id="4" name="Slide Number Placeholder 5">
            <a:extLst>
              <a:ext uri="{FF2B5EF4-FFF2-40B4-BE49-F238E27FC236}">
                <a16:creationId xmlns:a16="http://schemas.microsoft.com/office/drawing/2014/main" id="{E6BEDC78-D4C5-F497-ECB8-95695E1B93D4}"/>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23</a:t>
            </a:fld>
            <a:endParaRPr lang="en" dirty="0">
              <a:solidFill>
                <a:schemeClr val="bg1"/>
              </a:solidFill>
            </a:endParaRPr>
          </a:p>
        </p:txBody>
      </p:sp>
    </p:spTree>
    <p:extLst>
      <p:ext uri="{BB962C8B-B14F-4D97-AF65-F5344CB8AC3E}">
        <p14:creationId xmlns:p14="http://schemas.microsoft.com/office/powerpoint/2010/main" val="1925660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F9FD3-3D1F-F2D2-5008-FBE802788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ECD0F-7992-D841-0F1B-1F3C3CEFE94B}"/>
              </a:ext>
            </a:extLst>
          </p:cNvPr>
          <p:cNvSpPr>
            <a:spLocks noGrp="1"/>
          </p:cNvSpPr>
          <p:nvPr>
            <p:ph type="ctrTitle"/>
          </p:nvPr>
        </p:nvSpPr>
        <p:spPr>
          <a:xfrm>
            <a:off x="814274" y="392575"/>
            <a:ext cx="6284109" cy="766200"/>
          </a:xfrm>
        </p:spPr>
        <p:txBody>
          <a:bodyPr wrap="square" anchor="ctr">
            <a:normAutofit fontScale="90000"/>
          </a:bodyPr>
          <a:lstStyle/>
          <a:p>
            <a:pPr>
              <a:lnSpc>
                <a:spcPct val="90000"/>
              </a:lnSpc>
            </a:pPr>
            <a:r>
              <a:rPr lang="en-US" sz="4100" dirty="0"/>
              <a:t>Data Visualizations &amp; Analysis</a:t>
            </a:r>
          </a:p>
        </p:txBody>
      </p:sp>
      <p:sp>
        <p:nvSpPr>
          <p:cNvPr id="5" name="Slide Number Placeholder 4" hidden="1">
            <a:extLst>
              <a:ext uri="{FF2B5EF4-FFF2-40B4-BE49-F238E27FC236}">
                <a16:creationId xmlns:a16="http://schemas.microsoft.com/office/drawing/2014/main" id="{C392F33D-13E4-EE05-8391-D15BA04A9F29}"/>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24</a:t>
            </a:fld>
            <a:endParaRPr lang="en"/>
          </a:p>
        </p:txBody>
      </p:sp>
      <p:sp>
        <p:nvSpPr>
          <p:cNvPr id="4" name="Slide Number Placeholder 5">
            <a:extLst>
              <a:ext uri="{FF2B5EF4-FFF2-40B4-BE49-F238E27FC236}">
                <a16:creationId xmlns:a16="http://schemas.microsoft.com/office/drawing/2014/main" id="{29A412D8-AA38-D561-5A5B-70BE923F2ACF}"/>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24</a:t>
            </a:fld>
            <a:endParaRPr lang="en" dirty="0">
              <a:solidFill>
                <a:schemeClr val="bg1"/>
              </a:solidFill>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title="Microsoft Power BI">
                <a:extLst>
                  <a:ext uri="{FF2B5EF4-FFF2-40B4-BE49-F238E27FC236}">
                    <a16:creationId xmlns:a16="http://schemas.microsoft.com/office/drawing/2014/main" id="{BD58982F-202D-8506-2AE5-640F1560DD4B}"/>
                  </a:ext>
                </a:extLst>
              </p:cNvPr>
              <p:cNvGraphicFramePr>
                <a:graphicFrameLocks noGrp="1"/>
              </p:cNvGraphicFramePr>
              <p:nvPr>
                <p:extLst>
                  <p:ext uri="{D42A27DB-BD31-4B8C-83A1-F6EECF244321}">
                    <p14:modId xmlns:p14="http://schemas.microsoft.com/office/powerpoint/2010/main" val="2173350740"/>
                  </p:ext>
                </p:extLst>
              </p:nvPr>
            </p:nvGraphicFramePr>
            <p:xfrm>
              <a:off x="814275" y="1158774"/>
              <a:ext cx="5020917" cy="284761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title="Microsoft Power BI">
                <a:extLst>
                  <a:ext uri="{FF2B5EF4-FFF2-40B4-BE49-F238E27FC236}">
                    <a16:creationId xmlns:a16="http://schemas.microsoft.com/office/drawing/2014/main" id="{BD58982F-202D-8506-2AE5-640F1560DD4B}"/>
                  </a:ext>
                </a:extLst>
              </p:cNvPr>
              <p:cNvPicPr>
                <a:picLocks noGrp="1" noRot="1" noChangeAspect="1" noMove="1" noResize="1" noEditPoints="1" noAdjustHandles="1" noChangeArrowheads="1" noChangeShapeType="1"/>
              </p:cNvPicPr>
              <p:nvPr/>
            </p:nvPicPr>
            <p:blipFill>
              <a:blip r:embed="rId4"/>
              <a:stretch>
                <a:fillRect/>
              </a:stretch>
            </p:blipFill>
            <p:spPr>
              <a:xfrm>
                <a:off x="814275" y="1158774"/>
                <a:ext cx="5020917" cy="2847617"/>
              </a:xfrm>
              <a:prstGeom prst="rect">
                <a:avLst/>
              </a:prstGeom>
            </p:spPr>
          </p:pic>
        </mc:Fallback>
      </mc:AlternateContent>
    </p:spTree>
    <p:extLst>
      <p:ext uri="{BB962C8B-B14F-4D97-AF65-F5344CB8AC3E}">
        <p14:creationId xmlns:p14="http://schemas.microsoft.com/office/powerpoint/2010/main" val="3960619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9AA07-676A-0D93-0CE2-0753BCB9F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BC8A6-A59A-FD0F-9A0F-FFC2C905A0F9}"/>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GitHub</a:t>
            </a:r>
          </a:p>
        </p:txBody>
      </p:sp>
      <p:sp>
        <p:nvSpPr>
          <p:cNvPr id="5" name="Slide Number Placeholder 4" hidden="1">
            <a:extLst>
              <a:ext uri="{FF2B5EF4-FFF2-40B4-BE49-F238E27FC236}">
                <a16:creationId xmlns:a16="http://schemas.microsoft.com/office/drawing/2014/main" id="{4BABBAFD-059D-9BD8-D035-4490CB19EE2B}"/>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25</a:t>
            </a:fld>
            <a:endParaRPr lang="en"/>
          </a:p>
        </p:txBody>
      </p:sp>
      <p:sp>
        <p:nvSpPr>
          <p:cNvPr id="4" name="Slide Number Placeholder 5">
            <a:extLst>
              <a:ext uri="{FF2B5EF4-FFF2-40B4-BE49-F238E27FC236}">
                <a16:creationId xmlns:a16="http://schemas.microsoft.com/office/drawing/2014/main" id="{B3D96EF4-53C0-663F-08B4-8D74465EDB91}"/>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25</a:t>
            </a:fld>
            <a:endParaRPr lang="en" dirty="0">
              <a:solidFill>
                <a:schemeClr val="bg1"/>
              </a:solidFill>
            </a:endParaRPr>
          </a:p>
        </p:txBody>
      </p:sp>
      <p:sp>
        <p:nvSpPr>
          <p:cNvPr id="6" name="TextBox 5">
            <a:extLst>
              <a:ext uri="{FF2B5EF4-FFF2-40B4-BE49-F238E27FC236}">
                <a16:creationId xmlns:a16="http://schemas.microsoft.com/office/drawing/2014/main" id="{FC031895-7006-9F9A-096A-54C7D37F967E}"/>
              </a:ext>
            </a:extLst>
          </p:cNvPr>
          <p:cNvSpPr txBox="1"/>
          <p:nvPr/>
        </p:nvSpPr>
        <p:spPr>
          <a:xfrm>
            <a:off x="814275" y="1211377"/>
            <a:ext cx="4576712" cy="2720745"/>
          </a:xfrm>
          <a:prstGeom prst="rect">
            <a:avLst/>
          </a:prstGeom>
          <a:noFill/>
        </p:spPr>
        <p:txBody>
          <a:bodyPr wrap="square">
            <a:spAutoFit/>
          </a:bodyPr>
          <a:lstStyle/>
          <a:p>
            <a:pPr marL="76200">
              <a:lnSpc>
                <a:spcPct val="90000"/>
              </a:lnSpc>
              <a:spcBef>
                <a:spcPts val="600"/>
              </a:spcBef>
              <a:buClr>
                <a:srgbClr val="C7D3E6"/>
              </a:buClr>
              <a:buSzPts val="2400"/>
            </a:pPr>
            <a:r>
              <a:rPr lang="en-US" sz="1800" b="1" dirty="0"/>
              <a:t>GitHub Repository:</a:t>
            </a:r>
          </a:p>
          <a:p>
            <a:pPr marL="457200" indent="-381000">
              <a:lnSpc>
                <a:spcPct val="90000"/>
              </a:lnSpc>
              <a:spcBef>
                <a:spcPts val="600"/>
              </a:spcBef>
              <a:buClr>
                <a:srgbClr val="C7D3E6"/>
              </a:buClr>
              <a:buSzPts val="2400"/>
              <a:buFont typeface="Roboto Condensed Light"/>
              <a:buChar char="▰"/>
            </a:pPr>
            <a:r>
              <a:rPr lang="en-US" sz="1800" b="1" dirty="0">
                <a:solidFill>
                  <a:srgbClr val="263248"/>
                </a:solidFill>
                <a:ea typeface="Roboto Condensed Light"/>
                <a:cs typeface="Roboto Condensed Light"/>
                <a:sym typeface="Roboto Condensed Light"/>
                <a:hlinkClick r:id="rId3"/>
              </a:rPr>
              <a:t>https://github.com/AkQuik559/Winter-2025-CS-497-Capstone-Project-Proposal-Enhancing-Aerospace-Supply-Chain-Resilience</a:t>
            </a:r>
            <a:endParaRPr lang="en-US" sz="1800" dirty="0"/>
          </a:p>
          <a:p>
            <a:pPr marL="76200">
              <a:lnSpc>
                <a:spcPct val="90000"/>
              </a:lnSpc>
              <a:spcBef>
                <a:spcPts val="600"/>
              </a:spcBef>
              <a:buClr>
                <a:srgbClr val="C7D3E6"/>
              </a:buClr>
              <a:buSzPts val="2400"/>
            </a:pPr>
            <a:r>
              <a:rPr lang="en-US" sz="1800" b="1" dirty="0"/>
              <a:t>Includes:</a:t>
            </a:r>
          </a:p>
          <a:p>
            <a:pPr marL="457200" indent="-381000">
              <a:lnSpc>
                <a:spcPct val="90000"/>
              </a:lnSpc>
              <a:spcBef>
                <a:spcPts val="600"/>
              </a:spcBef>
              <a:buClr>
                <a:srgbClr val="C7D3E6"/>
              </a:buClr>
              <a:buSzPts val="2400"/>
              <a:buFont typeface="Roboto Condensed Light"/>
              <a:buChar char="▰"/>
            </a:pPr>
            <a:r>
              <a:rPr lang="en-US" sz="1800" dirty="0">
                <a:solidFill>
                  <a:schemeClr val="tx1"/>
                </a:solidFill>
                <a:ea typeface="Roboto Condensed Light"/>
                <a:cs typeface="Roboto Condensed Light"/>
                <a:sym typeface="Roboto Condensed Light"/>
              </a:rPr>
              <a:t>Data processing workflows</a:t>
            </a:r>
          </a:p>
          <a:p>
            <a:pPr marL="457200" indent="-381000">
              <a:lnSpc>
                <a:spcPct val="90000"/>
              </a:lnSpc>
              <a:spcBef>
                <a:spcPts val="600"/>
              </a:spcBef>
              <a:buClr>
                <a:srgbClr val="C7D3E6"/>
              </a:buClr>
              <a:buSzPts val="2400"/>
              <a:buFont typeface="Roboto Condensed Light"/>
              <a:buChar char="▰"/>
            </a:pPr>
            <a:r>
              <a:rPr lang="en-US" sz="1800" dirty="0">
                <a:solidFill>
                  <a:schemeClr val="tx1"/>
                </a:solidFill>
                <a:ea typeface="Roboto Condensed Light"/>
                <a:cs typeface="Roboto Condensed Light"/>
                <a:sym typeface="Roboto Condensed Light"/>
              </a:rPr>
              <a:t>Databricks notebooks  </a:t>
            </a:r>
          </a:p>
          <a:p>
            <a:pPr marL="457200" indent="-381000">
              <a:lnSpc>
                <a:spcPct val="90000"/>
              </a:lnSpc>
              <a:spcBef>
                <a:spcPts val="600"/>
              </a:spcBef>
              <a:buClr>
                <a:srgbClr val="C7D3E6"/>
              </a:buClr>
              <a:buSzPts val="2400"/>
              <a:buFont typeface="Roboto Condensed Light"/>
              <a:buChar char="▰"/>
            </a:pPr>
            <a:r>
              <a:rPr lang="en-US" sz="1800" dirty="0">
                <a:solidFill>
                  <a:schemeClr val="tx1"/>
                </a:solidFill>
                <a:ea typeface="Roboto Condensed Light"/>
                <a:cs typeface="Roboto Condensed Light"/>
                <a:sym typeface="Roboto Condensed Light"/>
              </a:rPr>
              <a:t>Project documentation</a:t>
            </a:r>
            <a:endParaRPr lang="en-US" sz="1800" dirty="0"/>
          </a:p>
        </p:txBody>
      </p:sp>
    </p:spTree>
    <p:extLst>
      <p:ext uri="{BB962C8B-B14F-4D97-AF65-F5344CB8AC3E}">
        <p14:creationId xmlns:p14="http://schemas.microsoft.com/office/powerpoint/2010/main" val="3932684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63A0-0E9D-8B27-D33E-52F8BDA17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DCE04-8418-280C-599D-944B403BB356}"/>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References</a:t>
            </a:r>
          </a:p>
        </p:txBody>
      </p:sp>
      <p:sp>
        <p:nvSpPr>
          <p:cNvPr id="5" name="Slide Number Placeholder 4" hidden="1">
            <a:extLst>
              <a:ext uri="{FF2B5EF4-FFF2-40B4-BE49-F238E27FC236}">
                <a16:creationId xmlns:a16="http://schemas.microsoft.com/office/drawing/2014/main" id="{6F182B3A-5F95-ED2F-B6E5-BA276E8B7BF9}"/>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26</a:t>
            </a:fld>
            <a:endParaRPr lang="en"/>
          </a:p>
        </p:txBody>
      </p:sp>
      <p:sp>
        <p:nvSpPr>
          <p:cNvPr id="3" name="Text Placeholder 2">
            <a:extLst>
              <a:ext uri="{FF2B5EF4-FFF2-40B4-BE49-F238E27FC236}">
                <a16:creationId xmlns:a16="http://schemas.microsoft.com/office/drawing/2014/main" id="{007230D6-3892-E353-3FA5-0B6E2C4B121E}"/>
              </a:ext>
            </a:extLst>
          </p:cNvPr>
          <p:cNvSpPr txBox="1">
            <a:spLocks/>
          </p:cNvSpPr>
          <p:nvPr/>
        </p:nvSpPr>
        <p:spPr>
          <a:xfrm>
            <a:off x="814275" y="1158775"/>
            <a:ext cx="6132600" cy="3145500"/>
          </a:xfrm>
          <a:prstGeom prst="rect">
            <a:avLst/>
          </a:prstGeom>
          <a:noFill/>
          <a:ln>
            <a:noFill/>
          </a:ln>
        </p:spPr>
        <p:txBody>
          <a:bodyPr spcFirstLastPara="1" wrap="square" lIns="91425" tIns="91425" rIns="91425" bIns="91425" anchor="ctr" anchorCtr="0">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rPr>
              <a:t>Bednarski et al. (2025)</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rPr>
              <a:t>Deloitte (2023-2025)</a:t>
            </a:r>
          </a:p>
          <a:p>
            <a:pPr marL="457200" indent="-381000">
              <a:lnSpc>
                <a:spcPct val="90000"/>
              </a:lnSpc>
              <a:spcBef>
                <a:spcPts val="600"/>
              </a:spcBef>
              <a:buClr>
                <a:srgbClr val="C7D3E6"/>
              </a:buClr>
              <a:buSzPts val="2400"/>
              <a:buFont typeface="Roboto Condensed Light"/>
              <a:buChar char="▰"/>
            </a:pPr>
            <a:r>
              <a:rPr lang="en-US" sz="2400" dirty="0" err="1">
                <a:solidFill>
                  <a:schemeClr val="tx1"/>
                </a:solidFill>
                <a:latin typeface="+mj-lt"/>
              </a:rPr>
              <a:t>Douaioui</a:t>
            </a:r>
            <a:r>
              <a:rPr lang="en-US" sz="2400" dirty="0">
                <a:solidFill>
                  <a:schemeClr val="tx1"/>
                </a:solidFill>
                <a:latin typeface="+mj-lt"/>
              </a:rPr>
              <a:t> et al (2024)</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rPr>
              <a:t>Omar (2025)</a:t>
            </a:r>
          </a:p>
          <a:p>
            <a:pPr marL="457200" indent="-381000">
              <a:lnSpc>
                <a:spcPct val="90000"/>
              </a:lnSpc>
              <a:spcBef>
                <a:spcPts val="600"/>
              </a:spcBef>
              <a:buClr>
                <a:srgbClr val="C7D3E6"/>
              </a:buClr>
              <a:buSzPts val="2400"/>
              <a:buFont typeface="Roboto Condensed Light"/>
              <a:buChar char="▰"/>
            </a:pPr>
            <a:r>
              <a:rPr lang="en-US" sz="2400" i="0" u="none" strike="noStrike" cap="none" dirty="0">
                <a:solidFill>
                  <a:schemeClr val="tx1"/>
                </a:solidFill>
                <a:latin typeface="+mj-lt"/>
                <a:ea typeface="Roboto Condensed Light"/>
                <a:cs typeface="Roboto Condensed Light"/>
                <a:sym typeface="Roboto Condensed Light"/>
              </a:rPr>
              <a:t>GAO (2024)</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ea typeface="Roboto Condensed Light"/>
                <a:cs typeface="Roboto Condensed Light"/>
                <a:sym typeface="Roboto Condensed Light"/>
              </a:rPr>
              <a:t>Leeham News (2025)</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ea typeface="Roboto Condensed Light"/>
                <a:cs typeface="Roboto Condensed Light"/>
                <a:sym typeface="Roboto Condensed Light"/>
              </a:rPr>
              <a:t>McKinsey (2021</a:t>
            </a:r>
          </a:p>
          <a:p>
            <a:pPr marL="457200" indent="-381000">
              <a:lnSpc>
                <a:spcPct val="90000"/>
              </a:lnSpc>
              <a:spcBef>
                <a:spcPts val="600"/>
              </a:spcBef>
              <a:buClr>
                <a:srgbClr val="C7D3E6"/>
              </a:buClr>
              <a:buSzPts val="2400"/>
              <a:buFont typeface="Roboto Condensed Light"/>
              <a:buChar char="▰"/>
            </a:pPr>
            <a:r>
              <a:rPr lang="en-US" sz="2400" i="0" u="none" strike="noStrike" cap="none" dirty="0">
                <a:solidFill>
                  <a:schemeClr val="tx1"/>
                </a:solidFill>
                <a:latin typeface="+mj-lt"/>
                <a:ea typeface="Roboto Condensed Light"/>
                <a:cs typeface="Roboto Condensed Light"/>
                <a:sym typeface="Roboto Condensed Light"/>
              </a:rPr>
              <a:t>Reuters (2, 2024)</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ea typeface="Roboto Condensed Light"/>
                <a:cs typeface="Roboto Condensed Light"/>
                <a:sym typeface="Roboto Condensed Light"/>
              </a:rPr>
              <a:t>Trax Technologies (2025)</a:t>
            </a:r>
          </a:p>
          <a:p>
            <a:pPr marL="457200" indent="-381000">
              <a:lnSpc>
                <a:spcPct val="90000"/>
              </a:lnSpc>
              <a:spcBef>
                <a:spcPts val="600"/>
              </a:spcBef>
              <a:buClr>
                <a:srgbClr val="C7D3E6"/>
              </a:buClr>
              <a:buSzPts val="2400"/>
              <a:buFont typeface="Roboto Condensed Light"/>
              <a:buChar char="▰"/>
            </a:pPr>
            <a:r>
              <a:rPr lang="en-US" sz="2400" i="0" u="none" strike="noStrike" cap="none" dirty="0">
                <a:solidFill>
                  <a:schemeClr val="tx1"/>
                </a:solidFill>
                <a:latin typeface="+mj-lt"/>
                <a:ea typeface="Roboto Condensed Light"/>
                <a:cs typeface="Roboto Condensed Light"/>
                <a:sym typeface="Roboto Condensed Light"/>
              </a:rPr>
              <a:t>EY (2025)</a:t>
            </a:r>
          </a:p>
          <a:p>
            <a:pPr marL="457200" indent="-381000">
              <a:lnSpc>
                <a:spcPct val="90000"/>
              </a:lnSpc>
              <a:spcBef>
                <a:spcPts val="600"/>
              </a:spcBef>
              <a:buClr>
                <a:srgbClr val="C7D3E6"/>
              </a:buClr>
              <a:buSzPts val="2400"/>
              <a:buFont typeface="Roboto Condensed Light"/>
              <a:buChar char="▰"/>
            </a:pP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8712EA5E-CEC0-E62B-D8A7-2A706AB95262}"/>
              </a:ext>
            </a:extLst>
          </p:cNvPr>
          <p:cNvSpPr txBox="1">
            <a:spLocks/>
          </p:cNvSpPr>
          <p:nvPr/>
        </p:nvSpPr>
        <p:spPr>
          <a:xfrm>
            <a:off x="7586025" y="4261362"/>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26</a:t>
            </a:fld>
            <a:endParaRPr lang="en" dirty="0">
              <a:solidFill>
                <a:schemeClr val="bg1"/>
              </a:solidFill>
            </a:endParaRPr>
          </a:p>
        </p:txBody>
      </p:sp>
    </p:spTree>
    <p:extLst>
      <p:ext uri="{BB962C8B-B14F-4D97-AF65-F5344CB8AC3E}">
        <p14:creationId xmlns:p14="http://schemas.microsoft.com/office/powerpoint/2010/main" val="1185335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Q&amp;A</a:t>
            </a:r>
          </a:p>
        </p:txBody>
      </p:sp>
      <p:pic>
        <p:nvPicPr>
          <p:cNvPr id="5" name="Picture 4"/>
          <p:cNvPicPr>
            <a:picLocks noChangeAspect="1"/>
          </p:cNvPicPr>
          <p:nvPr/>
        </p:nvPicPr>
        <p:blipFill>
          <a:blip r:embed="rId2"/>
          <a:stretch>
            <a:fillRect/>
          </a:stretch>
        </p:blipFill>
        <p:spPr>
          <a:xfrm>
            <a:off x="814275" y="1862668"/>
            <a:ext cx="4402663" cy="1761065"/>
          </a:xfrm>
          <a:prstGeom prst="rect">
            <a:avLst/>
          </a:prstGeom>
        </p:spPr>
      </p:pic>
      <p:pic>
        <p:nvPicPr>
          <p:cNvPr id="6" name="Picture 5"/>
          <p:cNvPicPr>
            <a:picLocks noChangeAspect="1"/>
          </p:cNvPicPr>
          <p:nvPr/>
        </p:nvPicPr>
        <p:blipFill>
          <a:blip r:embed="rId3"/>
          <a:stretch>
            <a:fillRect/>
          </a:stretch>
        </p:blipFill>
        <p:spPr>
          <a:xfrm>
            <a:off x="5912731" y="1862668"/>
            <a:ext cx="1944335" cy="1944335"/>
          </a:xfrm>
          <a:prstGeom prst="rect">
            <a:avLst/>
          </a:prstGeom>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2863282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724B-2B7C-58B1-630F-1D03D145E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0F449-4E23-F7EF-6D0F-20DBFDEBF0CA}"/>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Extra Slide for later</a:t>
            </a:r>
          </a:p>
        </p:txBody>
      </p:sp>
      <p:sp>
        <p:nvSpPr>
          <p:cNvPr id="5" name="Slide Number Placeholder 4" hidden="1">
            <a:extLst>
              <a:ext uri="{FF2B5EF4-FFF2-40B4-BE49-F238E27FC236}">
                <a16:creationId xmlns:a16="http://schemas.microsoft.com/office/drawing/2014/main" id="{45F8367D-99AF-7FAE-7AE0-68D399B3D0BD}"/>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28</a:t>
            </a:fld>
            <a:endParaRPr lang="en"/>
          </a:p>
        </p:txBody>
      </p:sp>
      <p:sp>
        <p:nvSpPr>
          <p:cNvPr id="3" name="Text Placeholder 2">
            <a:extLst>
              <a:ext uri="{FF2B5EF4-FFF2-40B4-BE49-F238E27FC236}">
                <a16:creationId xmlns:a16="http://schemas.microsoft.com/office/drawing/2014/main" id="{36AC1325-1A49-CA33-A277-8C5DCB490099}"/>
              </a:ext>
            </a:extLst>
          </p:cNvPr>
          <p:cNvSpPr txBox="1">
            <a:spLocks/>
          </p:cNvSpPr>
          <p:nvPr/>
        </p:nvSpPr>
        <p:spPr>
          <a:xfrm>
            <a:off x="814275" y="132735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 Extra Slide</a:t>
            </a:r>
          </a:p>
        </p:txBody>
      </p:sp>
      <p:sp>
        <p:nvSpPr>
          <p:cNvPr id="4" name="Slide Number Placeholder 5">
            <a:extLst>
              <a:ext uri="{FF2B5EF4-FFF2-40B4-BE49-F238E27FC236}">
                <a16:creationId xmlns:a16="http://schemas.microsoft.com/office/drawing/2014/main" id="{34F79544-3A0F-9B09-8B5F-93816B83D3E6}"/>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28</a:t>
            </a:fld>
            <a:endParaRPr lang="en" dirty="0">
              <a:solidFill>
                <a:schemeClr val="bg1"/>
              </a:solidFill>
            </a:endParaRPr>
          </a:p>
        </p:txBody>
      </p:sp>
    </p:spTree>
    <p:extLst>
      <p:ext uri="{BB962C8B-B14F-4D97-AF65-F5344CB8AC3E}">
        <p14:creationId xmlns:p14="http://schemas.microsoft.com/office/powerpoint/2010/main" val="793879036"/>
      </p:ext>
    </p:extLst>
  </p:cSld>
  <p:clrMapOvr>
    <a:masterClrMapping/>
  </p:clrMapOvr>
</p:sld>
</file>

<file path=ppt/theme/theme1.xml><?xml version="1.0" encoding="utf-8"?>
<a:theme xmlns:a="http://schemas.openxmlformats.org/drawingml/2006/main"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37E6E193-7C4C-4792-8473-A78A55EE1100}">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FFFFF&quot;"/>
    <we:property name="bookmark" value="&quot;H4sIAAAAAAAAA+1XUWvbMBD+K0XPYcRxHNt9S9OWDboRllEKI4SzfHbUKpaR5SxeyX/fSXbajmSDjnZko0+x7i5333d8d5bvWSqqUkLzCVbITtmZUncr0HcnHuuxorWFgT8I4sQbpUHsQ4j9KI7Iq0ojVFGx03tmQOdorkVVg7SJyPh13mMg5RRye8pAVthjJepKFSDFd2yDyWV0jdsew00plQabcmbAoE27pnA6EwTvnU8VgRuxxhly01qHwYhHHFM/isOAx34E3AKr2gCH7GCITe3KT1RhQBRUxtrQH/QHfNQfpGEcRgkEfR+sPRPSdCFJc7EpNbEjzk1pmzNO11BQAeYoaKxaxPdsnOcaczDd8eIn50TJenXAPlO15vgZM+cqjDAN1cgE9WwBqFVVAsdFCgYqNGxLfZtqRV11YbO6LGWzmNp8tUbnvqyLrluePS7Vt4lGam/KTvvb3jGyGD8EkDGtW/TPoDIhU6604CD32LwK4I8koiXbhzQnSyWKXHZaf5TdlxapJOVNlqCNHabkllRrNUb/UjpFfdY4mZ0LvdO71/sb/d/R2c53A0fO2ycj1TW4hfeqEOZb64ggCoMAE38U+oPET6Lh78ay21m8HyX+MIviYRJCEodhNuLU5uOT+25aF6SEIn/W0L4p/T9TepL4Mb15spinpHQPPQ6jtxfQv/YCOiIqlxpFvjSLD0WKm5daLe8FatB82VzhGuU+4gf/vmsH7Rq0aK96jt1LsO7urw+Z2S821xN07JxYnjwarLvj9OerruJgaFgPbruDS+bGDfMRDqvdSW4tPXJgK6SLvn1QtXHZp1CgI1C2mQW2V+lNCaS5tHvW9vdKUF/ajl2DrG2z3GcBc2VctR/2qKHIjgwAAA==&quot;"/>
    <we:property name="creatorSessionId" value="&quot;eeaf0fac-4d3e-4631-bbc9-a349e98645c4&quot;"/>
    <we:property name="creatorTenantId" value="&quot;b3fa96d9-f515-4662-add7-63d854e39e63&quot;"/>
    <we:property name="creatorUserId" value="&quot;10032001DA5F14FB&quot;"/>
    <we:property name="datasetId" value="&quot;aa5693dd-4405-4ad1-a977-028849a85bb1&quot;"/>
    <we:property name="embedUrl" value="&quot;/reportEmbed?reportId=1d6335fb-1ebc-43c8-93ac-c4ec7034f956&amp;config=eyJjbHVzdGVyVXJsIjoiaHR0cHM6Ly9XQUJJLVdFU1QtVVMtQy1QUklNQVJZLXJlZGlyZWN0LmFuYWx5c2lzLndpbmRvd3MubmV0IiwiZW1iZWRGZWF0dXJlcyI6eyJ1c2FnZU1ldHJpY3NWTmV4dCI6dHJ1ZX19&amp;disableSensitivityBanner=true&amp;storytellingChangeViewModeShortcutKeys=true&quot;"/>
    <we:property name="initialStateBookmark" value="&quot;H4sIAAAAAAAAA+1WbW/aMBD+K5U/owkIkKTfKG21qW+oTNWkCaGLcwluTRw5DiOr+O89O6HtBJvWqZ3Y1E/Ed8fdPY+eO/uexaLIJVSXsEB2yI6UuluAvjvosBbLGtvV1dnF8Ppsdjm8OCGzyo1QWcEO75kBnaK5EUUJ0mYg49dpi4GUY0jtKQFZYIvlqAuVgRTfsQ4ml9ElrlsMV7lUGmzKiQGDNu2SwulMtTsfPKoI3IglTpCb2trrD3jAMfaC0O/z0AuABxRW1AGus50hNrUrP1KZAZFRGWtDr9vu8kG7G/uhH0TQb3tg7YmQpgmJqpNVrgkdYa5yy8owXkJGBZiDoLGoO75nwzTVmIJpjic/OEdKlosd9okqNcdrTJwrM8JUVCMRxNkMUKsiB46zGAwUaNiaeBtrRay6sEmZ57KajW2+UqNzn5ZZw1bHHufq20gj0Ruzw/a6tY8oho8BZIzLuvsXQBmRKVVacJBbaN6k4QsS0ZxttzQlSyGyVDZaf5Ld57pTScobzUEbO0zRLanWaoz+pXSM+qhyMjsWeqP3Tutv8L+Bs55uBo6ct89GqiG4bu9NW5iurSOAwO/3MfIGvteNvCjo/Wosm2XF20Hk9ZIg7EU+RKHvJwNONO+f3DfTOiMlZOmLhvZd6f+Z0qPIC+nmSUIek9I72OEweL+A/rULaI+gnGoU6dzMPmUxrl5rtXwUqEHzeXWOS5TbHT/6t12b1m5Ai/qp59C9Burm4fqYmf1kcz3rjh0TyoMng3U3mP581RUcDA3rzm23c8l8ccO8h8Nqd5JbS08Y2ALpoW8/VGlc9jFk6ADkdWaB9VN6lQNpLm6+tf09F8RLzdgNyNKSZd/+zNUgDkUk8Tfjm+YeAOmZ6J62DAAA&quot;"/>
    <we:property name="isFiltersActionButtonVisible" value="true"/>
    <we:property name="isVisualContainerHeaderHidden" value="false"/>
    <we:property name="pageDisplayName" value="&quot;Page 1&quot;"/>
    <we:property name="pageName" value="&quot;456c8ced38975c938ac8&quot;"/>
    <we:property name="pptInsertionSessionID" value="&quot;7F816263-4F7D-4DD0-BCCC-947FD36E0D83&quot;"/>
    <we:property name="reportEmbeddedTime" value="&quot;2026-03-18T23:13:16.109Z&quot;"/>
    <we:property name="reportName" value="&quot;Line Chart&quot;"/>
    <we:property name="reportState" value="&quot;CONNECTED&quot;"/>
    <we:property name="reportUrl" value="&quot;/groups/me/reports/1d6335fb-1ebc-43c8-93ac-c4ec7034f956/456c8ced38975c938ac8?experience=power-bi&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Facet</Template>
  <TotalTime>229</TotalTime>
  <Words>1436</Words>
  <Application>Microsoft Office PowerPoint</Application>
  <PresentationFormat>On-screen Show (16:9)</PresentationFormat>
  <Paragraphs>250</Paragraphs>
  <Slides>28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Arvo</vt:lpstr>
      <vt:lpstr>Roboto Condensed</vt:lpstr>
      <vt:lpstr>Roboto Condensed Light</vt:lpstr>
      <vt:lpstr>Salerio template</vt:lpstr>
      <vt:lpstr>Enhancing Aerospace Supply Chain Resilience: A Predictive Analytics Approach to Mitigate Lead-Time Volatility</vt:lpstr>
      <vt:lpstr>Agenda</vt:lpstr>
      <vt:lpstr>Abstract</vt:lpstr>
      <vt:lpstr>Keywords</vt:lpstr>
      <vt:lpstr>Problem Statement</vt:lpstr>
      <vt:lpstr>Motivation</vt:lpstr>
      <vt:lpstr>Background</vt:lpstr>
      <vt:lpstr>Background - Evidence</vt:lpstr>
      <vt:lpstr>Related Work</vt:lpstr>
      <vt:lpstr>Related Word As-Is State</vt:lpstr>
      <vt:lpstr>Related Work – To-Be State</vt:lpstr>
      <vt:lpstr>Related Work – Key Takeaway</vt:lpstr>
      <vt:lpstr>Approach Overview</vt:lpstr>
      <vt:lpstr>System Design</vt:lpstr>
      <vt:lpstr>Implementation Plan</vt:lpstr>
      <vt:lpstr>Technologies Used</vt:lpstr>
      <vt:lpstr>Data Collection</vt:lpstr>
      <vt:lpstr>Data Analysis</vt:lpstr>
      <vt:lpstr>Data Preparation in Databricks</vt:lpstr>
      <vt:lpstr>Aerospace Supply Chain Dataset 1</vt:lpstr>
      <vt:lpstr>Aerospace Supply Chain Dataset 2</vt:lpstr>
      <vt:lpstr>Feature Engineering &amp; Next Steps</vt:lpstr>
      <vt:lpstr>Key Findings</vt:lpstr>
      <vt:lpstr>Data Visualizations &amp; Analysis</vt:lpstr>
      <vt:lpstr>GitHub</vt:lpstr>
      <vt:lpstr>References</vt:lpstr>
      <vt:lpstr>Q&amp;A</vt:lpstr>
      <vt:lpstr>Extra Slide for later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Karthik Dinakaran</dc:creator>
  <cp:lastModifiedBy>Parmbir Singh</cp:lastModifiedBy>
  <cp:revision>17</cp:revision>
  <dcterms:modified xsi:type="dcterms:W3CDTF">2026-03-19T00:34:50Z</dcterms:modified>
</cp:coreProperties>
</file>